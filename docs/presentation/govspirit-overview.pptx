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 30s] Open with what it is in one sentence: a stock spreadsheet goes in, a dashboard comes out, and nothing leaves the laptop.
Do not read the slide. Say the last clause out loud, it is the whole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[00:30, 2m] Question answered: why does this need to exist?
Two halves. Left: the questions a depot manager cannot answer quickly. Right: the reason they cannot buy a tool that answers them.
Land the closing line slowly. Every architectural decision later in the deck follows from that one constraint, so it is worth the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[02:30, 2m] Question answered: what does it actually do?
Walk the five cards left to right. Do not elaborate on all of them; Map and Advise are the interesting ones.
Map: 255 known column spellings, because no two depots name the quantity column the same way.
Advise: rules, not a model. A supervisor can disagree with a threshold. They cannot disagree with a neural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[04:30, 2m] Question answered: how is it put together?
Four layers, data flows one way. The counts on the right are real module counts.
The right-hand column is the part worth defending. Expect to be asked why there is no framework. The answer is on the slide: a depot keeps this on a shared drive, and it has to still open in five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[06:30, 2m30s] This is the slide that matters. Slow down.
Version 1 reported 98.5% inventory accuracy to depots that had never uploaded a cycle count. That number was a literal in the source.
It then fed the health score, so the less data you supplied, the better you scored.
Read the italic line aloud. If the audience remembers one sentence, this is the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[09:00, 2m] Question answered: what was actually wrong?
Six faults, all of which produced plausible output. Pick two to narrate and let the rest be read.
The date ones land best: one shifted every record by a day for anyone east of UTC, the other read 01/02 as 2 January instead of 1 February. Both silent, both wrong on every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[11:00, 1m30s] Question answered: how do you know it stays fixed?
The contrast checker found four wrong ratios in my own comments the first time it ran. Say that. It makes the point that documentation drifts unless something checks it.
The class checker found 146 orphans, one of which was a tab strip rendering as 22px plain text that I had looked at several times without noticing.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[12:30, 1m] Question answered: who can use it?
Do not read all six. Pick the drawer one: it is a real modal, so it traps focus, closes on Escape and marks the page behind it inert.
Finish on the last line. Naming the gap is more credible than claiming there is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[13:30, 1m] Question answered: why does it look like that?
The palette comes from the room: green glass, brass, kraft paper, concrete. Status colours match the paint already on a warehouse floor.
The removals matter as much as the additions. 146 emoji went, because a screen reader announces one of them as "skull".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[14:30, 1m] Question answered: was it worth doing?
Let them read it. Point at two rows only: the invented metrics, and the script bytes.
Every figure here was counted from the source or measured, not estimated.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[15:30, 30s] Close.
Tell them to load the demo rather than describing it. The generator is seeded, so what they see is what you saw.
Offer the docs folder for anyone who wants the metric formulas.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412"/>
        </a:solidFill>
      </p:bgPr>
    </p:bg>
    <p:spTree>
      <p:nvGrpSpPr>
        <p:cNvPr id="1" name=""/>
        <p:cNvGrpSpPr/>
        <p:nvPr/>
      </p:nvGrpSpPr>
      <p:grpSpPr>
        <a:xfrm>
          <a:off x="0" y="0"/>
          <a:ext cx="0" cy="0"/>
          <a:chOff x="0" y="0"/>
          <a:chExt cx="0" cy="0"/>
        </a:xfrm>
      </p:grpSpPr>
      <p:sp>
        <p:nvSpPr>
          <p:cNvPr id="2" name="Shape 0"/>
          <p:cNvSpPr/>
          <p:nvPr/>
        </p:nvSpPr>
        <p:spPr>
          <a:xfrm flipV="1">
            <a:off x="564928" y="888683"/>
            <a:ext cx="221456" cy="150590"/>
          </a:xfrm>
          <a:prstGeom prst="line">
            <a:avLst/>
          </a:prstGeom>
          <a:noFill/>
          <a:ln w="25400">
            <a:solidFill>
              <a:srgbClr val="4FD6C4"/>
            </a:solidFill>
            <a:prstDash val="solid"/>
            <a:tailEnd type="none"/>
          </a:ln>
        </p:spPr>
      </p:sp>
      <p:sp>
        <p:nvSpPr>
          <p:cNvPr id="3" name="Shape 1"/>
          <p:cNvSpPr/>
          <p:nvPr/>
        </p:nvSpPr>
        <p:spPr>
          <a:xfrm>
            <a:off x="786384" y="738092"/>
            <a:ext cx="221456" cy="150590"/>
          </a:xfrm>
          <a:prstGeom prst="line">
            <a:avLst/>
          </a:prstGeom>
          <a:noFill/>
          <a:ln w="25400">
            <a:solidFill>
              <a:srgbClr val="4FD6C4"/>
            </a:solidFill>
            <a:prstDash val="solid"/>
          </a:ln>
        </p:spPr>
      </p:sp>
      <p:sp>
        <p:nvSpPr>
          <p:cNvPr id="4" name="Shape 2"/>
          <p:cNvSpPr/>
          <p:nvPr/>
        </p:nvSpPr>
        <p:spPr>
          <a:xfrm>
            <a:off x="564928" y="888683"/>
            <a:ext cx="0" cy="265748"/>
          </a:xfrm>
          <a:prstGeom prst="line">
            <a:avLst/>
          </a:prstGeom>
          <a:noFill/>
          <a:ln w="25400">
            <a:solidFill>
              <a:srgbClr val="4FD6C4"/>
            </a:solidFill>
            <a:prstDash val="solid"/>
          </a:ln>
        </p:spPr>
      </p:sp>
      <p:sp>
        <p:nvSpPr>
          <p:cNvPr id="5" name="Shape 3"/>
          <p:cNvSpPr/>
          <p:nvPr/>
        </p:nvSpPr>
        <p:spPr>
          <a:xfrm>
            <a:off x="1007840" y="888683"/>
            <a:ext cx="0" cy="265748"/>
          </a:xfrm>
          <a:prstGeom prst="line">
            <a:avLst/>
          </a:prstGeom>
          <a:noFill/>
          <a:ln w="25400">
            <a:solidFill>
              <a:srgbClr val="4FD6C4"/>
            </a:solidFill>
            <a:prstDash val="solid"/>
          </a:ln>
        </p:spPr>
      </p:sp>
      <p:sp>
        <p:nvSpPr>
          <p:cNvPr id="6" name="Shape 4"/>
          <p:cNvSpPr/>
          <p:nvPr/>
        </p:nvSpPr>
        <p:spPr>
          <a:xfrm>
            <a:off x="564928" y="1154430"/>
            <a:ext cx="442913" cy="0"/>
          </a:xfrm>
          <a:prstGeom prst="line">
            <a:avLst/>
          </a:prstGeom>
          <a:noFill/>
          <a:ln w="25400">
            <a:solidFill>
              <a:srgbClr val="4FD6C4"/>
            </a:solidFill>
            <a:prstDash val="solid"/>
          </a:ln>
        </p:spPr>
      </p:sp>
      <p:sp>
        <p:nvSpPr>
          <p:cNvPr id="7" name="Shape 5"/>
          <p:cNvSpPr/>
          <p:nvPr/>
        </p:nvSpPr>
        <p:spPr>
          <a:xfrm>
            <a:off x="688943" y="1003840"/>
            <a:ext cx="0" cy="62008"/>
          </a:xfrm>
          <a:prstGeom prst="line">
            <a:avLst/>
          </a:prstGeom>
          <a:noFill/>
          <a:ln w="25400">
            <a:solidFill>
              <a:srgbClr val="4FD6C4"/>
            </a:solidFill>
            <a:prstDash val="solid"/>
          </a:ln>
        </p:spPr>
      </p:sp>
      <p:sp>
        <p:nvSpPr>
          <p:cNvPr id="8" name="Shape 6"/>
          <p:cNvSpPr/>
          <p:nvPr/>
        </p:nvSpPr>
        <p:spPr>
          <a:xfrm>
            <a:off x="786384" y="959549"/>
            <a:ext cx="0" cy="106299"/>
          </a:xfrm>
          <a:prstGeom prst="line">
            <a:avLst/>
          </a:prstGeom>
          <a:noFill/>
          <a:ln w="25400">
            <a:solidFill>
              <a:srgbClr val="4FD6C4"/>
            </a:solidFill>
            <a:prstDash val="solid"/>
          </a:ln>
        </p:spPr>
      </p:sp>
      <p:sp>
        <p:nvSpPr>
          <p:cNvPr id="9" name="Shape 7"/>
          <p:cNvSpPr/>
          <p:nvPr/>
        </p:nvSpPr>
        <p:spPr>
          <a:xfrm>
            <a:off x="883825" y="915257"/>
            <a:ext cx="0" cy="150590"/>
          </a:xfrm>
          <a:prstGeom prst="line">
            <a:avLst/>
          </a:prstGeom>
          <a:noFill/>
          <a:ln w="31750">
            <a:solidFill>
              <a:srgbClr val="C07A2C"/>
            </a:solidFill>
            <a:prstDash val="solid"/>
          </a:ln>
        </p:spPr>
      </p:sp>
      <p:sp>
        <p:nvSpPr>
          <p:cNvPr id="10" name="Text 8"/>
          <p:cNvSpPr/>
          <p:nvPr/>
        </p:nvSpPr>
        <p:spPr>
          <a:xfrm>
            <a:off x="502920" y="1517904"/>
            <a:ext cx="6766560" cy="841248"/>
          </a:xfrm>
          <a:prstGeom prst="rect">
            <a:avLst/>
          </a:prstGeom>
          <a:noFill/>
          <a:ln/>
        </p:spPr>
        <p:txBody>
          <a:bodyPr wrap="square" lIns="0" tIns="0" rIns="0" bIns="0" rtlCol="0" anchor="ctr"/>
          <a:lstStyle/>
          <a:p>
            <a:pPr indent="0" marL="0">
              <a:buNone/>
            </a:pPr>
            <a:r>
              <a:rPr lang="en-US" sz="4800" b="1" dirty="0">
                <a:solidFill>
                  <a:srgbClr val="E9EFEA"/>
                </a:solidFill>
                <a:latin typeface="Georgia" pitchFamily="34" charset="0"/>
                <a:ea typeface="Georgia" pitchFamily="34" charset="-122"/>
                <a:cs typeface="Georgia" pitchFamily="34" charset="-120"/>
              </a:rPr>
              <a:t>GovSpirit</a:t>
            </a:r>
            <a:endParaRPr lang="en-US" sz="4800" dirty="0"/>
          </a:p>
        </p:txBody>
      </p:sp>
      <p:sp>
        <p:nvSpPr>
          <p:cNvPr id="11" name="Text 9"/>
          <p:cNvSpPr/>
          <p:nvPr/>
        </p:nvSpPr>
        <p:spPr>
          <a:xfrm>
            <a:off x="502920" y="2377440"/>
            <a:ext cx="6949440" cy="365760"/>
          </a:xfrm>
          <a:prstGeom prst="rect">
            <a:avLst/>
          </a:prstGeom>
          <a:noFill/>
          <a:ln/>
        </p:spPr>
        <p:txBody>
          <a:bodyPr wrap="square" lIns="0" tIns="0" rIns="0" bIns="0" rtlCol="0" anchor="ctr"/>
          <a:lstStyle/>
          <a:p>
            <a:pPr indent="0" marL="0">
              <a:buNone/>
            </a:pPr>
            <a:r>
              <a:rPr lang="en-US" sz="1800" dirty="0">
                <a:solidFill>
                  <a:srgbClr val="4FD6C4"/>
                </a:solidFill>
                <a:latin typeface="Calibri" pitchFamily="34" charset="0"/>
                <a:ea typeface="Calibri" pitchFamily="34" charset="-122"/>
                <a:cs typeface="Calibri" pitchFamily="34" charset="-120"/>
              </a:rPr>
              <a:t>Warehouse analytics for state excise depots</a:t>
            </a:r>
            <a:endParaRPr lang="en-US" sz="1800" dirty="0"/>
          </a:p>
        </p:txBody>
      </p:sp>
      <p:sp>
        <p:nvSpPr>
          <p:cNvPr id="12" name="Text 10"/>
          <p:cNvSpPr/>
          <p:nvPr/>
        </p:nvSpPr>
        <p:spPr>
          <a:xfrm>
            <a:off x="502920" y="2852928"/>
            <a:ext cx="6035040" cy="731520"/>
          </a:xfrm>
          <a:prstGeom prst="rect">
            <a:avLst/>
          </a:prstGeom>
          <a:noFill/>
          <a:ln/>
        </p:spPr>
        <p:txBody>
          <a:bodyPr wrap="square" lIns="0" tIns="0" rIns="0" bIns="0" rtlCol="0" anchor="ctr"/>
          <a:lstStyle/>
          <a:p>
            <a:pPr indent="0" marL="0">
              <a:lnSpc>
                <a:spcPct val="115000"/>
              </a:lnSpc>
              <a:buNone/>
            </a:pPr>
            <a:r>
              <a:rPr lang="en-US" sz="1300" dirty="0">
                <a:solidFill>
                  <a:srgbClr val="A6B2AC"/>
                </a:solidFill>
                <a:latin typeface="Calibri" pitchFamily="34" charset="0"/>
                <a:ea typeface="Calibri" pitchFamily="34" charset="-122"/>
                <a:cs typeface="Calibri" pitchFamily="34" charset="-120"/>
              </a:rPr>
              <a:t>Open a stock spreadsheet. Get KPIs, a storage plan and a ranked list of things to fix. Everything runs in the browser: no upload, no server, no account.</a:t>
            </a:r>
            <a:endParaRPr lang="en-US" sz="1300" dirty="0"/>
          </a:p>
        </p:txBody>
      </p:sp>
      <p:sp>
        <p:nvSpPr>
          <p:cNvPr id="13" name="Shape 11"/>
          <p:cNvSpPr/>
          <p:nvPr/>
        </p:nvSpPr>
        <p:spPr>
          <a:xfrm>
            <a:off x="502920" y="3785616"/>
            <a:ext cx="1371600" cy="18288"/>
          </a:xfrm>
          <a:prstGeom prst="rect">
            <a:avLst/>
          </a:prstGeom>
          <a:solidFill>
            <a:srgbClr val="C07A2C"/>
          </a:solidFill>
          <a:ln w="12700">
            <a:solidFill>
              <a:srgbClr val="333333"/>
            </a:solidFill>
            <a:prstDash val="solid"/>
          </a:ln>
        </p:spPr>
      </p:sp>
      <p:sp>
        <p:nvSpPr>
          <p:cNvPr id="14" name="Text 12"/>
          <p:cNvSpPr/>
          <p:nvPr/>
        </p:nvSpPr>
        <p:spPr>
          <a:xfrm>
            <a:off x="502920" y="3950208"/>
            <a:ext cx="4572000" cy="566928"/>
          </a:xfrm>
          <a:prstGeom prst="rect">
            <a:avLst/>
          </a:prstGeom>
          <a:noFill/>
          <a:ln/>
        </p:spPr>
        <p:txBody>
          <a:bodyPr wrap="square" lIns="0" tIns="0" rIns="0" bIns="0" rtlCol="0" anchor="ctr"/>
          <a:lstStyle/>
          <a:p>
            <a:pPr indent="0" marL="0">
              <a:lnSpc>
                <a:spcPct val="110000"/>
              </a:lnSpc>
              <a:buNone/>
            </a:pPr>
            <a:r>
              <a:rPr lang="en-US" sz="1150" b="1" dirty="0">
                <a:solidFill>
                  <a:srgbClr val="A6B2AC"/>
                </a:solidFill>
                <a:latin typeface="Calibri" pitchFamily="34" charset="0"/>
                <a:ea typeface="Calibri" pitchFamily="34" charset="-122"/>
                <a:cs typeface="Calibri" pitchFamily="34" charset="-120"/>
              </a:rPr>
              <a:t>Shreyas Thakur</a:t>
            </a:r>
            <a:endParaRPr lang="en-US" sz="1150" dirty="0"/>
          </a:p>
          <a:p>
            <a:pPr indent="0" marL="0">
              <a:lnSpc>
                <a:spcPct val="110000"/>
              </a:lnSpc>
              <a:buNone/>
            </a:pPr>
            <a:r>
              <a:rPr lang="en-US" sz="1150" dirty="0">
                <a:solidFill>
                  <a:srgbClr val="A6B2AC"/>
                </a:solidFill>
                <a:latin typeface="Calibri" pitchFamily="34" charset="0"/>
                <a:ea typeface="Calibri" pitchFamily="34" charset="-122"/>
                <a:cs typeface="Calibri" pitchFamily="34" charset="-120"/>
              </a:rPr>
              <a:t>Version 2.0  ·  MIT licensed  ·  Open source</a:t>
            </a:r>
            <a:endParaRPr lang="en-US" sz="1150" dirty="0"/>
          </a:p>
        </p:txBody>
      </p:sp>
      <p:sp>
        <p:nvSpPr>
          <p:cNvPr id="16" name="Text 13"/>
          <p:cNvSpPr/>
          <p:nvPr/>
        </p:nvSpPr>
        <p:spPr>
          <a:xfrm>
            <a:off x="502920" y="4759452"/>
            <a:ext cx="2743200" cy="201168"/>
          </a:xfrm>
          <a:prstGeom prst="rect">
            <a:avLst/>
          </a:prstGeom>
          <a:noFill/>
          <a:ln/>
        </p:spPr>
        <p:txBody>
          <a:bodyPr wrap="square" lIns="0" tIns="0" rIns="0" bIns="0" rtlCol="0" anchor="ctr"/>
          <a:lstStyle/>
          <a:p>
            <a:pPr indent="0" marL="0">
              <a:buNone/>
            </a:pPr>
            <a:r>
              <a:rPr lang="en-US" sz="900" dirty="0">
                <a:solidFill>
                  <a:srgbClr val="A6B2AC"/>
                </a:solidFill>
                <a:latin typeface="Calibri" pitchFamily="34" charset="0"/>
                <a:ea typeface="Calibri" pitchFamily="34" charset="-122"/>
                <a:cs typeface="Calibri" pitchFamily="34" charset="-120"/>
              </a:rPr>
              <a:t>GovSpirit</a:t>
            </a:r>
            <a:endParaRPr lang="en-US" sz="900" dirty="0"/>
          </a:p>
        </p:txBody>
      </p:sp>
      <p:sp>
        <p:nvSpPr>
          <p:cNvPr id="17" name="Text 14"/>
          <p:cNvSpPr/>
          <p:nvPr/>
        </p:nvSpPr>
        <p:spPr>
          <a:xfrm>
            <a:off x="7726680" y="4759452"/>
            <a:ext cx="914400" cy="201168"/>
          </a:xfrm>
          <a:prstGeom prst="rect">
            <a:avLst/>
          </a:prstGeom>
          <a:noFill/>
          <a:ln/>
        </p:spPr>
        <p:txBody>
          <a:bodyPr wrap="square" lIns="0" tIns="0" rIns="0" bIns="0" rtlCol="0" anchor="ctr"/>
          <a:lstStyle/>
          <a:p>
            <a:pPr algn="r" indent="0" marL="0">
              <a:buNone/>
            </a:pPr>
            <a:r>
              <a:rPr lang="en-US" sz="900" dirty="0">
                <a:solidFill>
                  <a:srgbClr val="A6B2AC"/>
                </a:solidFill>
                <a:latin typeface="Calibri" pitchFamily="34" charset="0"/>
                <a:ea typeface="Calibri" pitchFamily="34" charset="-122"/>
                <a:cs typeface="Calibri"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4F2"/>
        </a:solidFill>
      </p:bgPr>
    </p:bg>
    <p:spTree>
      <p:nvGrpSpPr>
        <p:cNvPr id="1" name=""/>
        <p:cNvGrpSpPr/>
        <p:nvPr/>
      </p:nvGrpSpPr>
      <p:grpSpPr>
        <a:xfrm>
          <a:off x="0" y="0"/>
          <a:ext cx="0" cy="0"/>
          <a:chOff x="0" y="0"/>
          <a:chExt cx="0" cy="0"/>
        </a:xfrm>
      </p:grpSpPr>
      <p:sp>
        <p:nvSpPr>
          <p:cNvPr id="2" name="Shape 0"/>
          <p:cNvSpPr/>
          <p:nvPr/>
        </p:nvSpPr>
        <p:spPr>
          <a:xfrm>
            <a:off x="502920" y="452628"/>
            <a:ext cx="91440" cy="91440"/>
          </a:xfrm>
          <a:prstGeom prst="rect">
            <a:avLst/>
          </a:prstGeom>
          <a:solidFill>
            <a:srgbClr val="C07A2C"/>
          </a:solidFill>
          <a:ln/>
        </p:spPr>
      </p:sp>
      <p:sp>
        <p:nvSpPr>
          <p:cNvPr id="3" name="Text 1"/>
          <p:cNvSpPr/>
          <p:nvPr/>
        </p:nvSpPr>
        <p:spPr>
          <a:xfrm>
            <a:off x="704088" y="402336"/>
            <a:ext cx="5486400" cy="219456"/>
          </a:xfrm>
          <a:prstGeom prst="rect">
            <a:avLst/>
          </a:prstGeom>
          <a:noFill/>
          <a:ln/>
        </p:spPr>
        <p:txBody>
          <a:bodyPr wrap="square" lIns="0" tIns="0" rIns="0" bIns="0" rtlCol="0" anchor="ctr"/>
          <a:lstStyle/>
          <a:p>
            <a:pPr indent="0" marL="0">
              <a:buNone/>
            </a:pPr>
            <a:r>
              <a:rPr lang="en-US" sz="1000" b="1" spc="240" kern="0" dirty="0">
                <a:solidFill>
                  <a:srgbClr val="5C6862"/>
                </a:solidFill>
                <a:latin typeface="Calibri" pitchFamily="34" charset="0"/>
                <a:ea typeface="Calibri" pitchFamily="34" charset="-122"/>
                <a:cs typeface="Calibri" pitchFamily="34" charset="-120"/>
              </a:rPr>
              <a:t>THE PROBLEM</a:t>
            </a:r>
            <a:endParaRPr lang="en-US" sz="1000" dirty="0"/>
          </a:p>
        </p:txBody>
      </p:sp>
      <p:sp>
        <p:nvSpPr>
          <p:cNvPr id="4" name="Text 2"/>
          <p:cNvSpPr/>
          <p:nvPr/>
        </p:nvSpPr>
        <p:spPr>
          <a:xfrm>
            <a:off x="502920" y="786384"/>
            <a:ext cx="8138160" cy="713232"/>
          </a:xfrm>
          <a:prstGeom prst="rect">
            <a:avLst/>
          </a:prstGeom>
          <a:noFill/>
          <a:ln/>
        </p:spPr>
        <p:txBody>
          <a:bodyPr wrap="square" lIns="0" tIns="0" rIns="0" bIns="0" rtlCol="0" anchor="t"/>
          <a:lstStyle/>
          <a:p>
            <a:pPr indent="0" marL="0">
              <a:lnSpc>
                <a:spcPct val="94000"/>
              </a:lnSpc>
              <a:buNone/>
            </a:pPr>
            <a:r>
              <a:rPr lang="en-US" sz="3000" b="1" dirty="0">
                <a:solidFill>
                  <a:srgbClr val="121614"/>
                </a:solidFill>
                <a:latin typeface="Georgia" pitchFamily="34" charset="0"/>
                <a:ea typeface="Georgia" pitchFamily="34" charset="-122"/>
                <a:cs typeface="Georgia" pitchFamily="34" charset="-120"/>
              </a:rPr>
              <a:t>An afternoon with a pivot table</a:t>
            </a:r>
            <a:endParaRPr lang="en-US" sz="3000" dirty="0"/>
          </a:p>
        </p:txBody>
      </p:sp>
      <p:sp>
        <p:nvSpPr>
          <p:cNvPr id="5" name="Text 3"/>
          <p:cNvSpPr/>
          <p:nvPr/>
        </p:nvSpPr>
        <p:spPr>
          <a:xfrm>
            <a:off x="502920" y="1536192"/>
            <a:ext cx="4663440" cy="868680"/>
          </a:xfrm>
          <a:prstGeom prst="rect">
            <a:avLst/>
          </a:prstGeom>
          <a:noFill/>
          <a:ln/>
        </p:spPr>
        <p:txBody>
          <a:bodyPr wrap="square" lIns="0" tIns="0" rIns="0" bIns="0" rtlCol="0" anchor="ctr"/>
          <a:lstStyle/>
          <a:p>
            <a:pPr indent="0" marL="0">
              <a:lnSpc>
                <a:spcPct val="112000"/>
              </a:lnSpc>
              <a:buNone/>
            </a:pPr>
            <a:r>
              <a:rPr lang="en-US" sz="1350" dirty="0">
                <a:solidFill>
                  <a:srgbClr val="47524D"/>
                </a:solidFill>
                <a:latin typeface="Calibri" pitchFamily="34" charset="0"/>
                <a:ea typeface="Calibri" pitchFamily="34" charset="-122"/>
                <a:cs typeface="Calibri" pitchFamily="34" charset="-120"/>
              </a:rPr>
              <a:t>A depot manager has stock data. It is in a spreadsheet, the column headings are whatever the last clerk typed, and answering a routine question means rebuilding the same analysis by hand.</a:t>
            </a:r>
            <a:endParaRPr lang="en-US" sz="1350" dirty="0"/>
          </a:p>
        </p:txBody>
      </p:sp>
      <p:sp>
        <p:nvSpPr>
          <p:cNvPr id="6" name="Text 4"/>
          <p:cNvSpPr/>
          <p:nvPr/>
        </p:nvSpPr>
        <p:spPr>
          <a:xfrm>
            <a:off x="502920" y="2487168"/>
            <a:ext cx="4663440" cy="137160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121614"/>
                </a:solidFill>
                <a:latin typeface="Calibri" pitchFamily="34" charset="0"/>
                <a:ea typeface="Calibri" pitchFamily="34" charset="-122"/>
                <a:cs typeface="Calibri" pitchFamily="34" charset="-120"/>
              </a:rPr>
              <a:t>Which lines have not moved in three months?</a:t>
            </a:r>
            <a:endParaRPr lang="en-US" sz="1300" dirty="0"/>
          </a:p>
          <a:p>
            <a:pPr marL="342900" indent="-342900">
              <a:spcAft>
                <a:spcPts val="700"/>
              </a:spcAft>
              <a:buSzPct val="100000"/>
              <a:buChar char="•"/>
            </a:pPr>
            <a:r>
              <a:rPr lang="en-US" sz="1300" dirty="0">
                <a:solidFill>
                  <a:srgbClr val="121614"/>
                </a:solidFill>
                <a:latin typeface="Calibri" pitchFamily="34" charset="0"/>
                <a:ea typeface="Calibri" pitchFamily="34" charset="-122"/>
                <a:cs typeface="Calibri" pitchFamily="34" charset="-120"/>
              </a:rPr>
              <a:t>What is sitting in the wrong zone?</a:t>
            </a:r>
            <a:endParaRPr lang="en-US" sz="1300" dirty="0"/>
          </a:p>
          <a:p>
            <a:pPr marL="342900" indent="-342900">
              <a:spcAft>
                <a:spcPts val="700"/>
              </a:spcAft>
              <a:buSzPct val="100000"/>
              <a:buChar char="•"/>
            </a:pPr>
            <a:r>
              <a:rPr lang="en-US" sz="1300" dirty="0">
                <a:solidFill>
                  <a:srgbClr val="121614"/>
                </a:solidFill>
                <a:latin typeface="Calibri" pitchFamily="34" charset="0"/>
                <a:ea typeface="Calibri" pitchFamily="34" charset="-122"/>
                <a:cs typeface="Calibri" pitchFamily="34" charset="-120"/>
              </a:rPr>
              <a:t>How much capital is tied up in dead stock?</a:t>
            </a:r>
            <a:endParaRPr lang="en-US" sz="1300" dirty="0"/>
          </a:p>
          <a:p>
            <a:pPr marL="342900" indent="-342900">
              <a:spcAft>
                <a:spcPts val="700"/>
              </a:spcAft>
              <a:buSzPct val="100000"/>
              <a:buChar char="•"/>
            </a:pPr>
            <a:r>
              <a:rPr lang="en-US" sz="1300" dirty="0">
                <a:solidFill>
                  <a:srgbClr val="121614"/>
                </a:solidFill>
                <a:latin typeface="Calibri" pitchFamily="34" charset="0"/>
                <a:ea typeface="Calibri" pitchFamily="34" charset="-122"/>
                <a:cs typeface="Calibri" pitchFamily="34" charset="-120"/>
              </a:rPr>
              <a:t>Are we short-shipping any customer repeatedly?</a:t>
            </a:r>
            <a:endParaRPr lang="en-US" sz="1300" dirty="0"/>
          </a:p>
        </p:txBody>
      </p:sp>
      <p:sp>
        <p:nvSpPr>
          <p:cNvPr id="7" name="Shape 5"/>
          <p:cNvSpPr/>
          <p:nvPr/>
        </p:nvSpPr>
        <p:spPr>
          <a:xfrm>
            <a:off x="5486400" y="1536192"/>
            <a:ext cx="3154680" cy="2322576"/>
          </a:xfrm>
          <a:prstGeom prst="rect">
            <a:avLst/>
          </a:prstGeom>
          <a:solidFill>
            <a:srgbClr val="111412"/>
          </a:solidFill>
          <a:ln w="12700">
            <a:solidFill>
              <a:srgbClr val="333333"/>
            </a:solidFill>
            <a:prstDash val="solid"/>
          </a:ln>
        </p:spPr>
      </p:sp>
      <p:sp>
        <p:nvSpPr>
          <p:cNvPr id="8" name="Text 6"/>
          <p:cNvSpPr/>
          <p:nvPr/>
        </p:nvSpPr>
        <p:spPr>
          <a:xfrm>
            <a:off x="5779008" y="1755648"/>
            <a:ext cx="2377440" cy="219456"/>
          </a:xfrm>
          <a:prstGeom prst="rect">
            <a:avLst/>
          </a:prstGeom>
          <a:noFill/>
          <a:ln/>
        </p:spPr>
        <p:txBody>
          <a:bodyPr wrap="square" lIns="0" tIns="0" rIns="0" bIns="0" rtlCol="0" anchor="ctr"/>
          <a:lstStyle/>
          <a:p>
            <a:pPr indent="0" marL="0">
              <a:buNone/>
            </a:pPr>
            <a:r>
              <a:rPr lang="en-US" sz="1000" b="1" spc="240" kern="0" dirty="0">
                <a:solidFill>
                  <a:srgbClr val="C07A2C"/>
                </a:solidFill>
                <a:latin typeface="Calibri" pitchFamily="34" charset="0"/>
                <a:ea typeface="Calibri" pitchFamily="34" charset="-122"/>
                <a:cs typeface="Calibri" pitchFamily="34" charset="-120"/>
              </a:rPr>
              <a:t>AND</a:t>
            </a:r>
            <a:endParaRPr lang="en-US" sz="1000" dirty="0"/>
          </a:p>
        </p:txBody>
      </p:sp>
      <p:sp>
        <p:nvSpPr>
          <p:cNvPr id="9" name="Text 7"/>
          <p:cNvSpPr/>
          <p:nvPr/>
        </p:nvSpPr>
        <p:spPr>
          <a:xfrm>
            <a:off x="5779008" y="2011680"/>
            <a:ext cx="2606040" cy="822960"/>
          </a:xfrm>
          <a:prstGeom prst="rect">
            <a:avLst/>
          </a:prstGeom>
          <a:noFill/>
          <a:ln/>
        </p:spPr>
        <p:txBody>
          <a:bodyPr wrap="square" lIns="0" tIns="0" rIns="0" bIns="0" rtlCol="0" anchor="t"/>
          <a:lstStyle/>
          <a:p>
            <a:pPr indent="0" marL="0">
              <a:lnSpc>
                <a:spcPct val="95000"/>
              </a:lnSpc>
              <a:buNone/>
            </a:pPr>
            <a:r>
              <a:rPr lang="en-US" sz="1900" b="1" dirty="0">
                <a:solidFill>
                  <a:srgbClr val="E9EFEA"/>
                </a:solidFill>
                <a:latin typeface="Georgia" pitchFamily="34" charset="0"/>
                <a:ea typeface="Georgia" pitchFamily="34" charset="-122"/>
                <a:cs typeface="Georgia" pitchFamily="34" charset="-120"/>
              </a:rPr>
              <a:t>the data cannot leave the building</a:t>
            </a:r>
            <a:endParaRPr lang="en-US" sz="1900" dirty="0"/>
          </a:p>
        </p:txBody>
      </p:sp>
      <p:sp>
        <p:nvSpPr>
          <p:cNvPr id="10" name="Text 8"/>
          <p:cNvSpPr/>
          <p:nvPr/>
        </p:nvSpPr>
        <p:spPr>
          <a:xfrm>
            <a:off x="5779008" y="2907792"/>
            <a:ext cx="2606040" cy="822960"/>
          </a:xfrm>
          <a:prstGeom prst="rect">
            <a:avLst/>
          </a:prstGeom>
          <a:noFill/>
          <a:ln/>
        </p:spPr>
        <p:txBody>
          <a:bodyPr wrap="square" lIns="0" tIns="0" rIns="0" bIns="0" rtlCol="0" anchor="ctr"/>
          <a:lstStyle/>
          <a:p>
            <a:pPr indent="0" marL="0">
              <a:lnSpc>
                <a:spcPct val="110000"/>
              </a:lnSpc>
              <a:buNone/>
            </a:pPr>
            <a:r>
              <a:rPr lang="en-US" sz="1150" dirty="0">
                <a:solidFill>
                  <a:srgbClr val="A6B2AC"/>
                </a:solidFill>
                <a:latin typeface="Calibri" pitchFamily="34" charset="0"/>
                <a:ea typeface="Calibri" pitchFamily="34" charset="-122"/>
                <a:cs typeface="Calibri" pitchFamily="34" charset="-120"/>
              </a:rPr>
              <a:t>Uploading a state’s stock position to a third-party analytics service is usually not an option, and often not permitted.</a:t>
            </a:r>
            <a:endParaRPr lang="en-US" sz="1150" dirty="0"/>
          </a:p>
        </p:txBody>
      </p:sp>
      <p:sp>
        <p:nvSpPr>
          <p:cNvPr id="11" name="Text 9"/>
          <p:cNvSpPr/>
          <p:nvPr/>
        </p:nvSpPr>
        <p:spPr>
          <a:xfrm>
            <a:off x="502920" y="4041648"/>
            <a:ext cx="8138160" cy="457200"/>
          </a:xfrm>
          <a:prstGeom prst="rect">
            <a:avLst/>
          </a:prstGeom>
          <a:noFill/>
          <a:ln/>
        </p:spPr>
        <p:txBody>
          <a:bodyPr wrap="square" lIns="0" tIns="0" rIns="0" bIns="0" rtlCol="0" anchor="ctr"/>
          <a:lstStyle/>
          <a:p>
            <a:pPr indent="0" marL="0">
              <a:buNone/>
            </a:pPr>
            <a:r>
              <a:rPr lang="en-US" sz="1400" i="1" dirty="0">
                <a:solidFill>
                  <a:srgbClr val="0A6B60"/>
                </a:solidFill>
                <a:latin typeface="Georgia" pitchFamily="34" charset="0"/>
                <a:ea typeface="Georgia" pitchFamily="34" charset="-122"/>
                <a:cs typeface="Georgia" pitchFamily="34" charset="-120"/>
              </a:rPr>
              <a:t>That single constraint rules out a server, which rules out a database, which rules out most of what an analytics product normally is.</a:t>
            </a:r>
            <a:endParaRPr lang="en-US" sz="1400" dirty="0"/>
          </a:p>
        </p:txBody>
      </p:sp>
      <p:sp>
        <p:nvSpPr>
          <p:cNvPr id="13" name="Text 10"/>
          <p:cNvSpPr/>
          <p:nvPr/>
        </p:nvSpPr>
        <p:spPr>
          <a:xfrm>
            <a:off x="502920" y="4759452"/>
            <a:ext cx="2743200" cy="201168"/>
          </a:xfrm>
          <a:prstGeom prst="rect">
            <a:avLst/>
          </a:prstGeom>
          <a:noFill/>
          <a:ln/>
        </p:spPr>
        <p:txBody>
          <a:bodyPr wrap="square" lIns="0" tIns="0" rIns="0" bIns="0" rtlCol="0" anchor="ctr"/>
          <a:lstStyle/>
          <a:p>
            <a:pPr indent="0" marL="0">
              <a:buNone/>
            </a:pPr>
            <a:r>
              <a:rPr lang="en-US" sz="900" dirty="0">
                <a:solidFill>
                  <a:srgbClr val="5C6862"/>
                </a:solidFill>
                <a:latin typeface="Calibri" pitchFamily="34" charset="0"/>
                <a:ea typeface="Calibri" pitchFamily="34" charset="-122"/>
                <a:cs typeface="Calibri" pitchFamily="34" charset="-120"/>
              </a:rPr>
              <a:t>GovSpirit</a:t>
            </a:r>
            <a:endParaRPr lang="en-US" sz="900" dirty="0"/>
          </a:p>
        </p:txBody>
      </p:sp>
      <p:sp>
        <p:nvSpPr>
          <p:cNvPr id="14" name="Text 11"/>
          <p:cNvSpPr/>
          <p:nvPr/>
        </p:nvSpPr>
        <p:spPr>
          <a:xfrm>
            <a:off x="7726680" y="4759452"/>
            <a:ext cx="914400" cy="201168"/>
          </a:xfrm>
          <a:prstGeom prst="rect">
            <a:avLst/>
          </a:prstGeom>
          <a:noFill/>
          <a:ln/>
        </p:spPr>
        <p:txBody>
          <a:bodyPr wrap="square" lIns="0" tIns="0" rIns="0" bIns="0" rtlCol="0" anchor="ctr"/>
          <a:lstStyle/>
          <a:p>
            <a:pPr algn="r" indent="0" marL="0">
              <a:buNone/>
            </a:pPr>
            <a:r>
              <a:rPr lang="en-US" sz="900" dirty="0">
                <a:solidFill>
                  <a:srgbClr val="5C6862"/>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4F2"/>
        </a:solidFill>
      </p:bgPr>
    </p:bg>
    <p:spTree>
      <p:nvGrpSpPr>
        <p:cNvPr id="1" name=""/>
        <p:cNvGrpSpPr/>
        <p:nvPr/>
      </p:nvGrpSpPr>
      <p:grpSpPr>
        <a:xfrm>
          <a:off x="0" y="0"/>
          <a:ext cx="0" cy="0"/>
          <a:chOff x="0" y="0"/>
          <a:chExt cx="0" cy="0"/>
        </a:xfrm>
      </p:grpSpPr>
      <p:sp>
        <p:nvSpPr>
          <p:cNvPr id="2" name="Shape 0"/>
          <p:cNvSpPr/>
          <p:nvPr/>
        </p:nvSpPr>
        <p:spPr>
          <a:xfrm>
            <a:off x="502920" y="452628"/>
            <a:ext cx="91440" cy="91440"/>
          </a:xfrm>
          <a:prstGeom prst="rect">
            <a:avLst/>
          </a:prstGeom>
          <a:solidFill>
            <a:srgbClr val="C07A2C"/>
          </a:solidFill>
          <a:ln/>
        </p:spPr>
      </p:sp>
      <p:sp>
        <p:nvSpPr>
          <p:cNvPr id="3" name="Text 1"/>
          <p:cNvSpPr/>
          <p:nvPr/>
        </p:nvSpPr>
        <p:spPr>
          <a:xfrm>
            <a:off x="704088" y="402336"/>
            <a:ext cx="5486400" cy="219456"/>
          </a:xfrm>
          <a:prstGeom prst="rect">
            <a:avLst/>
          </a:prstGeom>
          <a:noFill/>
          <a:ln/>
        </p:spPr>
        <p:txBody>
          <a:bodyPr wrap="square" lIns="0" tIns="0" rIns="0" bIns="0" rtlCol="0" anchor="ctr"/>
          <a:lstStyle/>
          <a:p>
            <a:pPr indent="0" marL="0">
              <a:buNone/>
            </a:pPr>
            <a:r>
              <a:rPr lang="en-US" sz="1000" b="1" spc="240" kern="0" dirty="0">
                <a:solidFill>
                  <a:srgbClr val="5C6862"/>
                </a:solidFill>
                <a:latin typeface="Calibri" pitchFamily="34" charset="0"/>
                <a:ea typeface="Calibri" pitchFamily="34" charset="-122"/>
                <a:cs typeface="Calibri" pitchFamily="34" charset="-120"/>
              </a:rPr>
              <a:t>WHAT IT DOES</a:t>
            </a:r>
            <a:endParaRPr lang="en-US" sz="1000" dirty="0"/>
          </a:p>
        </p:txBody>
      </p:sp>
      <p:sp>
        <p:nvSpPr>
          <p:cNvPr id="4" name="Text 2"/>
          <p:cNvSpPr/>
          <p:nvPr/>
        </p:nvSpPr>
        <p:spPr>
          <a:xfrm>
            <a:off x="502920" y="786384"/>
            <a:ext cx="8138160" cy="713232"/>
          </a:xfrm>
          <a:prstGeom prst="rect">
            <a:avLst/>
          </a:prstGeom>
          <a:noFill/>
          <a:ln/>
        </p:spPr>
        <p:txBody>
          <a:bodyPr wrap="square" lIns="0" tIns="0" rIns="0" bIns="0" rtlCol="0" anchor="t"/>
          <a:lstStyle/>
          <a:p>
            <a:pPr indent="0" marL="0">
              <a:lnSpc>
                <a:spcPct val="94000"/>
              </a:lnSpc>
              <a:buNone/>
            </a:pPr>
            <a:r>
              <a:rPr lang="en-US" sz="3000" b="1" dirty="0">
                <a:solidFill>
                  <a:srgbClr val="121614"/>
                </a:solidFill>
                <a:latin typeface="Georgia" pitchFamily="34" charset="0"/>
                <a:ea typeface="Georgia" pitchFamily="34" charset="-122"/>
                <a:cs typeface="Georgia" pitchFamily="34" charset="-120"/>
              </a:rPr>
              <a:t>Read a file, then report on it</a:t>
            </a:r>
            <a:endParaRPr lang="en-US" sz="3000" dirty="0"/>
          </a:p>
        </p:txBody>
      </p:sp>
      <p:sp>
        <p:nvSpPr>
          <p:cNvPr id="5" name="Shape 3"/>
          <p:cNvSpPr/>
          <p:nvPr/>
        </p:nvSpPr>
        <p:spPr>
          <a:xfrm>
            <a:off x="502920" y="1591056"/>
            <a:ext cx="1510589" cy="2048256"/>
          </a:xfrm>
          <a:prstGeom prst="rect">
            <a:avLst/>
          </a:prstGeom>
          <a:solidFill>
            <a:srgbClr val="FFFFFF"/>
          </a:solidFill>
          <a:ln w="12700">
            <a:solidFill>
              <a:srgbClr val="DFE5E1"/>
            </a:solidFill>
            <a:prstDash val="solid"/>
          </a:ln>
        </p:spPr>
      </p:sp>
      <p:sp>
        <p:nvSpPr>
          <p:cNvPr id="6" name="Shape 4"/>
          <p:cNvSpPr/>
          <p:nvPr/>
        </p:nvSpPr>
        <p:spPr>
          <a:xfrm>
            <a:off x="502920" y="1591056"/>
            <a:ext cx="50292" cy="2048256"/>
          </a:xfrm>
          <a:prstGeom prst="rect">
            <a:avLst/>
          </a:prstGeom>
          <a:solidFill>
            <a:srgbClr val="0F6F62"/>
          </a:solidFill>
          <a:ln w="12700">
            <a:solidFill>
              <a:srgbClr val="333333"/>
            </a:solidFill>
            <a:prstDash val="solid"/>
          </a:ln>
        </p:spPr>
      </p:sp>
      <p:sp>
        <p:nvSpPr>
          <p:cNvPr id="7" name="Text 5"/>
          <p:cNvSpPr/>
          <p:nvPr/>
        </p:nvSpPr>
        <p:spPr>
          <a:xfrm>
            <a:off x="740664" y="1773936"/>
            <a:ext cx="1053389" cy="219456"/>
          </a:xfrm>
          <a:prstGeom prst="rect">
            <a:avLst/>
          </a:prstGeom>
          <a:noFill/>
          <a:ln/>
        </p:spPr>
        <p:txBody>
          <a:bodyPr wrap="square" lIns="0" tIns="0" rIns="0" bIns="0" rtlCol="0" anchor="ctr"/>
          <a:lstStyle/>
          <a:p>
            <a:pPr indent="0" marL="0">
              <a:buNone/>
            </a:pPr>
            <a:r>
              <a:rPr lang="en-US" sz="1000" b="1" spc="160" kern="0" dirty="0">
                <a:solidFill>
                  <a:srgbClr val="0F6F62"/>
                </a:solidFill>
                <a:latin typeface="Calibri" pitchFamily="34" charset="0"/>
                <a:ea typeface="Calibri" pitchFamily="34" charset="-122"/>
                <a:cs typeface="Calibri" pitchFamily="34" charset="-120"/>
              </a:rPr>
              <a:t>01</a:t>
            </a:r>
            <a:endParaRPr lang="en-US" sz="1000" dirty="0"/>
          </a:p>
        </p:txBody>
      </p:sp>
      <p:sp>
        <p:nvSpPr>
          <p:cNvPr id="8" name="Text 6"/>
          <p:cNvSpPr/>
          <p:nvPr/>
        </p:nvSpPr>
        <p:spPr>
          <a:xfrm>
            <a:off x="740664" y="2011680"/>
            <a:ext cx="1053389" cy="274320"/>
          </a:xfrm>
          <a:prstGeom prst="rect">
            <a:avLst/>
          </a:prstGeom>
          <a:noFill/>
          <a:ln/>
        </p:spPr>
        <p:txBody>
          <a:bodyPr wrap="square" lIns="0" tIns="0" rIns="0" bIns="0" rtlCol="0" anchor="t"/>
          <a:lstStyle/>
          <a:p>
            <a:pPr indent="0" marL="0">
              <a:buNone/>
            </a:pPr>
            <a:r>
              <a:rPr lang="en-US" sz="1400" b="1" dirty="0">
                <a:solidFill>
                  <a:srgbClr val="121614"/>
                </a:solidFill>
                <a:latin typeface="Georgia" pitchFamily="34" charset="0"/>
                <a:ea typeface="Georgia" pitchFamily="34" charset="-122"/>
                <a:cs typeface="Georgia" pitchFamily="34" charset="-120"/>
              </a:rPr>
              <a:t>Read</a:t>
            </a:r>
            <a:endParaRPr lang="en-US" sz="1400" dirty="0"/>
          </a:p>
        </p:txBody>
      </p:sp>
      <p:sp>
        <p:nvSpPr>
          <p:cNvPr id="9" name="Text 7"/>
          <p:cNvSpPr/>
          <p:nvPr/>
        </p:nvSpPr>
        <p:spPr>
          <a:xfrm>
            <a:off x="740664" y="2322576"/>
            <a:ext cx="1053389" cy="1170432"/>
          </a:xfrm>
          <a:prstGeom prst="rect">
            <a:avLst/>
          </a:prstGeom>
          <a:noFill/>
          <a:ln/>
        </p:spPr>
        <p:txBody>
          <a:bodyPr wrap="square" lIns="0" tIns="0" rIns="0" bIns="0" rtlCol="0" anchor="t"/>
          <a:lstStyle/>
          <a:p>
            <a:pPr indent="0" marL="0">
              <a:lnSpc>
                <a:spcPct val="102000"/>
              </a:lnSpc>
              <a:buNone/>
            </a:pPr>
            <a:r>
              <a:rPr lang="en-US" sz="1150" dirty="0">
                <a:solidFill>
                  <a:srgbClr val="47524D"/>
                </a:solidFill>
                <a:latin typeface="Calibri" pitchFamily="34" charset="0"/>
                <a:ea typeface="Calibri" pitchFamily="34" charset="-122"/>
                <a:cs typeface="Calibri" pitchFamily="34" charset="-120"/>
              </a:rPr>
              <a:t>Excel, CSV, TSV, multi-sheet workbooks, or a pasted text list.</a:t>
            </a:r>
            <a:endParaRPr lang="en-US" sz="1150" dirty="0"/>
          </a:p>
        </p:txBody>
      </p:sp>
      <p:sp>
        <p:nvSpPr>
          <p:cNvPr id="10" name="Shape 8"/>
          <p:cNvSpPr/>
          <p:nvPr/>
        </p:nvSpPr>
        <p:spPr>
          <a:xfrm>
            <a:off x="2159813" y="1591056"/>
            <a:ext cx="1510589" cy="2048256"/>
          </a:xfrm>
          <a:prstGeom prst="rect">
            <a:avLst/>
          </a:prstGeom>
          <a:solidFill>
            <a:srgbClr val="FFFFFF"/>
          </a:solidFill>
          <a:ln w="12700">
            <a:solidFill>
              <a:srgbClr val="DFE5E1"/>
            </a:solidFill>
            <a:prstDash val="solid"/>
          </a:ln>
        </p:spPr>
      </p:sp>
      <p:sp>
        <p:nvSpPr>
          <p:cNvPr id="11" name="Shape 9"/>
          <p:cNvSpPr/>
          <p:nvPr/>
        </p:nvSpPr>
        <p:spPr>
          <a:xfrm>
            <a:off x="2159813" y="1591056"/>
            <a:ext cx="50292" cy="2048256"/>
          </a:xfrm>
          <a:prstGeom prst="rect">
            <a:avLst/>
          </a:prstGeom>
          <a:solidFill>
            <a:srgbClr val="0F6F62"/>
          </a:solidFill>
          <a:ln w="12700">
            <a:solidFill>
              <a:srgbClr val="333333"/>
            </a:solidFill>
            <a:prstDash val="solid"/>
          </a:ln>
        </p:spPr>
      </p:sp>
      <p:sp>
        <p:nvSpPr>
          <p:cNvPr id="12" name="Text 10"/>
          <p:cNvSpPr/>
          <p:nvPr/>
        </p:nvSpPr>
        <p:spPr>
          <a:xfrm>
            <a:off x="2397557" y="1773936"/>
            <a:ext cx="1053389" cy="219456"/>
          </a:xfrm>
          <a:prstGeom prst="rect">
            <a:avLst/>
          </a:prstGeom>
          <a:noFill/>
          <a:ln/>
        </p:spPr>
        <p:txBody>
          <a:bodyPr wrap="square" lIns="0" tIns="0" rIns="0" bIns="0" rtlCol="0" anchor="ctr"/>
          <a:lstStyle/>
          <a:p>
            <a:pPr indent="0" marL="0">
              <a:buNone/>
            </a:pPr>
            <a:r>
              <a:rPr lang="en-US" sz="1000" b="1" spc="160" kern="0" dirty="0">
                <a:solidFill>
                  <a:srgbClr val="0F6F62"/>
                </a:solidFill>
                <a:latin typeface="Calibri" pitchFamily="34" charset="0"/>
                <a:ea typeface="Calibri" pitchFamily="34" charset="-122"/>
                <a:cs typeface="Calibri" pitchFamily="34" charset="-120"/>
              </a:rPr>
              <a:t>02</a:t>
            </a:r>
            <a:endParaRPr lang="en-US" sz="1000" dirty="0"/>
          </a:p>
        </p:txBody>
      </p:sp>
      <p:sp>
        <p:nvSpPr>
          <p:cNvPr id="13" name="Text 11"/>
          <p:cNvSpPr/>
          <p:nvPr/>
        </p:nvSpPr>
        <p:spPr>
          <a:xfrm>
            <a:off x="2397557" y="2011680"/>
            <a:ext cx="1053389" cy="274320"/>
          </a:xfrm>
          <a:prstGeom prst="rect">
            <a:avLst/>
          </a:prstGeom>
          <a:noFill/>
          <a:ln/>
        </p:spPr>
        <p:txBody>
          <a:bodyPr wrap="square" lIns="0" tIns="0" rIns="0" bIns="0" rtlCol="0" anchor="t"/>
          <a:lstStyle/>
          <a:p>
            <a:pPr indent="0" marL="0">
              <a:buNone/>
            </a:pPr>
            <a:r>
              <a:rPr lang="en-US" sz="1400" b="1" dirty="0">
                <a:solidFill>
                  <a:srgbClr val="121614"/>
                </a:solidFill>
                <a:latin typeface="Georgia" pitchFamily="34" charset="0"/>
                <a:ea typeface="Georgia" pitchFamily="34" charset="-122"/>
                <a:cs typeface="Georgia" pitchFamily="34" charset="-120"/>
              </a:rPr>
              <a:t>Map</a:t>
            </a:r>
            <a:endParaRPr lang="en-US" sz="1400" dirty="0"/>
          </a:p>
        </p:txBody>
      </p:sp>
      <p:sp>
        <p:nvSpPr>
          <p:cNvPr id="14" name="Text 12"/>
          <p:cNvSpPr/>
          <p:nvPr/>
        </p:nvSpPr>
        <p:spPr>
          <a:xfrm>
            <a:off x="2397557" y="2322576"/>
            <a:ext cx="1053389" cy="1170432"/>
          </a:xfrm>
          <a:prstGeom prst="rect">
            <a:avLst/>
          </a:prstGeom>
          <a:noFill/>
          <a:ln/>
        </p:spPr>
        <p:txBody>
          <a:bodyPr wrap="square" lIns="0" tIns="0" rIns="0" bIns="0" rtlCol="0" anchor="t"/>
          <a:lstStyle/>
          <a:p>
            <a:pPr indent="0" marL="0">
              <a:lnSpc>
                <a:spcPct val="102000"/>
              </a:lnSpc>
              <a:buNone/>
            </a:pPr>
            <a:r>
              <a:rPr lang="en-US" sz="1150" dirty="0">
                <a:solidFill>
                  <a:srgbClr val="47524D"/>
                </a:solidFill>
                <a:latin typeface="Calibri" pitchFamily="34" charset="0"/>
                <a:ea typeface="Calibri" pitchFamily="34" charset="-122"/>
                <a:cs typeface="Calibri" pitchFamily="34" charset="-120"/>
              </a:rPr>
              <a:t>Matches your headings against 255 known variants and shows its confidence.</a:t>
            </a:r>
            <a:endParaRPr lang="en-US" sz="1150" dirty="0"/>
          </a:p>
        </p:txBody>
      </p:sp>
      <p:sp>
        <p:nvSpPr>
          <p:cNvPr id="15" name="Shape 13"/>
          <p:cNvSpPr/>
          <p:nvPr/>
        </p:nvSpPr>
        <p:spPr>
          <a:xfrm>
            <a:off x="3816706" y="1591056"/>
            <a:ext cx="1510589" cy="2048256"/>
          </a:xfrm>
          <a:prstGeom prst="rect">
            <a:avLst/>
          </a:prstGeom>
          <a:solidFill>
            <a:srgbClr val="FFFFFF"/>
          </a:solidFill>
          <a:ln w="12700">
            <a:solidFill>
              <a:srgbClr val="DFE5E1"/>
            </a:solidFill>
            <a:prstDash val="solid"/>
          </a:ln>
        </p:spPr>
      </p:sp>
      <p:sp>
        <p:nvSpPr>
          <p:cNvPr id="16" name="Shape 14"/>
          <p:cNvSpPr/>
          <p:nvPr/>
        </p:nvSpPr>
        <p:spPr>
          <a:xfrm>
            <a:off x="3816706" y="1591056"/>
            <a:ext cx="50292" cy="2048256"/>
          </a:xfrm>
          <a:prstGeom prst="rect">
            <a:avLst/>
          </a:prstGeom>
          <a:solidFill>
            <a:srgbClr val="0F6F62"/>
          </a:solidFill>
          <a:ln w="12700">
            <a:solidFill>
              <a:srgbClr val="333333"/>
            </a:solidFill>
            <a:prstDash val="solid"/>
          </a:ln>
        </p:spPr>
      </p:sp>
      <p:sp>
        <p:nvSpPr>
          <p:cNvPr id="17" name="Text 15"/>
          <p:cNvSpPr/>
          <p:nvPr/>
        </p:nvSpPr>
        <p:spPr>
          <a:xfrm>
            <a:off x="4054450" y="1773936"/>
            <a:ext cx="1053389" cy="219456"/>
          </a:xfrm>
          <a:prstGeom prst="rect">
            <a:avLst/>
          </a:prstGeom>
          <a:noFill/>
          <a:ln/>
        </p:spPr>
        <p:txBody>
          <a:bodyPr wrap="square" lIns="0" tIns="0" rIns="0" bIns="0" rtlCol="0" anchor="ctr"/>
          <a:lstStyle/>
          <a:p>
            <a:pPr indent="0" marL="0">
              <a:buNone/>
            </a:pPr>
            <a:r>
              <a:rPr lang="en-US" sz="1000" b="1" spc="160" kern="0" dirty="0">
                <a:solidFill>
                  <a:srgbClr val="0F6F62"/>
                </a:solidFill>
                <a:latin typeface="Calibri" pitchFamily="34" charset="0"/>
                <a:ea typeface="Calibri" pitchFamily="34" charset="-122"/>
                <a:cs typeface="Calibri" pitchFamily="34" charset="-120"/>
              </a:rPr>
              <a:t>03</a:t>
            </a:r>
            <a:endParaRPr lang="en-US" sz="1000" dirty="0"/>
          </a:p>
        </p:txBody>
      </p:sp>
      <p:sp>
        <p:nvSpPr>
          <p:cNvPr id="18" name="Text 16"/>
          <p:cNvSpPr/>
          <p:nvPr/>
        </p:nvSpPr>
        <p:spPr>
          <a:xfrm>
            <a:off x="4054450" y="2011680"/>
            <a:ext cx="1053389" cy="274320"/>
          </a:xfrm>
          <a:prstGeom prst="rect">
            <a:avLst/>
          </a:prstGeom>
          <a:noFill/>
          <a:ln/>
        </p:spPr>
        <p:txBody>
          <a:bodyPr wrap="square" lIns="0" tIns="0" rIns="0" bIns="0" rtlCol="0" anchor="t"/>
          <a:lstStyle/>
          <a:p>
            <a:pPr indent="0" marL="0">
              <a:buNone/>
            </a:pPr>
            <a:r>
              <a:rPr lang="en-US" sz="1400" b="1" dirty="0">
                <a:solidFill>
                  <a:srgbClr val="121614"/>
                </a:solidFill>
                <a:latin typeface="Georgia" pitchFamily="34" charset="0"/>
                <a:ea typeface="Georgia" pitchFamily="34" charset="-122"/>
                <a:cs typeface="Georgia" pitchFamily="34" charset="-120"/>
              </a:rPr>
              <a:t>Check</a:t>
            </a:r>
            <a:endParaRPr lang="en-US" sz="1400" dirty="0"/>
          </a:p>
        </p:txBody>
      </p:sp>
      <p:sp>
        <p:nvSpPr>
          <p:cNvPr id="19" name="Text 17"/>
          <p:cNvSpPr/>
          <p:nvPr/>
        </p:nvSpPr>
        <p:spPr>
          <a:xfrm>
            <a:off x="4054450" y="2322576"/>
            <a:ext cx="1053389" cy="1170432"/>
          </a:xfrm>
          <a:prstGeom prst="rect">
            <a:avLst/>
          </a:prstGeom>
          <a:noFill/>
          <a:ln/>
        </p:spPr>
        <p:txBody>
          <a:bodyPr wrap="square" lIns="0" tIns="0" rIns="0" bIns="0" rtlCol="0" anchor="t"/>
          <a:lstStyle/>
          <a:p>
            <a:pPr indent="0" marL="0">
              <a:lnSpc>
                <a:spcPct val="102000"/>
              </a:lnSpc>
              <a:buNone/>
            </a:pPr>
            <a:r>
              <a:rPr lang="en-US" sz="1150" dirty="0">
                <a:solidFill>
                  <a:srgbClr val="47524D"/>
                </a:solidFill>
                <a:latin typeface="Calibri" pitchFamily="34" charset="0"/>
                <a:ea typeface="Calibri" pitchFamily="34" charset="-122"/>
                <a:cs typeface="Calibri" pitchFamily="34" charset="-120"/>
              </a:rPr>
              <a:t>17 data quality rules, each naming the affected spreadsheet rows.</a:t>
            </a:r>
            <a:endParaRPr lang="en-US" sz="1150" dirty="0"/>
          </a:p>
        </p:txBody>
      </p:sp>
      <p:sp>
        <p:nvSpPr>
          <p:cNvPr id="20" name="Shape 18"/>
          <p:cNvSpPr/>
          <p:nvPr/>
        </p:nvSpPr>
        <p:spPr>
          <a:xfrm>
            <a:off x="5473598" y="1591056"/>
            <a:ext cx="1510589" cy="2048256"/>
          </a:xfrm>
          <a:prstGeom prst="rect">
            <a:avLst/>
          </a:prstGeom>
          <a:solidFill>
            <a:srgbClr val="FFFFFF"/>
          </a:solidFill>
          <a:ln w="12700">
            <a:solidFill>
              <a:srgbClr val="DFE5E1"/>
            </a:solidFill>
            <a:prstDash val="solid"/>
          </a:ln>
        </p:spPr>
      </p:sp>
      <p:sp>
        <p:nvSpPr>
          <p:cNvPr id="21" name="Shape 19"/>
          <p:cNvSpPr/>
          <p:nvPr/>
        </p:nvSpPr>
        <p:spPr>
          <a:xfrm>
            <a:off x="5473598" y="1591056"/>
            <a:ext cx="50292" cy="2048256"/>
          </a:xfrm>
          <a:prstGeom prst="rect">
            <a:avLst/>
          </a:prstGeom>
          <a:solidFill>
            <a:srgbClr val="0F6F62"/>
          </a:solidFill>
          <a:ln w="12700">
            <a:solidFill>
              <a:srgbClr val="333333"/>
            </a:solidFill>
            <a:prstDash val="solid"/>
          </a:ln>
        </p:spPr>
      </p:sp>
      <p:sp>
        <p:nvSpPr>
          <p:cNvPr id="22" name="Text 20"/>
          <p:cNvSpPr/>
          <p:nvPr/>
        </p:nvSpPr>
        <p:spPr>
          <a:xfrm>
            <a:off x="5711342" y="1773936"/>
            <a:ext cx="1053389" cy="219456"/>
          </a:xfrm>
          <a:prstGeom prst="rect">
            <a:avLst/>
          </a:prstGeom>
          <a:noFill/>
          <a:ln/>
        </p:spPr>
        <p:txBody>
          <a:bodyPr wrap="square" lIns="0" tIns="0" rIns="0" bIns="0" rtlCol="0" anchor="ctr"/>
          <a:lstStyle/>
          <a:p>
            <a:pPr indent="0" marL="0">
              <a:buNone/>
            </a:pPr>
            <a:r>
              <a:rPr lang="en-US" sz="1000" b="1" spc="160" kern="0" dirty="0">
                <a:solidFill>
                  <a:srgbClr val="0F6F62"/>
                </a:solidFill>
                <a:latin typeface="Calibri" pitchFamily="34" charset="0"/>
                <a:ea typeface="Calibri" pitchFamily="34" charset="-122"/>
                <a:cs typeface="Calibri" pitchFamily="34" charset="-120"/>
              </a:rPr>
              <a:t>04</a:t>
            </a:r>
            <a:endParaRPr lang="en-US" sz="1000" dirty="0"/>
          </a:p>
        </p:txBody>
      </p:sp>
      <p:sp>
        <p:nvSpPr>
          <p:cNvPr id="23" name="Text 21"/>
          <p:cNvSpPr/>
          <p:nvPr/>
        </p:nvSpPr>
        <p:spPr>
          <a:xfrm>
            <a:off x="5711342" y="2011680"/>
            <a:ext cx="1053389" cy="274320"/>
          </a:xfrm>
          <a:prstGeom prst="rect">
            <a:avLst/>
          </a:prstGeom>
          <a:noFill/>
          <a:ln/>
        </p:spPr>
        <p:txBody>
          <a:bodyPr wrap="square" lIns="0" tIns="0" rIns="0" bIns="0" rtlCol="0" anchor="t"/>
          <a:lstStyle/>
          <a:p>
            <a:pPr indent="0" marL="0">
              <a:buNone/>
            </a:pPr>
            <a:r>
              <a:rPr lang="en-US" sz="1400" b="1" dirty="0">
                <a:solidFill>
                  <a:srgbClr val="121614"/>
                </a:solidFill>
                <a:latin typeface="Georgia" pitchFamily="34" charset="0"/>
                <a:ea typeface="Georgia" pitchFamily="34" charset="-122"/>
                <a:cs typeface="Georgia" pitchFamily="34" charset="-120"/>
              </a:rPr>
              <a:t>Analyse</a:t>
            </a:r>
            <a:endParaRPr lang="en-US" sz="1400" dirty="0"/>
          </a:p>
        </p:txBody>
      </p:sp>
      <p:sp>
        <p:nvSpPr>
          <p:cNvPr id="24" name="Text 22"/>
          <p:cNvSpPr/>
          <p:nvPr/>
        </p:nvSpPr>
        <p:spPr>
          <a:xfrm>
            <a:off x="5711342" y="2322576"/>
            <a:ext cx="1053389" cy="1170432"/>
          </a:xfrm>
          <a:prstGeom prst="rect">
            <a:avLst/>
          </a:prstGeom>
          <a:noFill/>
          <a:ln/>
        </p:spPr>
        <p:txBody>
          <a:bodyPr wrap="square" lIns="0" tIns="0" rIns="0" bIns="0" rtlCol="0" anchor="t"/>
          <a:lstStyle/>
          <a:p>
            <a:pPr indent="0" marL="0">
              <a:lnSpc>
                <a:spcPct val="102000"/>
              </a:lnSpc>
              <a:buNone/>
            </a:pPr>
            <a:r>
              <a:rPr lang="en-US" sz="1150" dirty="0">
                <a:solidFill>
                  <a:srgbClr val="47524D"/>
                </a:solidFill>
                <a:latin typeface="Calibri" pitchFamily="34" charset="0"/>
                <a:ea typeface="Calibri" pitchFamily="34" charset="-122"/>
                <a:cs typeface="Calibri" pitchFamily="34" charset="-120"/>
              </a:rPr>
              <a:t>Valuation, ABC and XYZ classes, dead stock, utilisation, fill rate.</a:t>
            </a:r>
            <a:endParaRPr lang="en-US" sz="1150" dirty="0"/>
          </a:p>
        </p:txBody>
      </p:sp>
      <p:sp>
        <p:nvSpPr>
          <p:cNvPr id="25" name="Shape 23"/>
          <p:cNvSpPr/>
          <p:nvPr/>
        </p:nvSpPr>
        <p:spPr>
          <a:xfrm>
            <a:off x="7130491" y="1591056"/>
            <a:ext cx="1510589" cy="2048256"/>
          </a:xfrm>
          <a:prstGeom prst="rect">
            <a:avLst/>
          </a:prstGeom>
          <a:solidFill>
            <a:srgbClr val="FFFFFF"/>
          </a:solidFill>
          <a:ln w="12700">
            <a:solidFill>
              <a:srgbClr val="DFE5E1"/>
            </a:solidFill>
            <a:prstDash val="solid"/>
          </a:ln>
        </p:spPr>
      </p:sp>
      <p:sp>
        <p:nvSpPr>
          <p:cNvPr id="26" name="Shape 24"/>
          <p:cNvSpPr/>
          <p:nvPr/>
        </p:nvSpPr>
        <p:spPr>
          <a:xfrm>
            <a:off x="7130491" y="1591056"/>
            <a:ext cx="50292" cy="2048256"/>
          </a:xfrm>
          <a:prstGeom prst="rect">
            <a:avLst/>
          </a:prstGeom>
          <a:solidFill>
            <a:srgbClr val="C07A2C"/>
          </a:solidFill>
          <a:ln w="12700">
            <a:solidFill>
              <a:srgbClr val="333333"/>
            </a:solidFill>
            <a:prstDash val="solid"/>
          </a:ln>
        </p:spPr>
      </p:sp>
      <p:sp>
        <p:nvSpPr>
          <p:cNvPr id="27" name="Text 25"/>
          <p:cNvSpPr/>
          <p:nvPr/>
        </p:nvSpPr>
        <p:spPr>
          <a:xfrm>
            <a:off x="7368235" y="1773936"/>
            <a:ext cx="1053389" cy="219456"/>
          </a:xfrm>
          <a:prstGeom prst="rect">
            <a:avLst/>
          </a:prstGeom>
          <a:noFill/>
          <a:ln/>
        </p:spPr>
        <p:txBody>
          <a:bodyPr wrap="square" lIns="0" tIns="0" rIns="0" bIns="0" rtlCol="0" anchor="ctr"/>
          <a:lstStyle/>
          <a:p>
            <a:pPr indent="0" marL="0">
              <a:buNone/>
            </a:pPr>
            <a:r>
              <a:rPr lang="en-US" sz="1000" b="1" spc="160" kern="0" dirty="0">
                <a:solidFill>
                  <a:srgbClr val="C07A2C"/>
                </a:solidFill>
                <a:latin typeface="Calibri" pitchFamily="34" charset="0"/>
                <a:ea typeface="Calibri" pitchFamily="34" charset="-122"/>
                <a:cs typeface="Calibri" pitchFamily="34" charset="-120"/>
              </a:rPr>
              <a:t>05</a:t>
            </a:r>
            <a:endParaRPr lang="en-US" sz="1000" dirty="0"/>
          </a:p>
        </p:txBody>
      </p:sp>
      <p:sp>
        <p:nvSpPr>
          <p:cNvPr id="28" name="Text 26"/>
          <p:cNvSpPr/>
          <p:nvPr/>
        </p:nvSpPr>
        <p:spPr>
          <a:xfrm>
            <a:off x="7368235" y="2011680"/>
            <a:ext cx="1053389" cy="274320"/>
          </a:xfrm>
          <a:prstGeom prst="rect">
            <a:avLst/>
          </a:prstGeom>
          <a:noFill/>
          <a:ln/>
        </p:spPr>
        <p:txBody>
          <a:bodyPr wrap="square" lIns="0" tIns="0" rIns="0" bIns="0" rtlCol="0" anchor="t"/>
          <a:lstStyle/>
          <a:p>
            <a:pPr indent="0" marL="0">
              <a:buNone/>
            </a:pPr>
            <a:r>
              <a:rPr lang="en-US" sz="1400" b="1" dirty="0">
                <a:solidFill>
                  <a:srgbClr val="121614"/>
                </a:solidFill>
                <a:latin typeface="Georgia" pitchFamily="34" charset="0"/>
                <a:ea typeface="Georgia" pitchFamily="34" charset="-122"/>
                <a:cs typeface="Georgia" pitchFamily="34" charset="-120"/>
              </a:rPr>
              <a:t>Advise</a:t>
            </a:r>
            <a:endParaRPr lang="en-US" sz="1400" dirty="0"/>
          </a:p>
        </p:txBody>
      </p:sp>
      <p:sp>
        <p:nvSpPr>
          <p:cNvPr id="29" name="Text 27"/>
          <p:cNvSpPr/>
          <p:nvPr/>
        </p:nvSpPr>
        <p:spPr>
          <a:xfrm>
            <a:off x="7368235" y="2322576"/>
            <a:ext cx="1053389" cy="1170432"/>
          </a:xfrm>
          <a:prstGeom prst="rect">
            <a:avLst/>
          </a:prstGeom>
          <a:noFill/>
          <a:ln/>
        </p:spPr>
        <p:txBody>
          <a:bodyPr wrap="square" lIns="0" tIns="0" rIns="0" bIns="0" rtlCol="0" anchor="t"/>
          <a:lstStyle/>
          <a:p>
            <a:pPr indent="0" marL="0">
              <a:lnSpc>
                <a:spcPct val="102000"/>
              </a:lnSpc>
              <a:buNone/>
            </a:pPr>
            <a:r>
              <a:rPr lang="en-US" sz="1150" dirty="0">
                <a:solidFill>
                  <a:srgbClr val="47524D"/>
                </a:solidFill>
                <a:latin typeface="Calibri" pitchFamily="34" charset="0"/>
                <a:ea typeface="Calibri" pitchFamily="34" charset="-122"/>
                <a:cs typeface="Calibri" pitchFamily="34" charset="-120"/>
              </a:rPr>
              <a:t>Nine rules producing ranked actions against a stated threshold.</a:t>
            </a:r>
            <a:endParaRPr lang="en-US" sz="1150" dirty="0"/>
          </a:p>
        </p:txBody>
      </p:sp>
      <p:sp>
        <p:nvSpPr>
          <p:cNvPr id="30" name="Text 28"/>
          <p:cNvSpPr/>
          <p:nvPr/>
        </p:nvSpPr>
        <p:spPr>
          <a:xfrm>
            <a:off x="502920" y="3895344"/>
            <a:ext cx="8138160" cy="365760"/>
          </a:xfrm>
          <a:prstGeom prst="rect">
            <a:avLst/>
          </a:prstGeom>
          <a:noFill/>
          <a:ln/>
        </p:spPr>
        <p:txBody>
          <a:bodyPr wrap="square" lIns="0" tIns="0" rIns="0" bIns="0" rtlCol="0" anchor="ctr"/>
          <a:lstStyle/>
          <a:p>
            <a:pPr indent="0" marL="0">
              <a:buNone/>
            </a:pPr>
            <a:r>
              <a:rPr lang="en-US" sz="1200" dirty="0">
                <a:solidFill>
                  <a:srgbClr val="5C6862"/>
                </a:solidFill>
                <a:latin typeface="Calibri" pitchFamily="34" charset="0"/>
                <a:ea typeface="Calibri" pitchFamily="34" charset="-122"/>
                <a:cs typeface="Calibri" pitchFamily="34" charset="-120"/>
              </a:rPr>
              <a:t>Every step runs inside the browser tab. Nothing in this row crosses a network boundary.</a:t>
            </a:r>
            <a:endParaRPr lang="en-US" sz="1200" dirty="0"/>
          </a:p>
        </p:txBody>
      </p:sp>
      <p:sp>
        <p:nvSpPr>
          <p:cNvPr id="32" name="Text 29"/>
          <p:cNvSpPr/>
          <p:nvPr/>
        </p:nvSpPr>
        <p:spPr>
          <a:xfrm>
            <a:off x="502920" y="4759452"/>
            <a:ext cx="2743200" cy="201168"/>
          </a:xfrm>
          <a:prstGeom prst="rect">
            <a:avLst/>
          </a:prstGeom>
          <a:noFill/>
          <a:ln/>
        </p:spPr>
        <p:txBody>
          <a:bodyPr wrap="square" lIns="0" tIns="0" rIns="0" bIns="0" rtlCol="0" anchor="ctr"/>
          <a:lstStyle/>
          <a:p>
            <a:pPr indent="0" marL="0">
              <a:buNone/>
            </a:pPr>
            <a:r>
              <a:rPr lang="en-US" sz="900" dirty="0">
                <a:solidFill>
                  <a:srgbClr val="5C6862"/>
                </a:solidFill>
                <a:latin typeface="Calibri" pitchFamily="34" charset="0"/>
                <a:ea typeface="Calibri" pitchFamily="34" charset="-122"/>
                <a:cs typeface="Calibri" pitchFamily="34" charset="-120"/>
              </a:rPr>
              <a:t>GovSpirit</a:t>
            </a:r>
            <a:endParaRPr lang="en-US" sz="900" dirty="0"/>
          </a:p>
        </p:txBody>
      </p:sp>
      <p:sp>
        <p:nvSpPr>
          <p:cNvPr id="33" name="Text 30"/>
          <p:cNvSpPr/>
          <p:nvPr/>
        </p:nvSpPr>
        <p:spPr>
          <a:xfrm>
            <a:off x="7726680" y="4759452"/>
            <a:ext cx="914400" cy="201168"/>
          </a:xfrm>
          <a:prstGeom prst="rect">
            <a:avLst/>
          </a:prstGeom>
          <a:noFill/>
          <a:ln/>
        </p:spPr>
        <p:txBody>
          <a:bodyPr wrap="square" lIns="0" tIns="0" rIns="0" bIns="0" rtlCol="0" anchor="ctr"/>
          <a:lstStyle/>
          <a:p>
            <a:pPr algn="r" indent="0" marL="0">
              <a:buNone/>
            </a:pPr>
            <a:r>
              <a:rPr lang="en-US" sz="900" dirty="0">
                <a:solidFill>
                  <a:srgbClr val="5C6862"/>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4F2"/>
        </a:solidFill>
      </p:bgPr>
    </p:bg>
    <p:spTree>
      <p:nvGrpSpPr>
        <p:cNvPr id="1" name=""/>
        <p:cNvGrpSpPr/>
        <p:nvPr/>
      </p:nvGrpSpPr>
      <p:grpSpPr>
        <a:xfrm>
          <a:off x="0" y="0"/>
          <a:ext cx="0" cy="0"/>
          <a:chOff x="0" y="0"/>
          <a:chExt cx="0" cy="0"/>
        </a:xfrm>
      </p:grpSpPr>
      <p:sp>
        <p:nvSpPr>
          <p:cNvPr id="2" name="Shape 0"/>
          <p:cNvSpPr/>
          <p:nvPr/>
        </p:nvSpPr>
        <p:spPr>
          <a:xfrm>
            <a:off x="502920" y="452628"/>
            <a:ext cx="91440" cy="91440"/>
          </a:xfrm>
          <a:prstGeom prst="rect">
            <a:avLst/>
          </a:prstGeom>
          <a:solidFill>
            <a:srgbClr val="C07A2C"/>
          </a:solidFill>
          <a:ln/>
        </p:spPr>
      </p:sp>
      <p:sp>
        <p:nvSpPr>
          <p:cNvPr id="3" name="Text 1"/>
          <p:cNvSpPr/>
          <p:nvPr/>
        </p:nvSpPr>
        <p:spPr>
          <a:xfrm>
            <a:off x="704088" y="402336"/>
            <a:ext cx="5486400" cy="219456"/>
          </a:xfrm>
          <a:prstGeom prst="rect">
            <a:avLst/>
          </a:prstGeom>
          <a:noFill/>
          <a:ln/>
        </p:spPr>
        <p:txBody>
          <a:bodyPr wrap="square" lIns="0" tIns="0" rIns="0" bIns="0" rtlCol="0" anchor="ctr"/>
          <a:lstStyle/>
          <a:p>
            <a:pPr indent="0" marL="0">
              <a:buNone/>
            </a:pPr>
            <a:r>
              <a:rPr lang="en-US" sz="1000" b="1" spc="240" kern="0" dirty="0">
                <a:solidFill>
                  <a:srgbClr val="5C6862"/>
                </a:solidFill>
                <a:latin typeface="Calibri" pitchFamily="34" charset="0"/>
                <a:ea typeface="Calibri" pitchFamily="34" charset="-122"/>
                <a:cs typeface="Calibri" pitchFamily="34" charset="-120"/>
              </a:rPr>
              <a:t>ARCHITECTURE</a:t>
            </a:r>
            <a:endParaRPr lang="en-US" sz="1000" dirty="0"/>
          </a:p>
        </p:txBody>
      </p:sp>
      <p:sp>
        <p:nvSpPr>
          <p:cNvPr id="4" name="Text 2"/>
          <p:cNvSpPr/>
          <p:nvPr/>
        </p:nvSpPr>
        <p:spPr>
          <a:xfrm>
            <a:off x="502920" y="786384"/>
            <a:ext cx="8138160" cy="713232"/>
          </a:xfrm>
          <a:prstGeom prst="rect">
            <a:avLst/>
          </a:prstGeom>
          <a:noFill/>
          <a:ln/>
        </p:spPr>
        <p:txBody>
          <a:bodyPr wrap="square" lIns="0" tIns="0" rIns="0" bIns="0" rtlCol="0" anchor="t"/>
          <a:lstStyle/>
          <a:p>
            <a:pPr indent="0" marL="0">
              <a:lnSpc>
                <a:spcPct val="94000"/>
              </a:lnSpc>
              <a:buNone/>
            </a:pPr>
            <a:r>
              <a:rPr lang="en-US" sz="3000" b="1" dirty="0">
                <a:solidFill>
                  <a:srgbClr val="121614"/>
                </a:solidFill>
                <a:latin typeface="Georgia" pitchFamily="34" charset="0"/>
                <a:ea typeface="Georgia" pitchFamily="34" charset="-122"/>
                <a:cs typeface="Georgia" pitchFamily="34" charset="-120"/>
              </a:rPr>
              <a:t>Four layers, one direction</a:t>
            </a:r>
            <a:endParaRPr lang="en-US" sz="3000" dirty="0"/>
          </a:p>
        </p:txBody>
      </p:sp>
      <p:sp>
        <p:nvSpPr>
          <p:cNvPr id="5" name="Shape 3"/>
          <p:cNvSpPr/>
          <p:nvPr/>
        </p:nvSpPr>
        <p:spPr>
          <a:xfrm>
            <a:off x="502920" y="1572768"/>
            <a:ext cx="5989320" cy="548640"/>
          </a:xfrm>
          <a:prstGeom prst="rect">
            <a:avLst/>
          </a:prstGeom>
          <a:solidFill>
            <a:srgbClr val="FFFFFF"/>
          </a:solidFill>
          <a:ln w="12700">
            <a:solidFill>
              <a:srgbClr val="DFE5E1"/>
            </a:solidFill>
            <a:prstDash val="solid"/>
          </a:ln>
        </p:spPr>
      </p:sp>
      <p:sp>
        <p:nvSpPr>
          <p:cNvPr id="6" name="Shape 4"/>
          <p:cNvSpPr/>
          <p:nvPr/>
        </p:nvSpPr>
        <p:spPr>
          <a:xfrm>
            <a:off x="502920" y="1572768"/>
            <a:ext cx="50292" cy="548640"/>
          </a:xfrm>
          <a:prstGeom prst="rect">
            <a:avLst/>
          </a:prstGeom>
          <a:solidFill>
            <a:srgbClr val="0F6F62"/>
          </a:solidFill>
          <a:ln w="12700">
            <a:solidFill>
              <a:srgbClr val="333333"/>
            </a:solidFill>
            <a:prstDash val="solid"/>
          </a:ln>
        </p:spPr>
      </p:sp>
      <p:sp>
        <p:nvSpPr>
          <p:cNvPr id="7" name="Text 5"/>
          <p:cNvSpPr/>
          <p:nvPr/>
        </p:nvSpPr>
        <p:spPr>
          <a:xfrm>
            <a:off x="722376" y="1655064"/>
            <a:ext cx="1371600" cy="384048"/>
          </a:xfrm>
          <a:prstGeom prst="rect">
            <a:avLst/>
          </a:prstGeom>
          <a:noFill/>
          <a:ln/>
        </p:spPr>
        <p:txBody>
          <a:bodyPr wrap="square" lIns="0" tIns="0" rIns="0" bIns="0" rtlCol="0" anchor="ctr"/>
          <a:lstStyle/>
          <a:p>
            <a:pPr indent="0" marL="0">
              <a:buNone/>
            </a:pPr>
            <a:r>
              <a:rPr lang="en-US" sz="1400" b="1" dirty="0">
                <a:solidFill>
                  <a:srgbClr val="121614"/>
                </a:solidFill>
                <a:latin typeface="Georgia" pitchFamily="34" charset="0"/>
                <a:ea typeface="Georgia" pitchFamily="34" charset="-122"/>
                <a:cs typeface="Georgia" pitchFamily="34" charset="-120"/>
              </a:rPr>
              <a:t>Ingestion</a:t>
            </a:r>
            <a:endParaRPr lang="en-US" sz="1400" dirty="0"/>
          </a:p>
        </p:txBody>
      </p:sp>
      <p:sp>
        <p:nvSpPr>
          <p:cNvPr id="8" name="Text 6"/>
          <p:cNvSpPr/>
          <p:nvPr/>
        </p:nvSpPr>
        <p:spPr>
          <a:xfrm>
            <a:off x="2130552" y="1655064"/>
            <a:ext cx="3657600" cy="384048"/>
          </a:xfrm>
          <a:prstGeom prst="rect">
            <a:avLst/>
          </a:prstGeom>
          <a:noFill/>
          <a:ln/>
        </p:spPr>
        <p:txBody>
          <a:bodyPr wrap="square" lIns="0" tIns="0" rIns="0" bIns="0" rtlCol="0" anchor="ctr"/>
          <a:lstStyle/>
          <a:p>
            <a:pPr indent="0" marL="0">
              <a:buNone/>
            </a:pPr>
            <a:r>
              <a:rPr lang="en-US" sz="1150" dirty="0">
                <a:solidFill>
                  <a:srgbClr val="47524D"/>
                </a:solidFill>
                <a:latin typeface="Calibri" pitchFamily="34" charset="0"/>
                <a:ea typeface="Calibri" pitchFamily="34" charset="-122"/>
                <a:cs typeface="Calibri" pitchFamily="34" charset="-120"/>
              </a:rPr>
              <a:t>File reader, column mapper, validator, transformer</a:t>
            </a:r>
            <a:endParaRPr lang="en-US" sz="1150" dirty="0"/>
          </a:p>
        </p:txBody>
      </p:sp>
      <p:sp>
        <p:nvSpPr>
          <p:cNvPr id="9" name="Text 7"/>
          <p:cNvSpPr/>
          <p:nvPr/>
        </p:nvSpPr>
        <p:spPr>
          <a:xfrm>
            <a:off x="5852160" y="1655064"/>
            <a:ext cx="502920" cy="384048"/>
          </a:xfrm>
          <a:prstGeom prst="rect">
            <a:avLst/>
          </a:prstGeom>
          <a:noFill/>
          <a:ln/>
        </p:spPr>
        <p:txBody>
          <a:bodyPr wrap="square" lIns="0" tIns="0" rIns="0" bIns="0" rtlCol="0" anchor="ctr"/>
          <a:lstStyle/>
          <a:p>
            <a:pPr algn="r" indent="0" marL="0">
              <a:buNone/>
            </a:pPr>
            <a:r>
              <a:rPr lang="en-US" sz="1500" b="1" dirty="0">
                <a:solidFill>
                  <a:srgbClr val="0F6F62"/>
                </a:solidFill>
                <a:latin typeface="Georgia" pitchFamily="34" charset="0"/>
                <a:ea typeface="Georgia" pitchFamily="34" charset="-122"/>
                <a:cs typeface="Georgia" pitchFamily="34" charset="-120"/>
              </a:rPr>
              <a:t>5</a:t>
            </a:r>
            <a:endParaRPr lang="en-US" sz="1500" dirty="0"/>
          </a:p>
        </p:txBody>
      </p:sp>
      <p:sp>
        <p:nvSpPr>
          <p:cNvPr id="10" name="Shape 8"/>
          <p:cNvSpPr/>
          <p:nvPr/>
        </p:nvSpPr>
        <p:spPr>
          <a:xfrm>
            <a:off x="502920" y="2249424"/>
            <a:ext cx="5989320" cy="548640"/>
          </a:xfrm>
          <a:prstGeom prst="rect">
            <a:avLst/>
          </a:prstGeom>
          <a:solidFill>
            <a:srgbClr val="FFFFFF"/>
          </a:solidFill>
          <a:ln w="12700">
            <a:solidFill>
              <a:srgbClr val="DFE5E1"/>
            </a:solidFill>
            <a:prstDash val="solid"/>
          </a:ln>
        </p:spPr>
      </p:sp>
      <p:sp>
        <p:nvSpPr>
          <p:cNvPr id="11" name="Shape 9"/>
          <p:cNvSpPr/>
          <p:nvPr/>
        </p:nvSpPr>
        <p:spPr>
          <a:xfrm>
            <a:off x="502920" y="2249424"/>
            <a:ext cx="50292" cy="548640"/>
          </a:xfrm>
          <a:prstGeom prst="rect">
            <a:avLst/>
          </a:prstGeom>
          <a:solidFill>
            <a:srgbClr val="C07A2C"/>
          </a:solidFill>
          <a:ln w="12700">
            <a:solidFill>
              <a:srgbClr val="333333"/>
            </a:solidFill>
            <a:prstDash val="solid"/>
          </a:ln>
        </p:spPr>
      </p:sp>
      <p:sp>
        <p:nvSpPr>
          <p:cNvPr id="12" name="Text 10"/>
          <p:cNvSpPr/>
          <p:nvPr/>
        </p:nvSpPr>
        <p:spPr>
          <a:xfrm>
            <a:off x="722376" y="2331720"/>
            <a:ext cx="1371600" cy="384048"/>
          </a:xfrm>
          <a:prstGeom prst="rect">
            <a:avLst/>
          </a:prstGeom>
          <a:noFill/>
          <a:ln/>
        </p:spPr>
        <p:txBody>
          <a:bodyPr wrap="square" lIns="0" tIns="0" rIns="0" bIns="0" rtlCol="0" anchor="ctr"/>
          <a:lstStyle/>
          <a:p>
            <a:pPr indent="0" marL="0">
              <a:buNone/>
            </a:pPr>
            <a:r>
              <a:rPr lang="en-US" sz="1400" b="1" dirty="0">
                <a:solidFill>
                  <a:srgbClr val="121614"/>
                </a:solidFill>
                <a:latin typeface="Georgia" pitchFamily="34" charset="0"/>
                <a:ea typeface="Georgia" pitchFamily="34" charset="-122"/>
                <a:cs typeface="Georgia" pitchFamily="34" charset="-120"/>
              </a:rPr>
              <a:t>Analytics</a:t>
            </a:r>
            <a:endParaRPr lang="en-US" sz="1400" dirty="0"/>
          </a:p>
        </p:txBody>
      </p:sp>
      <p:sp>
        <p:nvSpPr>
          <p:cNvPr id="13" name="Text 11"/>
          <p:cNvSpPr/>
          <p:nvPr/>
        </p:nvSpPr>
        <p:spPr>
          <a:xfrm>
            <a:off x="2130552" y="2331720"/>
            <a:ext cx="3657600" cy="384048"/>
          </a:xfrm>
          <a:prstGeom prst="rect">
            <a:avLst/>
          </a:prstGeom>
          <a:noFill/>
          <a:ln/>
        </p:spPr>
        <p:txBody>
          <a:bodyPr wrap="square" lIns="0" tIns="0" rIns="0" bIns="0" rtlCol="0" anchor="ctr"/>
          <a:lstStyle/>
          <a:p>
            <a:pPr indent="0" marL="0">
              <a:buNone/>
            </a:pPr>
            <a:r>
              <a:rPr lang="en-US" sz="1150" dirty="0">
                <a:solidFill>
                  <a:srgbClr val="47524D"/>
                </a:solidFill>
                <a:latin typeface="Calibri" pitchFamily="34" charset="0"/>
                <a:ea typeface="Calibri" pitchFamily="34" charset="-122"/>
                <a:cs typeface="Calibri" pitchFamily="34" charset="-120"/>
              </a:rPr>
              <a:t>KPIs, classification, aging, utilisation, recommendations</a:t>
            </a:r>
            <a:endParaRPr lang="en-US" sz="1150" dirty="0"/>
          </a:p>
        </p:txBody>
      </p:sp>
      <p:sp>
        <p:nvSpPr>
          <p:cNvPr id="14" name="Text 12"/>
          <p:cNvSpPr/>
          <p:nvPr/>
        </p:nvSpPr>
        <p:spPr>
          <a:xfrm>
            <a:off x="5852160" y="2331720"/>
            <a:ext cx="502920" cy="384048"/>
          </a:xfrm>
          <a:prstGeom prst="rect">
            <a:avLst/>
          </a:prstGeom>
          <a:noFill/>
          <a:ln/>
        </p:spPr>
        <p:txBody>
          <a:bodyPr wrap="square" lIns="0" tIns="0" rIns="0" bIns="0" rtlCol="0" anchor="ctr"/>
          <a:lstStyle/>
          <a:p>
            <a:pPr algn="r" indent="0" marL="0">
              <a:buNone/>
            </a:pPr>
            <a:r>
              <a:rPr lang="en-US" sz="1500" b="1" dirty="0">
                <a:solidFill>
                  <a:srgbClr val="C07A2C"/>
                </a:solidFill>
                <a:latin typeface="Georgia" pitchFamily="34" charset="0"/>
                <a:ea typeface="Georgia" pitchFamily="34" charset="-122"/>
                <a:cs typeface="Georgia" pitchFamily="34" charset="-120"/>
              </a:rPr>
              <a:t>6</a:t>
            </a:r>
            <a:endParaRPr lang="en-US" sz="1500" dirty="0"/>
          </a:p>
        </p:txBody>
      </p:sp>
      <p:sp>
        <p:nvSpPr>
          <p:cNvPr id="15" name="Shape 13"/>
          <p:cNvSpPr/>
          <p:nvPr/>
        </p:nvSpPr>
        <p:spPr>
          <a:xfrm>
            <a:off x="502920" y="2926080"/>
            <a:ext cx="5989320" cy="548640"/>
          </a:xfrm>
          <a:prstGeom prst="rect">
            <a:avLst/>
          </a:prstGeom>
          <a:solidFill>
            <a:srgbClr val="FFFFFF"/>
          </a:solidFill>
          <a:ln w="12700">
            <a:solidFill>
              <a:srgbClr val="DFE5E1"/>
            </a:solidFill>
            <a:prstDash val="solid"/>
          </a:ln>
        </p:spPr>
      </p:sp>
      <p:sp>
        <p:nvSpPr>
          <p:cNvPr id="16" name="Shape 14"/>
          <p:cNvSpPr/>
          <p:nvPr/>
        </p:nvSpPr>
        <p:spPr>
          <a:xfrm>
            <a:off x="502920" y="2926080"/>
            <a:ext cx="50292" cy="548640"/>
          </a:xfrm>
          <a:prstGeom prst="rect">
            <a:avLst/>
          </a:prstGeom>
          <a:solidFill>
            <a:srgbClr val="0A6B60"/>
          </a:solidFill>
          <a:ln w="12700">
            <a:solidFill>
              <a:srgbClr val="333333"/>
            </a:solidFill>
            <a:prstDash val="solid"/>
          </a:ln>
        </p:spPr>
      </p:sp>
      <p:sp>
        <p:nvSpPr>
          <p:cNvPr id="17" name="Text 15"/>
          <p:cNvSpPr/>
          <p:nvPr/>
        </p:nvSpPr>
        <p:spPr>
          <a:xfrm>
            <a:off x="722376" y="3008376"/>
            <a:ext cx="1371600" cy="384048"/>
          </a:xfrm>
          <a:prstGeom prst="rect">
            <a:avLst/>
          </a:prstGeom>
          <a:noFill/>
          <a:ln/>
        </p:spPr>
        <p:txBody>
          <a:bodyPr wrap="square" lIns="0" tIns="0" rIns="0" bIns="0" rtlCol="0" anchor="ctr"/>
          <a:lstStyle/>
          <a:p>
            <a:pPr indent="0" marL="0">
              <a:buNone/>
            </a:pPr>
            <a:r>
              <a:rPr lang="en-US" sz="1400" b="1" dirty="0">
                <a:solidFill>
                  <a:srgbClr val="121614"/>
                </a:solidFill>
                <a:latin typeface="Georgia" pitchFamily="34" charset="0"/>
                <a:ea typeface="Georgia" pitchFamily="34" charset="-122"/>
                <a:cs typeface="Georgia" pitchFamily="34" charset="-120"/>
              </a:rPr>
              <a:t>State</a:t>
            </a:r>
            <a:endParaRPr lang="en-US" sz="1400" dirty="0"/>
          </a:p>
        </p:txBody>
      </p:sp>
      <p:sp>
        <p:nvSpPr>
          <p:cNvPr id="18" name="Text 16"/>
          <p:cNvSpPr/>
          <p:nvPr/>
        </p:nvSpPr>
        <p:spPr>
          <a:xfrm>
            <a:off x="2130552" y="3008376"/>
            <a:ext cx="3657600" cy="384048"/>
          </a:xfrm>
          <a:prstGeom prst="rect">
            <a:avLst/>
          </a:prstGeom>
          <a:noFill/>
          <a:ln/>
        </p:spPr>
        <p:txBody>
          <a:bodyPr wrap="square" lIns="0" tIns="0" rIns="0" bIns="0" rtlCol="0" anchor="ctr"/>
          <a:lstStyle/>
          <a:p>
            <a:pPr indent="0" marL="0">
              <a:buNone/>
            </a:pPr>
            <a:r>
              <a:rPr lang="en-US" sz="1150" dirty="0">
                <a:solidFill>
                  <a:srgbClr val="47524D"/>
                </a:solidFill>
                <a:latin typeface="Calibri" pitchFamily="34" charset="0"/>
                <a:ea typeface="Calibri" pitchFamily="34" charset="-122"/>
                <a:cs typeface="Calibri" pitchFamily="34" charset="-120"/>
              </a:rPr>
              <a:t>One store, event driven, frozen reads</a:t>
            </a:r>
            <a:endParaRPr lang="en-US" sz="1150" dirty="0"/>
          </a:p>
        </p:txBody>
      </p:sp>
      <p:sp>
        <p:nvSpPr>
          <p:cNvPr id="19" name="Text 17"/>
          <p:cNvSpPr/>
          <p:nvPr/>
        </p:nvSpPr>
        <p:spPr>
          <a:xfrm>
            <a:off x="5852160" y="3008376"/>
            <a:ext cx="502920" cy="384048"/>
          </a:xfrm>
          <a:prstGeom prst="rect">
            <a:avLst/>
          </a:prstGeom>
          <a:noFill/>
          <a:ln/>
        </p:spPr>
        <p:txBody>
          <a:bodyPr wrap="square" lIns="0" tIns="0" rIns="0" bIns="0" rtlCol="0" anchor="ctr"/>
          <a:lstStyle/>
          <a:p>
            <a:pPr algn="r" indent="0" marL="0">
              <a:buNone/>
            </a:pPr>
            <a:r>
              <a:rPr lang="en-US" sz="1500" b="1" dirty="0">
                <a:solidFill>
                  <a:srgbClr val="0A6B60"/>
                </a:solidFill>
                <a:latin typeface="Georgia" pitchFamily="34" charset="0"/>
                <a:ea typeface="Georgia" pitchFamily="34" charset="-122"/>
                <a:cs typeface="Georgia" pitchFamily="34" charset="-120"/>
              </a:rPr>
              <a:t>5</a:t>
            </a:r>
            <a:endParaRPr lang="en-US" sz="1500" dirty="0"/>
          </a:p>
        </p:txBody>
      </p:sp>
      <p:sp>
        <p:nvSpPr>
          <p:cNvPr id="20" name="Shape 18"/>
          <p:cNvSpPr/>
          <p:nvPr/>
        </p:nvSpPr>
        <p:spPr>
          <a:xfrm>
            <a:off x="502920" y="3602736"/>
            <a:ext cx="5989320" cy="548640"/>
          </a:xfrm>
          <a:prstGeom prst="rect">
            <a:avLst/>
          </a:prstGeom>
          <a:solidFill>
            <a:srgbClr val="FFFFFF"/>
          </a:solidFill>
          <a:ln w="12700">
            <a:solidFill>
              <a:srgbClr val="DFE5E1"/>
            </a:solidFill>
            <a:prstDash val="solid"/>
          </a:ln>
        </p:spPr>
      </p:sp>
      <p:sp>
        <p:nvSpPr>
          <p:cNvPr id="21" name="Shape 19"/>
          <p:cNvSpPr/>
          <p:nvPr/>
        </p:nvSpPr>
        <p:spPr>
          <a:xfrm>
            <a:off x="502920" y="3602736"/>
            <a:ext cx="50292" cy="548640"/>
          </a:xfrm>
          <a:prstGeom prst="rect">
            <a:avLst/>
          </a:prstGeom>
          <a:solidFill>
            <a:srgbClr val="47524D"/>
          </a:solidFill>
          <a:ln w="12700">
            <a:solidFill>
              <a:srgbClr val="333333"/>
            </a:solidFill>
            <a:prstDash val="solid"/>
          </a:ln>
        </p:spPr>
      </p:sp>
      <p:sp>
        <p:nvSpPr>
          <p:cNvPr id="22" name="Text 20"/>
          <p:cNvSpPr/>
          <p:nvPr/>
        </p:nvSpPr>
        <p:spPr>
          <a:xfrm>
            <a:off x="722376" y="3685032"/>
            <a:ext cx="1371600" cy="384048"/>
          </a:xfrm>
          <a:prstGeom prst="rect">
            <a:avLst/>
          </a:prstGeom>
          <a:noFill/>
          <a:ln/>
        </p:spPr>
        <p:txBody>
          <a:bodyPr wrap="square" lIns="0" tIns="0" rIns="0" bIns="0" rtlCol="0" anchor="ctr"/>
          <a:lstStyle/>
          <a:p>
            <a:pPr indent="0" marL="0">
              <a:buNone/>
            </a:pPr>
            <a:r>
              <a:rPr lang="en-US" sz="1400" b="1" dirty="0">
                <a:solidFill>
                  <a:srgbClr val="121614"/>
                </a:solidFill>
                <a:latin typeface="Georgia" pitchFamily="34" charset="0"/>
                <a:ea typeface="Georgia" pitchFamily="34" charset="-122"/>
                <a:cs typeface="Georgia" pitchFamily="34" charset="-120"/>
              </a:rPr>
              <a:t>Views</a:t>
            </a:r>
            <a:endParaRPr lang="en-US" sz="1400" dirty="0"/>
          </a:p>
        </p:txBody>
      </p:sp>
      <p:sp>
        <p:nvSpPr>
          <p:cNvPr id="23" name="Text 21"/>
          <p:cNvSpPr/>
          <p:nvPr/>
        </p:nvSpPr>
        <p:spPr>
          <a:xfrm>
            <a:off x="2130552" y="3685032"/>
            <a:ext cx="3657600" cy="384048"/>
          </a:xfrm>
          <a:prstGeom prst="rect">
            <a:avLst/>
          </a:prstGeom>
          <a:noFill/>
          <a:ln/>
        </p:spPr>
        <p:txBody>
          <a:bodyPr wrap="square" lIns="0" tIns="0" rIns="0" bIns="0" rtlCol="0" anchor="ctr"/>
          <a:lstStyle/>
          <a:p>
            <a:pPr indent="0" marL="0">
              <a:buNone/>
            </a:pPr>
            <a:r>
              <a:rPr lang="en-US" sz="1150" dirty="0">
                <a:solidFill>
                  <a:srgbClr val="47524D"/>
                </a:solidFill>
                <a:latin typeface="Calibri" pitchFamily="34" charset="0"/>
                <a:ea typeface="Calibri" pitchFamily="34" charset="-122"/>
                <a:cs typeface="Calibri" pitchFamily="34" charset="-120"/>
              </a:rPr>
              <a:t>Eleven pages, shared component vocabulary</a:t>
            </a:r>
            <a:endParaRPr lang="en-US" sz="1150" dirty="0"/>
          </a:p>
        </p:txBody>
      </p:sp>
      <p:sp>
        <p:nvSpPr>
          <p:cNvPr id="24" name="Text 22"/>
          <p:cNvSpPr/>
          <p:nvPr/>
        </p:nvSpPr>
        <p:spPr>
          <a:xfrm>
            <a:off x="5852160" y="3685032"/>
            <a:ext cx="502920" cy="384048"/>
          </a:xfrm>
          <a:prstGeom prst="rect">
            <a:avLst/>
          </a:prstGeom>
          <a:noFill/>
          <a:ln/>
        </p:spPr>
        <p:txBody>
          <a:bodyPr wrap="square" lIns="0" tIns="0" rIns="0" bIns="0" rtlCol="0" anchor="ctr"/>
          <a:lstStyle/>
          <a:p>
            <a:pPr algn="r" indent="0" marL="0">
              <a:buNone/>
            </a:pPr>
            <a:r>
              <a:rPr lang="en-US" sz="1500" b="1" dirty="0">
                <a:solidFill>
                  <a:srgbClr val="47524D"/>
                </a:solidFill>
                <a:latin typeface="Georgia" pitchFamily="34" charset="0"/>
                <a:ea typeface="Georgia" pitchFamily="34" charset="-122"/>
                <a:cs typeface="Georgia" pitchFamily="34" charset="-120"/>
              </a:rPr>
              <a:t>11</a:t>
            </a:r>
            <a:endParaRPr lang="en-US" sz="1500" dirty="0"/>
          </a:p>
        </p:txBody>
      </p:sp>
      <p:sp>
        <p:nvSpPr>
          <p:cNvPr id="25" name="Text 23"/>
          <p:cNvSpPr/>
          <p:nvPr/>
        </p:nvSpPr>
        <p:spPr>
          <a:xfrm>
            <a:off x="6766560" y="1572768"/>
            <a:ext cx="1874520" cy="274320"/>
          </a:xfrm>
          <a:prstGeom prst="rect">
            <a:avLst/>
          </a:prstGeom>
          <a:noFill/>
          <a:ln/>
        </p:spPr>
        <p:txBody>
          <a:bodyPr wrap="square" lIns="0" tIns="0" rIns="0" bIns="0" rtlCol="0" anchor="ctr"/>
          <a:lstStyle/>
          <a:p>
            <a:pPr indent="0" marL="0">
              <a:buNone/>
            </a:pPr>
            <a:r>
              <a:rPr lang="en-US" sz="1400" b="1" dirty="0">
                <a:solidFill>
                  <a:srgbClr val="121614"/>
                </a:solidFill>
                <a:latin typeface="Georgia" pitchFamily="34" charset="0"/>
                <a:ea typeface="Georgia" pitchFamily="34" charset="-122"/>
                <a:cs typeface="Georgia" pitchFamily="34" charset="-120"/>
              </a:rPr>
              <a:t>Held deliberately</a:t>
            </a:r>
            <a:endParaRPr lang="en-US" sz="1400" dirty="0"/>
          </a:p>
        </p:txBody>
      </p:sp>
      <p:sp>
        <p:nvSpPr>
          <p:cNvPr id="26" name="Text 24"/>
          <p:cNvSpPr/>
          <p:nvPr/>
        </p:nvSpPr>
        <p:spPr>
          <a:xfrm>
            <a:off x="6766560" y="1920240"/>
            <a:ext cx="1874520" cy="2103120"/>
          </a:xfrm>
          <a:prstGeom prst="rect">
            <a:avLst/>
          </a:prstGeom>
          <a:noFill/>
          <a:ln/>
        </p:spPr>
        <p:txBody>
          <a:bodyPr wrap="square" lIns="0" tIns="0" rIns="0" bIns="0" rtlCol="0" anchor="ctr"/>
          <a:lstStyle/>
          <a:p>
            <a:pPr indent="0" marL="0">
              <a:lnSpc>
                <a:spcPct val="106000"/>
              </a:lnSpc>
              <a:buNone/>
            </a:pPr>
            <a:r>
              <a:rPr lang="en-US" sz="1150" b="1" dirty="0">
                <a:solidFill>
                  <a:srgbClr val="47524D"/>
                </a:solidFill>
                <a:latin typeface="Calibri" pitchFamily="34" charset="0"/>
                <a:ea typeface="Calibri" pitchFamily="34" charset="-122"/>
                <a:cs typeface="Calibri" pitchFamily="34" charset="-120"/>
              </a:rPr>
              <a:t>No build step</a:t>
            </a:r>
            <a:endParaRPr lang="en-US" sz="1150" dirty="0"/>
          </a:p>
          <a:p>
            <a:pPr indent="0" marL="0">
              <a:lnSpc>
                <a:spcPct val="106000"/>
              </a:lnSpc>
              <a:buNone/>
            </a:pPr>
            <a:r>
              <a:rPr lang="en-US" sz="1150" dirty="0">
                <a:solidFill>
                  <a:srgbClr val="47524D"/>
                </a:solidFill>
                <a:latin typeface="Calibri" pitchFamily="34" charset="0"/>
                <a:ea typeface="Calibri" pitchFamily="34" charset="-122"/>
                <a:cs typeface="Calibri" pitchFamily="34" charset="-120"/>
              </a:rPr>
              <a:t>The folder still opens in five years without a toolchain.</a:t>
            </a:r>
            <a:endParaRPr lang="en-US" sz="1150" dirty="0"/>
          </a:p>
          <a:p>
            <a:pPr indent="0" marL="0">
              <a:lnSpc>
                <a:spcPct val="106000"/>
              </a:lnSpc>
              <a:buNone/>
            </a:pPr>
            <a:endParaRPr lang="en-US" sz="1150" dirty="0"/>
          </a:p>
          <a:p>
            <a:pPr indent="0" marL="0">
              <a:lnSpc>
                <a:spcPct val="106000"/>
              </a:lnSpc>
              <a:buNone/>
            </a:pPr>
            <a:r>
              <a:rPr lang="en-US" sz="1150" b="1" dirty="0">
                <a:solidFill>
                  <a:srgbClr val="47524D"/>
                </a:solidFill>
                <a:latin typeface="Calibri" pitchFamily="34" charset="0"/>
                <a:ea typeface="Calibri" pitchFamily="34" charset="-122"/>
                <a:cs typeface="Calibri" pitchFamily="34" charset="-120"/>
              </a:rPr>
              <a:t>No framework</a:t>
            </a:r>
            <a:endParaRPr lang="en-US" sz="1150" dirty="0"/>
          </a:p>
          <a:p>
            <a:pPr indent="0" marL="0">
              <a:lnSpc>
                <a:spcPct val="106000"/>
              </a:lnSpc>
              <a:buNone/>
            </a:pPr>
            <a:r>
              <a:rPr lang="en-US" sz="1150" dirty="0">
                <a:solidFill>
                  <a:srgbClr val="47524D"/>
                </a:solidFill>
                <a:latin typeface="Calibri" pitchFamily="34" charset="0"/>
                <a:ea typeface="Calibri" pitchFamily="34" charset="-122"/>
                <a:cs typeface="Calibri" pitchFamily="34" charset="-120"/>
              </a:rPr>
              <a:t>One runtime dependency, no upgrade treadmill.</a:t>
            </a:r>
            <a:endParaRPr lang="en-US" sz="1150" dirty="0"/>
          </a:p>
          <a:p>
            <a:pPr indent="0" marL="0">
              <a:lnSpc>
                <a:spcPct val="106000"/>
              </a:lnSpc>
              <a:buNone/>
            </a:pPr>
            <a:endParaRPr lang="en-US" sz="1150" dirty="0"/>
          </a:p>
          <a:p>
            <a:pPr indent="0" marL="0">
              <a:lnSpc>
                <a:spcPct val="106000"/>
              </a:lnSpc>
              <a:buNone/>
            </a:pPr>
            <a:r>
              <a:rPr lang="en-US" sz="1150" b="1" dirty="0">
                <a:solidFill>
                  <a:srgbClr val="47524D"/>
                </a:solidFill>
                <a:latin typeface="Calibri" pitchFamily="34" charset="0"/>
                <a:ea typeface="Calibri" pitchFamily="34" charset="-122"/>
                <a:cs typeface="Calibri" pitchFamily="34" charset="-120"/>
              </a:rPr>
              <a:t>No backend</a:t>
            </a:r>
            <a:endParaRPr lang="en-US" sz="1150" dirty="0"/>
          </a:p>
          <a:p>
            <a:pPr indent="0" marL="0">
              <a:lnSpc>
                <a:spcPct val="106000"/>
              </a:lnSpc>
              <a:buNone/>
            </a:pPr>
            <a:r>
              <a:rPr lang="en-US" sz="1150" dirty="0">
                <a:solidFill>
                  <a:srgbClr val="47524D"/>
                </a:solidFill>
                <a:latin typeface="Calibri" pitchFamily="34" charset="0"/>
                <a:ea typeface="Calibri" pitchFamily="34" charset="-122"/>
                <a:cs typeface="Calibri" pitchFamily="34" charset="-120"/>
              </a:rPr>
              <a:t>Nothing to send data to, by construction.</a:t>
            </a:r>
            <a:endParaRPr lang="en-US" sz="1150" dirty="0"/>
          </a:p>
        </p:txBody>
      </p:sp>
      <p:sp>
        <p:nvSpPr>
          <p:cNvPr id="28" name="Text 25"/>
          <p:cNvSpPr/>
          <p:nvPr/>
        </p:nvSpPr>
        <p:spPr>
          <a:xfrm>
            <a:off x="502920" y="4759452"/>
            <a:ext cx="2743200" cy="201168"/>
          </a:xfrm>
          <a:prstGeom prst="rect">
            <a:avLst/>
          </a:prstGeom>
          <a:noFill/>
          <a:ln/>
        </p:spPr>
        <p:txBody>
          <a:bodyPr wrap="square" lIns="0" tIns="0" rIns="0" bIns="0" rtlCol="0" anchor="ctr"/>
          <a:lstStyle/>
          <a:p>
            <a:pPr indent="0" marL="0">
              <a:buNone/>
            </a:pPr>
            <a:r>
              <a:rPr lang="en-US" sz="900" dirty="0">
                <a:solidFill>
                  <a:srgbClr val="5C6862"/>
                </a:solidFill>
                <a:latin typeface="Calibri" pitchFamily="34" charset="0"/>
                <a:ea typeface="Calibri" pitchFamily="34" charset="-122"/>
                <a:cs typeface="Calibri" pitchFamily="34" charset="-120"/>
              </a:rPr>
              <a:t>GovSpirit</a:t>
            </a:r>
            <a:endParaRPr lang="en-US" sz="900" dirty="0"/>
          </a:p>
        </p:txBody>
      </p:sp>
      <p:sp>
        <p:nvSpPr>
          <p:cNvPr id="29" name="Text 26"/>
          <p:cNvSpPr/>
          <p:nvPr/>
        </p:nvSpPr>
        <p:spPr>
          <a:xfrm>
            <a:off x="7726680" y="4759452"/>
            <a:ext cx="914400" cy="201168"/>
          </a:xfrm>
          <a:prstGeom prst="rect">
            <a:avLst/>
          </a:prstGeom>
          <a:noFill/>
          <a:ln/>
        </p:spPr>
        <p:txBody>
          <a:bodyPr wrap="square" lIns="0" tIns="0" rIns="0" bIns="0" rtlCol="0" anchor="ctr"/>
          <a:lstStyle/>
          <a:p>
            <a:pPr algn="r" indent="0" marL="0">
              <a:buNone/>
            </a:pPr>
            <a:r>
              <a:rPr lang="en-US" sz="900" dirty="0">
                <a:solidFill>
                  <a:srgbClr val="5C6862"/>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412"/>
        </a:solidFill>
      </p:bgPr>
    </p:bg>
    <p:spTree>
      <p:nvGrpSpPr>
        <p:cNvPr id="1" name=""/>
        <p:cNvGrpSpPr/>
        <p:nvPr/>
      </p:nvGrpSpPr>
      <p:grpSpPr>
        <a:xfrm>
          <a:off x="0" y="0"/>
          <a:ext cx="0" cy="0"/>
          <a:chOff x="0" y="0"/>
          <a:chExt cx="0" cy="0"/>
        </a:xfrm>
      </p:grpSpPr>
      <p:sp>
        <p:nvSpPr>
          <p:cNvPr id="2" name="Shape 0"/>
          <p:cNvSpPr/>
          <p:nvPr/>
        </p:nvSpPr>
        <p:spPr>
          <a:xfrm>
            <a:off x="502920" y="452628"/>
            <a:ext cx="91440" cy="91440"/>
          </a:xfrm>
          <a:prstGeom prst="rect">
            <a:avLst/>
          </a:prstGeom>
          <a:solidFill>
            <a:srgbClr val="C07A2C"/>
          </a:solidFill>
          <a:ln/>
        </p:spPr>
      </p:sp>
      <p:sp>
        <p:nvSpPr>
          <p:cNvPr id="3" name="Text 1"/>
          <p:cNvSpPr/>
          <p:nvPr/>
        </p:nvSpPr>
        <p:spPr>
          <a:xfrm>
            <a:off x="704088" y="402336"/>
            <a:ext cx="5486400" cy="219456"/>
          </a:xfrm>
          <a:prstGeom prst="rect">
            <a:avLst/>
          </a:prstGeom>
          <a:noFill/>
          <a:ln/>
        </p:spPr>
        <p:txBody>
          <a:bodyPr wrap="square" lIns="0" tIns="0" rIns="0" bIns="0" rtlCol="0" anchor="ctr"/>
          <a:lstStyle/>
          <a:p>
            <a:pPr indent="0" marL="0">
              <a:buNone/>
            </a:pPr>
            <a:r>
              <a:rPr lang="en-US" sz="1000" b="1" spc="240" kern="0" dirty="0">
                <a:solidFill>
                  <a:srgbClr val="A6B2AC"/>
                </a:solidFill>
                <a:latin typeface="Calibri" pitchFamily="34" charset="0"/>
                <a:ea typeface="Calibri" pitchFamily="34" charset="-122"/>
                <a:cs typeface="Calibri" pitchFamily="34" charset="-120"/>
              </a:rPr>
              <a:t>THE PRINCIPLE THAT MATTERED MOST</a:t>
            </a:r>
            <a:endParaRPr lang="en-US" sz="1000" dirty="0"/>
          </a:p>
        </p:txBody>
      </p:sp>
      <p:sp>
        <p:nvSpPr>
          <p:cNvPr id="4" name="Text 2"/>
          <p:cNvSpPr/>
          <p:nvPr/>
        </p:nvSpPr>
        <p:spPr>
          <a:xfrm>
            <a:off x="502920" y="786384"/>
            <a:ext cx="8138160" cy="713232"/>
          </a:xfrm>
          <a:prstGeom prst="rect">
            <a:avLst/>
          </a:prstGeom>
          <a:noFill/>
          <a:ln/>
        </p:spPr>
        <p:txBody>
          <a:bodyPr wrap="square" lIns="0" tIns="0" rIns="0" bIns="0" rtlCol="0" anchor="t"/>
          <a:lstStyle/>
          <a:p>
            <a:pPr indent="0" marL="0">
              <a:lnSpc>
                <a:spcPct val="94000"/>
              </a:lnSpc>
              <a:buNone/>
            </a:pPr>
            <a:r>
              <a:rPr lang="en-US" sz="3000" b="1" dirty="0">
                <a:solidFill>
                  <a:srgbClr val="E9EFEA"/>
                </a:solidFill>
                <a:latin typeface="Georgia" pitchFamily="34" charset="0"/>
                <a:ea typeface="Georgia" pitchFamily="34" charset="-122"/>
                <a:cs typeface="Georgia" pitchFamily="34" charset="-120"/>
              </a:rPr>
              <a:t>A metric with no evidence returns nothing</a:t>
            </a:r>
            <a:endParaRPr lang="en-US" sz="3000" dirty="0"/>
          </a:p>
        </p:txBody>
      </p:sp>
      <p:sp>
        <p:nvSpPr>
          <p:cNvPr id="5" name="Text 3"/>
          <p:cNvSpPr/>
          <p:nvPr/>
        </p:nvSpPr>
        <p:spPr>
          <a:xfrm>
            <a:off x="502920" y="1591056"/>
            <a:ext cx="4846320" cy="960120"/>
          </a:xfrm>
          <a:prstGeom prst="rect">
            <a:avLst/>
          </a:prstGeom>
          <a:noFill/>
          <a:ln/>
        </p:spPr>
        <p:txBody>
          <a:bodyPr wrap="square" lIns="0" tIns="0" rIns="0" bIns="0" rtlCol="0" anchor="ctr"/>
          <a:lstStyle/>
          <a:p>
            <a:pPr indent="0" marL="0">
              <a:lnSpc>
                <a:spcPct val="114000"/>
              </a:lnSpc>
              <a:buNone/>
            </a:pPr>
            <a:r>
              <a:rPr lang="en-US" sz="1350" dirty="0">
                <a:solidFill>
                  <a:srgbClr val="A6B2AC"/>
                </a:solidFill>
                <a:latin typeface="Calibri" pitchFamily="34" charset="0"/>
                <a:ea typeface="Calibri" pitchFamily="34" charset="-122"/>
                <a:cs typeface="Calibri" pitchFamily="34" charset="-120"/>
              </a:rPr>
              <a:t>Version 1 reported 98.5% inventory accuracy for depots that had never uploaded a cycle count. It reported 15 picks per hour with no workforce file, and 97% pick accuracy from nowhere at all.</a:t>
            </a:r>
            <a:endParaRPr lang="en-US" sz="1350" dirty="0"/>
          </a:p>
        </p:txBody>
      </p:sp>
      <p:sp>
        <p:nvSpPr>
          <p:cNvPr id="6" name="Text 4"/>
          <p:cNvSpPr/>
          <p:nvPr/>
        </p:nvSpPr>
        <p:spPr>
          <a:xfrm>
            <a:off x="502920" y="2633472"/>
            <a:ext cx="4846320" cy="731520"/>
          </a:xfrm>
          <a:prstGeom prst="rect">
            <a:avLst/>
          </a:prstGeom>
          <a:noFill/>
          <a:ln/>
        </p:spPr>
        <p:txBody>
          <a:bodyPr wrap="square" lIns="0" tIns="0" rIns="0" bIns="0" rtlCol="0" anchor="ctr"/>
          <a:lstStyle/>
          <a:p>
            <a:pPr indent="0" marL="0">
              <a:lnSpc>
                <a:spcPct val="114000"/>
              </a:lnSpc>
              <a:buNone/>
            </a:pPr>
            <a:r>
              <a:rPr lang="en-US" sz="1350" dirty="0">
                <a:solidFill>
                  <a:srgbClr val="A6B2AC"/>
                </a:solidFill>
                <a:latin typeface="Calibri" pitchFamily="34" charset="0"/>
                <a:ea typeface="Calibri" pitchFamily="34" charset="-122"/>
                <a:cs typeface="Calibri" pitchFamily="34" charset="-120"/>
              </a:rPr>
              <a:t>Those three invented figures then fed the warehouse health score, so a depot that had supplied nothing but a stock list scored well.</a:t>
            </a:r>
            <a:endParaRPr lang="en-US" sz="1350" dirty="0"/>
          </a:p>
        </p:txBody>
      </p:sp>
      <p:sp>
        <p:nvSpPr>
          <p:cNvPr id="7" name="Text 5"/>
          <p:cNvSpPr/>
          <p:nvPr/>
        </p:nvSpPr>
        <p:spPr>
          <a:xfrm>
            <a:off x="502920" y="3493008"/>
            <a:ext cx="4846320" cy="786384"/>
          </a:xfrm>
          <a:prstGeom prst="rect">
            <a:avLst/>
          </a:prstGeom>
          <a:noFill/>
          <a:ln/>
        </p:spPr>
        <p:txBody>
          <a:bodyPr wrap="square" lIns="0" tIns="0" rIns="0" bIns="0" rtlCol="0" anchor="ctr"/>
          <a:lstStyle/>
          <a:p>
            <a:pPr indent="0" marL="0">
              <a:lnSpc>
                <a:spcPct val="106000"/>
              </a:lnSpc>
              <a:buNone/>
            </a:pPr>
            <a:r>
              <a:rPr lang="en-US" sz="1600" i="1" dirty="0">
                <a:solidFill>
                  <a:srgbClr val="4FD6C4"/>
                </a:solidFill>
                <a:latin typeface="Georgia" pitchFamily="34" charset="0"/>
                <a:ea typeface="Georgia" pitchFamily="34" charset="-122"/>
                <a:cs typeface="Georgia" pitchFamily="34" charset="-120"/>
              </a:rPr>
              <a:t>A dashboard that supplies its own inputs is worse than no dashboard, because it is confidently wrong.</a:t>
            </a:r>
            <a:endParaRPr lang="en-US" sz="1600" dirty="0"/>
          </a:p>
        </p:txBody>
      </p:sp>
      <p:sp>
        <p:nvSpPr>
          <p:cNvPr id="8" name="Shape 6"/>
          <p:cNvSpPr/>
          <p:nvPr/>
        </p:nvSpPr>
        <p:spPr>
          <a:xfrm>
            <a:off x="5715000" y="1591056"/>
            <a:ext cx="2926080" cy="2688336"/>
          </a:xfrm>
          <a:prstGeom prst="rect">
            <a:avLst/>
          </a:prstGeom>
          <a:solidFill>
            <a:srgbClr val="1A1F1C"/>
          </a:solidFill>
          <a:ln w="12700">
            <a:solidFill>
              <a:srgbClr val="2A322E"/>
            </a:solidFill>
            <a:prstDash val="solid"/>
          </a:ln>
        </p:spPr>
      </p:sp>
      <p:sp>
        <p:nvSpPr>
          <p:cNvPr id="9" name="Text 7"/>
          <p:cNvSpPr/>
          <p:nvPr/>
        </p:nvSpPr>
        <p:spPr>
          <a:xfrm>
            <a:off x="5989320" y="1810512"/>
            <a:ext cx="2651760" cy="219456"/>
          </a:xfrm>
          <a:prstGeom prst="rect">
            <a:avLst/>
          </a:prstGeom>
          <a:noFill/>
          <a:ln/>
        </p:spPr>
        <p:txBody>
          <a:bodyPr wrap="square" lIns="0" tIns="0" rIns="0" bIns="0" rtlCol="0" anchor="ctr"/>
          <a:lstStyle/>
          <a:p>
            <a:pPr indent="0" marL="0">
              <a:buNone/>
            </a:pPr>
            <a:r>
              <a:rPr lang="en-US" sz="1000" b="1" spc="200" kern="0" dirty="0">
                <a:solidFill>
                  <a:srgbClr val="C07A2C"/>
                </a:solidFill>
                <a:latin typeface="Calibri" pitchFamily="34" charset="0"/>
                <a:ea typeface="Calibri" pitchFamily="34" charset="-122"/>
                <a:cs typeface="Calibri" pitchFamily="34" charset="-120"/>
              </a:rPr>
              <a:t>NOW RETURNS N/A</a:t>
            </a:r>
            <a:endParaRPr lang="en-US" sz="1000" dirty="0"/>
          </a:p>
        </p:txBody>
      </p:sp>
      <p:sp>
        <p:nvSpPr>
          <p:cNvPr id="10" name="Text 8"/>
          <p:cNvSpPr/>
          <p:nvPr/>
        </p:nvSpPr>
        <p:spPr>
          <a:xfrm>
            <a:off x="5989320" y="2139696"/>
            <a:ext cx="2651760" cy="219456"/>
          </a:xfrm>
          <a:prstGeom prst="rect">
            <a:avLst/>
          </a:prstGeom>
          <a:noFill/>
          <a:ln/>
        </p:spPr>
        <p:txBody>
          <a:bodyPr wrap="square" lIns="0" tIns="0" rIns="0" bIns="0" rtlCol="0" anchor="ctr"/>
          <a:lstStyle/>
          <a:p>
            <a:pPr indent="0" marL="0">
              <a:buNone/>
            </a:pPr>
            <a:r>
              <a:rPr lang="en-US" sz="1250" b="1" dirty="0">
                <a:solidFill>
                  <a:srgbClr val="E9EFEA"/>
                </a:solidFill>
                <a:latin typeface="Calibri" pitchFamily="34" charset="0"/>
                <a:ea typeface="Calibri" pitchFamily="34" charset="-122"/>
                <a:cs typeface="Calibri" pitchFamily="34" charset="-120"/>
              </a:rPr>
              <a:t>Inventory accuracy</a:t>
            </a:r>
            <a:endParaRPr lang="en-US" sz="1250" dirty="0"/>
          </a:p>
        </p:txBody>
      </p:sp>
      <p:sp>
        <p:nvSpPr>
          <p:cNvPr id="11" name="Text 9"/>
          <p:cNvSpPr/>
          <p:nvPr/>
        </p:nvSpPr>
        <p:spPr>
          <a:xfrm>
            <a:off x="5989320" y="2350008"/>
            <a:ext cx="2651760" cy="201168"/>
          </a:xfrm>
          <a:prstGeom prst="rect">
            <a:avLst/>
          </a:prstGeom>
          <a:noFill/>
          <a:ln/>
        </p:spPr>
        <p:txBody>
          <a:bodyPr wrap="square" lIns="0" tIns="0" rIns="0" bIns="0" rtlCol="0" anchor="ctr"/>
          <a:lstStyle/>
          <a:p>
            <a:pPr indent="0" marL="0">
              <a:buNone/>
            </a:pPr>
            <a:r>
              <a:rPr lang="en-US" sz="1050" dirty="0">
                <a:solidFill>
                  <a:srgbClr val="A6B2AC"/>
                </a:solidFill>
                <a:latin typeface="Calibri" pitchFamily="34" charset="0"/>
                <a:ea typeface="Calibri" pitchFamily="34" charset="-122"/>
                <a:cs typeface="Calibri" pitchFamily="34" charset="-120"/>
              </a:rPr>
              <a:t>needs a cycle count</a:t>
            </a:r>
            <a:endParaRPr lang="en-US" sz="1050" dirty="0"/>
          </a:p>
        </p:txBody>
      </p:sp>
      <p:sp>
        <p:nvSpPr>
          <p:cNvPr id="12" name="Text 10"/>
          <p:cNvSpPr/>
          <p:nvPr/>
        </p:nvSpPr>
        <p:spPr>
          <a:xfrm>
            <a:off x="5989320" y="2633472"/>
            <a:ext cx="2651760" cy="219456"/>
          </a:xfrm>
          <a:prstGeom prst="rect">
            <a:avLst/>
          </a:prstGeom>
          <a:noFill/>
          <a:ln/>
        </p:spPr>
        <p:txBody>
          <a:bodyPr wrap="square" lIns="0" tIns="0" rIns="0" bIns="0" rtlCol="0" anchor="ctr"/>
          <a:lstStyle/>
          <a:p>
            <a:pPr indent="0" marL="0">
              <a:buNone/>
            </a:pPr>
            <a:r>
              <a:rPr lang="en-US" sz="1250" b="1" dirty="0">
                <a:solidFill>
                  <a:srgbClr val="E9EFEA"/>
                </a:solidFill>
                <a:latin typeface="Calibri" pitchFamily="34" charset="0"/>
                <a:ea typeface="Calibri" pitchFamily="34" charset="-122"/>
                <a:cs typeface="Calibri" pitchFamily="34" charset="-120"/>
              </a:rPr>
              <a:t>Picks per hour</a:t>
            </a:r>
            <a:endParaRPr lang="en-US" sz="1250" dirty="0"/>
          </a:p>
        </p:txBody>
      </p:sp>
      <p:sp>
        <p:nvSpPr>
          <p:cNvPr id="13" name="Text 11"/>
          <p:cNvSpPr/>
          <p:nvPr/>
        </p:nvSpPr>
        <p:spPr>
          <a:xfrm>
            <a:off x="5989320" y="2843784"/>
            <a:ext cx="2651760" cy="201168"/>
          </a:xfrm>
          <a:prstGeom prst="rect">
            <a:avLst/>
          </a:prstGeom>
          <a:noFill/>
          <a:ln/>
        </p:spPr>
        <p:txBody>
          <a:bodyPr wrap="square" lIns="0" tIns="0" rIns="0" bIns="0" rtlCol="0" anchor="ctr"/>
          <a:lstStyle/>
          <a:p>
            <a:pPr indent="0" marL="0">
              <a:buNone/>
            </a:pPr>
            <a:r>
              <a:rPr lang="en-US" sz="1050" dirty="0">
                <a:solidFill>
                  <a:srgbClr val="A6B2AC"/>
                </a:solidFill>
                <a:latin typeface="Calibri" pitchFamily="34" charset="0"/>
                <a:ea typeface="Calibri" pitchFamily="34" charset="-122"/>
                <a:cs typeface="Calibri" pitchFamily="34" charset="-120"/>
              </a:rPr>
              <a:t>needs a workforce file</a:t>
            </a:r>
            <a:endParaRPr lang="en-US" sz="1050" dirty="0"/>
          </a:p>
        </p:txBody>
      </p:sp>
      <p:sp>
        <p:nvSpPr>
          <p:cNvPr id="14" name="Text 12"/>
          <p:cNvSpPr/>
          <p:nvPr/>
        </p:nvSpPr>
        <p:spPr>
          <a:xfrm>
            <a:off x="5989320" y="3127248"/>
            <a:ext cx="2651760" cy="219456"/>
          </a:xfrm>
          <a:prstGeom prst="rect">
            <a:avLst/>
          </a:prstGeom>
          <a:noFill/>
          <a:ln/>
        </p:spPr>
        <p:txBody>
          <a:bodyPr wrap="square" lIns="0" tIns="0" rIns="0" bIns="0" rtlCol="0" anchor="ctr"/>
          <a:lstStyle/>
          <a:p>
            <a:pPr indent="0" marL="0">
              <a:buNone/>
            </a:pPr>
            <a:r>
              <a:rPr lang="en-US" sz="1250" b="1" dirty="0">
                <a:solidFill>
                  <a:srgbClr val="E9EFEA"/>
                </a:solidFill>
                <a:latin typeface="Calibri" pitchFamily="34" charset="0"/>
                <a:ea typeface="Calibri" pitchFamily="34" charset="-122"/>
                <a:cs typeface="Calibri" pitchFamily="34" charset="-120"/>
              </a:rPr>
              <a:t>Pick accuracy</a:t>
            </a:r>
            <a:endParaRPr lang="en-US" sz="1250" dirty="0"/>
          </a:p>
        </p:txBody>
      </p:sp>
      <p:sp>
        <p:nvSpPr>
          <p:cNvPr id="15" name="Text 13"/>
          <p:cNvSpPr/>
          <p:nvPr/>
        </p:nvSpPr>
        <p:spPr>
          <a:xfrm>
            <a:off x="5989320" y="3337560"/>
            <a:ext cx="2651760" cy="201168"/>
          </a:xfrm>
          <a:prstGeom prst="rect">
            <a:avLst/>
          </a:prstGeom>
          <a:noFill/>
          <a:ln/>
        </p:spPr>
        <p:txBody>
          <a:bodyPr wrap="square" lIns="0" tIns="0" rIns="0" bIns="0" rtlCol="0" anchor="ctr"/>
          <a:lstStyle/>
          <a:p>
            <a:pPr indent="0" marL="0">
              <a:buNone/>
            </a:pPr>
            <a:r>
              <a:rPr lang="en-US" sz="1050" dirty="0">
                <a:solidFill>
                  <a:srgbClr val="A6B2AC"/>
                </a:solidFill>
                <a:latin typeface="Calibri" pitchFamily="34" charset="0"/>
                <a:ea typeface="Calibri" pitchFamily="34" charset="-122"/>
                <a:cs typeface="Calibri" pitchFamily="34" charset="-120"/>
              </a:rPr>
              <a:t>needs a workforce file</a:t>
            </a:r>
            <a:endParaRPr lang="en-US" sz="1050" dirty="0"/>
          </a:p>
        </p:txBody>
      </p:sp>
      <p:sp>
        <p:nvSpPr>
          <p:cNvPr id="16" name="Text 14"/>
          <p:cNvSpPr/>
          <p:nvPr/>
        </p:nvSpPr>
        <p:spPr>
          <a:xfrm>
            <a:off x="5989320" y="3621024"/>
            <a:ext cx="2651760" cy="219456"/>
          </a:xfrm>
          <a:prstGeom prst="rect">
            <a:avLst/>
          </a:prstGeom>
          <a:noFill/>
          <a:ln/>
        </p:spPr>
        <p:txBody>
          <a:bodyPr wrap="square" lIns="0" tIns="0" rIns="0" bIns="0" rtlCol="0" anchor="ctr"/>
          <a:lstStyle/>
          <a:p>
            <a:pPr indent="0" marL="0">
              <a:buNone/>
            </a:pPr>
            <a:r>
              <a:rPr lang="en-US" sz="1250" b="1" dirty="0">
                <a:solidFill>
                  <a:srgbClr val="E9EFEA"/>
                </a:solidFill>
                <a:latin typeface="Calibri" pitchFamily="34" charset="0"/>
                <a:ea typeface="Calibri" pitchFamily="34" charset="-122"/>
                <a:cs typeface="Calibri" pitchFamily="34" charset="-120"/>
              </a:rPr>
              <a:t>Turnover</a:t>
            </a:r>
            <a:endParaRPr lang="en-US" sz="1250" dirty="0"/>
          </a:p>
        </p:txBody>
      </p:sp>
      <p:sp>
        <p:nvSpPr>
          <p:cNvPr id="17" name="Text 15"/>
          <p:cNvSpPr/>
          <p:nvPr/>
        </p:nvSpPr>
        <p:spPr>
          <a:xfrm>
            <a:off x="5989320" y="3831336"/>
            <a:ext cx="2651760" cy="201168"/>
          </a:xfrm>
          <a:prstGeom prst="rect">
            <a:avLst/>
          </a:prstGeom>
          <a:noFill/>
          <a:ln/>
        </p:spPr>
        <p:txBody>
          <a:bodyPr wrap="square" lIns="0" tIns="0" rIns="0" bIns="0" rtlCol="0" anchor="ctr"/>
          <a:lstStyle/>
          <a:p>
            <a:pPr indent="0" marL="0">
              <a:buNone/>
            </a:pPr>
            <a:r>
              <a:rPr lang="en-US" sz="1050" dirty="0">
                <a:solidFill>
                  <a:srgbClr val="A6B2AC"/>
                </a:solidFill>
                <a:latin typeface="Calibri" pitchFamily="34" charset="0"/>
                <a:ea typeface="Calibri" pitchFamily="34" charset="-122"/>
                <a:cs typeface="Calibri" pitchFamily="34" charset="-120"/>
              </a:rPr>
              <a:t>needs dispatch value</a:t>
            </a:r>
            <a:endParaRPr lang="en-US" sz="1050" dirty="0"/>
          </a:p>
        </p:txBody>
      </p:sp>
      <p:sp>
        <p:nvSpPr>
          <p:cNvPr id="19" name="Text 16"/>
          <p:cNvSpPr/>
          <p:nvPr/>
        </p:nvSpPr>
        <p:spPr>
          <a:xfrm>
            <a:off x="502920" y="4759452"/>
            <a:ext cx="2743200" cy="201168"/>
          </a:xfrm>
          <a:prstGeom prst="rect">
            <a:avLst/>
          </a:prstGeom>
          <a:noFill/>
          <a:ln/>
        </p:spPr>
        <p:txBody>
          <a:bodyPr wrap="square" lIns="0" tIns="0" rIns="0" bIns="0" rtlCol="0" anchor="ctr"/>
          <a:lstStyle/>
          <a:p>
            <a:pPr indent="0" marL="0">
              <a:buNone/>
            </a:pPr>
            <a:r>
              <a:rPr lang="en-US" sz="900" dirty="0">
                <a:solidFill>
                  <a:srgbClr val="A6B2AC"/>
                </a:solidFill>
                <a:latin typeface="Calibri" pitchFamily="34" charset="0"/>
                <a:ea typeface="Calibri" pitchFamily="34" charset="-122"/>
                <a:cs typeface="Calibri" pitchFamily="34" charset="-120"/>
              </a:rPr>
              <a:t>GovSpirit</a:t>
            </a:r>
            <a:endParaRPr lang="en-US" sz="900" dirty="0"/>
          </a:p>
        </p:txBody>
      </p:sp>
      <p:sp>
        <p:nvSpPr>
          <p:cNvPr id="20" name="Text 17"/>
          <p:cNvSpPr/>
          <p:nvPr/>
        </p:nvSpPr>
        <p:spPr>
          <a:xfrm>
            <a:off x="7726680" y="4759452"/>
            <a:ext cx="914400" cy="201168"/>
          </a:xfrm>
          <a:prstGeom prst="rect">
            <a:avLst/>
          </a:prstGeom>
          <a:noFill/>
          <a:ln/>
        </p:spPr>
        <p:txBody>
          <a:bodyPr wrap="square" lIns="0" tIns="0" rIns="0" bIns="0" rtlCol="0" anchor="ctr"/>
          <a:lstStyle/>
          <a:p>
            <a:pPr algn="r" indent="0" marL="0">
              <a:buNone/>
            </a:pPr>
            <a:r>
              <a:rPr lang="en-US" sz="900" dirty="0">
                <a:solidFill>
                  <a:srgbClr val="A6B2AC"/>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4F2"/>
        </a:solidFill>
      </p:bgPr>
    </p:bg>
    <p:spTree>
      <p:nvGrpSpPr>
        <p:cNvPr id="1" name=""/>
        <p:cNvGrpSpPr/>
        <p:nvPr/>
      </p:nvGrpSpPr>
      <p:grpSpPr>
        <a:xfrm>
          <a:off x="0" y="0"/>
          <a:ext cx="0" cy="0"/>
          <a:chOff x="0" y="0"/>
          <a:chExt cx="0" cy="0"/>
        </a:xfrm>
      </p:grpSpPr>
      <p:sp>
        <p:nvSpPr>
          <p:cNvPr id="2" name="Shape 0"/>
          <p:cNvSpPr/>
          <p:nvPr/>
        </p:nvSpPr>
        <p:spPr>
          <a:xfrm>
            <a:off x="502920" y="452628"/>
            <a:ext cx="91440" cy="91440"/>
          </a:xfrm>
          <a:prstGeom prst="rect">
            <a:avLst/>
          </a:prstGeom>
          <a:solidFill>
            <a:srgbClr val="C07A2C"/>
          </a:solidFill>
          <a:ln/>
        </p:spPr>
      </p:sp>
      <p:sp>
        <p:nvSpPr>
          <p:cNvPr id="3" name="Text 1"/>
          <p:cNvSpPr/>
          <p:nvPr/>
        </p:nvSpPr>
        <p:spPr>
          <a:xfrm>
            <a:off x="704088" y="402336"/>
            <a:ext cx="5486400" cy="219456"/>
          </a:xfrm>
          <a:prstGeom prst="rect">
            <a:avLst/>
          </a:prstGeom>
          <a:noFill/>
          <a:ln/>
        </p:spPr>
        <p:txBody>
          <a:bodyPr wrap="square" lIns="0" tIns="0" rIns="0" bIns="0" rtlCol="0" anchor="ctr"/>
          <a:lstStyle/>
          <a:p>
            <a:pPr indent="0" marL="0">
              <a:buNone/>
            </a:pPr>
            <a:r>
              <a:rPr lang="en-US" sz="1000" b="1" spc="240" kern="0" dirty="0">
                <a:solidFill>
                  <a:srgbClr val="5C6862"/>
                </a:solidFill>
                <a:latin typeface="Calibri" pitchFamily="34" charset="0"/>
                <a:ea typeface="Calibri" pitchFamily="34" charset="-122"/>
                <a:cs typeface="Calibri" pitchFamily="34" charset="-120"/>
              </a:rPr>
              <a:t>WHAT THE AUDIT FOUND</a:t>
            </a:r>
            <a:endParaRPr lang="en-US" sz="1000" dirty="0"/>
          </a:p>
        </p:txBody>
      </p:sp>
      <p:sp>
        <p:nvSpPr>
          <p:cNvPr id="4" name="Text 2"/>
          <p:cNvSpPr/>
          <p:nvPr/>
        </p:nvSpPr>
        <p:spPr>
          <a:xfrm>
            <a:off x="502920" y="786384"/>
            <a:ext cx="8138160" cy="713232"/>
          </a:xfrm>
          <a:prstGeom prst="rect">
            <a:avLst/>
          </a:prstGeom>
          <a:noFill/>
          <a:ln/>
        </p:spPr>
        <p:txBody>
          <a:bodyPr wrap="square" lIns="0" tIns="0" rIns="0" bIns="0" rtlCol="0" anchor="t"/>
          <a:lstStyle/>
          <a:p>
            <a:pPr indent="0" marL="0">
              <a:lnSpc>
                <a:spcPct val="94000"/>
              </a:lnSpc>
              <a:buNone/>
            </a:pPr>
            <a:r>
              <a:rPr lang="en-US" sz="3000" b="1" dirty="0">
                <a:solidFill>
                  <a:srgbClr val="121614"/>
                </a:solidFill>
                <a:latin typeface="Georgia" pitchFamily="34" charset="0"/>
                <a:ea typeface="Georgia" pitchFamily="34" charset="-122"/>
                <a:cs typeface="Georgia" pitchFamily="34" charset="-120"/>
              </a:rPr>
              <a:t>Six faults that changed the numbers</a:t>
            </a:r>
            <a:endParaRPr lang="en-US" sz="3000" dirty="0"/>
          </a:p>
        </p:txBody>
      </p:sp>
      <p:sp>
        <p:nvSpPr>
          <p:cNvPr id="5" name="Shape 3"/>
          <p:cNvSpPr/>
          <p:nvPr/>
        </p:nvSpPr>
        <p:spPr>
          <a:xfrm>
            <a:off x="502920" y="1572768"/>
            <a:ext cx="2615184" cy="1188720"/>
          </a:xfrm>
          <a:prstGeom prst="rect">
            <a:avLst/>
          </a:prstGeom>
          <a:solidFill>
            <a:srgbClr val="FFFFFF"/>
          </a:solidFill>
          <a:ln w="12700">
            <a:solidFill>
              <a:srgbClr val="DFE5E1"/>
            </a:solidFill>
            <a:prstDash val="solid"/>
          </a:ln>
        </p:spPr>
      </p:sp>
      <p:sp>
        <p:nvSpPr>
          <p:cNvPr id="6" name="Shape 4"/>
          <p:cNvSpPr/>
          <p:nvPr/>
        </p:nvSpPr>
        <p:spPr>
          <a:xfrm>
            <a:off x="502920" y="1572768"/>
            <a:ext cx="50292" cy="1188720"/>
          </a:xfrm>
          <a:prstGeom prst="rect">
            <a:avLst/>
          </a:prstGeom>
          <a:solidFill>
            <a:srgbClr val="BB2233"/>
          </a:solidFill>
          <a:ln w="12700">
            <a:solidFill>
              <a:srgbClr val="333333"/>
            </a:solidFill>
            <a:prstDash val="solid"/>
          </a:ln>
        </p:spPr>
      </p:sp>
      <p:sp>
        <p:nvSpPr>
          <p:cNvPr id="7" name="Text 5"/>
          <p:cNvSpPr/>
          <p:nvPr/>
        </p:nvSpPr>
        <p:spPr>
          <a:xfrm>
            <a:off x="740664" y="1755648"/>
            <a:ext cx="2157984" cy="274320"/>
          </a:xfrm>
          <a:prstGeom prst="rect">
            <a:avLst/>
          </a:prstGeom>
          <a:noFill/>
          <a:ln/>
        </p:spPr>
        <p:txBody>
          <a:bodyPr wrap="square" lIns="0" tIns="0" rIns="0" bIns="0" rtlCol="0" anchor="t"/>
          <a:lstStyle/>
          <a:p>
            <a:pPr indent="0" marL="0">
              <a:buNone/>
            </a:pPr>
            <a:r>
              <a:rPr lang="en-US" sz="1400" b="1" dirty="0">
                <a:solidFill>
                  <a:srgbClr val="121614"/>
                </a:solidFill>
                <a:latin typeface="Georgia" pitchFamily="34" charset="0"/>
                <a:ea typeface="Georgia" pitchFamily="34" charset="-122"/>
                <a:cs typeface="Georgia" pitchFamily="34" charset="-120"/>
              </a:rPr>
              <a:t>Dead route</a:t>
            </a:r>
            <a:endParaRPr lang="en-US" sz="1400" dirty="0"/>
          </a:p>
        </p:txBody>
      </p:sp>
      <p:sp>
        <p:nvSpPr>
          <p:cNvPr id="8" name="Text 6"/>
          <p:cNvSpPr/>
          <p:nvPr/>
        </p:nvSpPr>
        <p:spPr>
          <a:xfrm>
            <a:off x="740664" y="2066544"/>
            <a:ext cx="2157984" cy="548640"/>
          </a:xfrm>
          <a:prstGeom prst="rect">
            <a:avLst/>
          </a:prstGeom>
          <a:noFill/>
          <a:ln/>
        </p:spPr>
        <p:txBody>
          <a:bodyPr wrap="square" lIns="0" tIns="0" rIns="0" bIns="0" rtlCol="0" anchor="t"/>
          <a:lstStyle/>
          <a:p>
            <a:pPr indent="0" marL="0">
              <a:lnSpc>
                <a:spcPct val="102000"/>
              </a:lnSpc>
              <a:buNone/>
            </a:pPr>
            <a:r>
              <a:rPr lang="en-US" sz="1150" dirty="0">
                <a:solidFill>
                  <a:srgbClr val="47524D"/>
                </a:solidFill>
                <a:latin typeface="Calibri" pitchFamily="34" charset="0"/>
                <a:ea typeface="Calibri" pitchFamily="34" charset="-122"/>
                <a:cs typeface="Calibri" pitchFamily="34" charset="-120"/>
              </a:rPr>
              <a:t>navigate(‘upload’) pointed at a page that was never registered. Every "load data first" redirect was a dead end.</a:t>
            </a:r>
            <a:endParaRPr lang="en-US" sz="1150" dirty="0"/>
          </a:p>
        </p:txBody>
      </p:sp>
      <p:sp>
        <p:nvSpPr>
          <p:cNvPr id="9" name="Shape 7"/>
          <p:cNvSpPr/>
          <p:nvPr/>
        </p:nvSpPr>
        <p:spPr>
          <a:xfrm>
            <a:off x="3264408" y="1572768"/>
            <a:ext cx="2615184" cy="1188720"/>
          </a:xfrm>
          <a:prstGeom prst="rect">
            <a:avLst/>
          </a:prstGeom>
          <a:solidFill>
            <a:srgbClr val="FFFFFF"/>
          </a:solidFill>
          <a:ln w="12700">
            <a:solidFill>
              <a:srgbClr val="DFE5E1"/>
            </a:solidFill>
            <a:prstDash val="solid"/>
          </a:ln>
        </p:spPr>
      </p:sp>
      <p:sp>
        <p:nvSpPr>
          <p:cNvPr id="10" name="Shape 8"/>
          <p:cNvSpPr/>
          <p:nvPr/>
        </p:nvSpPr>
        <p:spPr>
          <a:xfrm>
            <a:off x="3264408" y="1572768"/>
            <a:ext cx="50292" cy="1188720"/>
          </a:xfrm>
          <a:prstGeom prst="rect">
            <a:avLst/>
          </a:prstGeom>
          <a:solidFill>
            <a:srgbClr val="BB2233"/>
          </a:solidFill>
          <a:ln w="12700">
            <a:solidFill>
              <a:srgbClr val="333333"/>
            </a:solidFill>
            <a:prstDash val="solid"/>
          </a:ln>
        </p:spPr>
      </p:sp>
      <p:sp>
        <p:nvSpPr>
          <p:cNvPr id="11" name="Text 9"/>
          <p:cNvSpPr/>
          <p:nvPr/>
        </p:nvSpPr>
        <p:spPr>
          <a:xfrm>
            <a:off x="3502152" y="1755648"/>
            <a:ext cx="2157984" cy="274320"/>
          </a:xfrm>
          <a:prstGeom prst="rect">
            <a:avLst/>
          </a:prstGeom>
          <a:noFill/>
          <a:ln/>
        </p:spPr>
        <p:txBody>
          <a:bodyPr wrap="square" lIns="0" tIns="0" rIns="0" bIns="0" rtlCol="0" anchor="t"/>
          <a:lstStyle/>
          <a:p>
            <a:pPr indent="0" marL="0">
              <a:buNone/>
            </a:pPr>
            <a:r>
              <a:rPr lang="en-US" sz="1400" b="1" dirty="0">
                <a:solidFill>
                  <a:srgbClr val="121614"/>
                </a:solidFill>
                <a:latin typeface="Georgia" pitchFamily="34" charset="0"/>
                <a:ea typeface="Georgia" pitchFamily="34" charset="-122"/>
                <a:cs typeface="Georgia" pitchFamily="34" charset="-120"/>
              </a:rPr>
              <a:t>Silent zeroing</a:t>
            </a:r>
            <a:endParaRPr lang="en-US" sz="1400" dirty="0"/>
          </a:p>
        </p:txBody>
      </p:sp>
      <p:sp>
        <p:nvSpPr>
          <p:cNvPr id="12" name="Text 10"/>
          <p:cNvSpPr/>
          <p:nvPr/>
        </p:nvSpPr>
        <p:spPr>
          <a:xfrm>
            <a:off x="3502152" y="2066544"/>
            <a:ext cx="2157984" cy="548640"/>
          </a:xfrm>
          <a:prstGeom prst="rect">
            <a:avLst/>
          </a:prstGeom>
          <a:noFill/>
          <a:ln/>
        </p:spPr>
        <p:txBody>
          <a:bodyPr wrap="square" lIns="0" tIns="0" rIns="0" bIns="0" rtlCol="0" anchor="t"/>
          <a:lstStyle/>
          <a:p>
            <a:pPr indent="0" marL="0">
              <a:lnSpc>
                <a:spcPct val="102000"/>
              </a:lnSpc>
              <a:buNone/>
            </a:pPr>
            <a:r>
              <a:rPr lang="en-US" sz="1150" dirty="0">
                <a:solidFill>
                  <a:srgbClr val="47524D"/>
                </a:solidFill>
                <a:latin typeface="Calibri" pitchFamily="34" charset="0"/>
                <a:ea typeface="Calibri" pitchFamily="34" charset="-122"/>
                <a:cs typeface="Calibri" pitchFamily="34" charset="-120"/>
              </a:rPr>
              <a:t>Import wrote price_per_bottle, the transformer read unit_price. Every unit price became zero, and the valuation with it.</a:t>
            </a:r>
            <a:endParaRPr lang="en-US" sz="1150" dirty="0"/>
          </a:p>
        </p:txBody>
      </p:sp>
      <p:sp>
        <p:nvSpPr>
          <p:cNvPr id="13" name="Shape 11"/>
          <p:cNvSpPr/>
          <p:nvPr/>
        </p:nvSpPr>
        <p:spPr>
          <a:xfrm>
            <a:off x="6025896" y="1572768"/>
            <a:ext cx="2615184" cy="1188720"/>
          </a:xfrm>
          <a:prstGeom prst="rect">
            <a:avLst/>
          </a:prstGeom>
          <a:solidFill>
            <a:srgbClr val="FFFFFF"/>
          </a:solidFill>
          <a:ln w="12700">
            <a:solidFill>
              <a:srgbClr val="DFE5E1"/>
            </a:solidFill>
            <a:prstDash val="solid"/>
          </a:ln>
        </p:spPr>
      </p:sp>
      <p:sp>
        <p:nvSpPr>
          <p:cNvPr id="14" name="Shape 12"/>
          <p:cNvSpPr/>
          <p:nvPr/>
        </p:nvSpPr>
        <p:spPr>
          <a:xfrm>
            <a:off x="6025896" y="1572768"/>
            <a:ext cx="50292" cy="1188720"/>
          </a:xfrm>
          <a:prstGeom prst="rect">
            <a:avLst/>
          </a:prstGeom>
          <a:solidFill>
            <a:srgbClr val="BB2233"/>
          </a:solidFill>
          <a:ln w="12700">
            <a:solidFill>
              <a:srgbClr val="333333"/>
            </a:solidFill>
            <a:prstDash val="solid"/>
          </a:ln>
        </p:spPr>
      </p:sp>
      <p:sp>
        <p:nvSpPr>
          <p:cNvPr id="15" name="Text 13"/>
          <p:cNvSpPr/>
          <p:nvPr/>
        </p:nvSpPr>
        <p:spPr>
          <a:xfrm>
            <a:off x="6263640" y="1755648"/>
            <a:ext cx="2157984" cy="274320"/>
          </a:xfrm>
          <a:prstGeom prst="rect">
            <a:avLst/>
          </a:prstGeom>
          <a:noFill/>
          <a:ln/>
        </p:spPr>
        <p:txBody>
          <a:bodyPr wrap="square" lIns="0" tIns="0" rIns="0" bIns="0" rtlCol="0" anchor="t"/>
          <a:lstStyle/>
          <a:p>
            <a:pPr indent="0" marL="0">
              <a:buNone/>
            </a:pPr>
            <a:r>
              <a:rPr lang="en-US" sz="1400" b="1" dirty="0">
                <a:solidFill>
                  <a:srgbClr val="121614"/>
                </a:solidFill>
                <a:latin typeface="Georgia" pitchFamily="34" charset="0"/>
                <a:ea typeface="Georgia" pitchFamily="34" charset="-122"/>
                <a:cs typeface="Georgia" pitchFamily="34" charset="-120"/>
              </a:rPr>
              <a:t>One day out</a:t>
            </a:r>
            <a:endParaRPr lang="en-US" sz="1400" dirty="0"/>
          </a:p>
        </p:txBody>
      </p:sp>
      <p:sp>
        <p:nvSpPr>
          <p:cNvPr id="16" name="Text 14"/>
          <p:cNvSpPr/>
          <p:nvPr/>
        </p:nvSpPr>
        <p:spPr>
          <a:xfrm>
            <a:off x="6263640" y="2066544"/>
            <a:ext cx="2157984" cy="548640"/>
          </a:xfrm>
          <a:prstGeom prst="rect">
            <a:avLst/>
          </a:prstGeom>
          <a:noFill/>
          <a:ln/>
        </p:spPr>
        <p:txBody>
          <a:bodyPr wrap="square" lIns="0" tIns="0" rIns="0" bIns="0" rtlCol="0" anchor="t"/>
          <a:lstStyle/>
          <a:p>
            <a:pPr indent="0" marL="0">
              <a:lnSpc>
                <a:spcPct val="102000"/>
              </a:lnSpc>
              <a:buNone/>
            </a:pPr>
            <a:r>
              <a:rPr lang="en-US" sz="1150" dirty="0">
                <a:solidFill>
                  <a:srgbClr val="47524D"/>
                </a:solidFill>
                <a:latin typeface="Calibri" pitchFamily="34" charset="0"/>
                <a:ea typeface="Calibri" pitchFamily="34" charset="-122"/>
                <a:cs typeface="Calibri" pitchFamily="34" charset="-120"/>
              </a:rPr>
              <a:t>Day keys used toISOString, shifting every record east of UTC by a day. That is the entire target audience.</a:t>
            </a:r>
            <a:endParaRPr lang="en-US" sz="1150" dirty="0"/>
          </a:p>
        </p:txBody>
      </p:sp>
      <p:sp>
        <p:nvSpPr>
          <p:cNvPr id="17" name="Shape 15"/>
          <p:cNvSpPr/>
          <p:nvPr/>
        </p:nvSpPr>
        <p:spPr>
          <a:xfrm>
            <a:off x="502920" y="2907792"/>
            <a:ext cx="2615184" cy="1188720"/>
          </a:xfrm>
          <a:prstGeom prst="rect">
            <a:avLst/>
          </a:prstGeom>
          <a:solidFill>
            <a:srgbClr val="FFFFFF"/>
          </a:solidFill>
          <a:ln w="12700">
            <a:solidFill>
              <a:srgbClr val="DFE5E1"/>
            </a:solidFill>
            <a:prstDash val="solid"/>
          </a:ln>
        </p:spPr>
      </p:sp>
      <p:sp>
        <p:nvSpPr>
          <p:cNvPr id="18" name="Shape 16"/>
          <p:cNvSpPr/>
          <p:nvPr/>
        </p:nvSpPr>
        <p:spPr>
          <a:xfrm>
            <a:off x="502920" y="2907792"/>
            <a:ext cx="50292" cy="1188720"/>
          </a:xfrm>
          <a:prstGeom prst="rect">
            <a:avLst/>
          </a:prstGeom>
          <a:solidFill>
            <a:srgbClr val="BB2233"/>
          </a:solidFill>
          <a:ln w="12700">
            <a:solidFill>
              <a:srgbClr val="333333"/>
            </a:solidFill>
            <a:prstDash val="solid"/>
          </a:ln>
        </p:spPr>
      </p:sp>
      <p:sp>
        <p:nvSpPr>
          <p:cNvPr id="19" name="Text 17"/>
          <p:cNvSpPr/>
          <p:nvPr/>
        </p:nvSpPr>
        <p:spPr>
          <a:xfrm>
            <a:off x="740664" y="3090672"/>
            <a:ext cx="2157984" cy="274320"/>
          </a:xfrm>
          <a:prstGeom prst="rect">
            <a:avLst/>
          </a:prstGeom>
          <a:noFill/>
          <a:ln/>
        </p:spPr>
        <p:txBody>
          <a:bodyPr wrap="square" lIns="0" tIns="0" rIns="0" bIns="0" rtlCol="0" anchor="t"/>
          <a:lstStyle/>
          <a:p>
            <a:pPr indent="0" marL="0">
              <a:buNone/>
            </a:pPr>
            <a:r>
              <a:rPr lang="en-US" sz="1400" b="1" dirty="0">
                <a:solidFill>
                  <a:srgbClr val="121614"/>
                </a:solidFill>
                <a:latin typeface="Georgia" pitchFamily="34" charset="0"/>
                <a:ea typeface="Georgia" pitchFamily="34" charset="-122"/>
                <a:cs typeface="Georgia" pitchFamily="34" charset="-120"/>
              </a:rPr>
              <a:t>One month out</a:t>
            </a:r>
            <a:endParaRPr lang="en-US" sz="1400" dirty="0"/>
          </a:p>
        </p:txBody>
      </p:sp>
      <p:sp>
        <p:nvSpPr>
          <p:cNvPr id="20" name="Text 18"/>
          <p:cNvSpPr/>
          <p:nvPr/>
        </p:nvSpPr>
        <p:spPr>
          <a:xfrm>
            <a:off x="740664" y="3401568"/>
            <a:ext cx="2157984" cy="548640"/>
          </a:xfrm>
          <a:prstGeom prst="rect">
            <a:avLst/>
          </a:prstGeom>
          <a:noFill/>
          <a:ln/>
        </p:spPr>
        <p:txBody>
          <a:bodyPr wrap="square" lIns="0" tIns="0" rIns="0" bIns="0" rtlCol="0" anchor="t"/>
          <a:lstStyle/>
          <a:p>
            <a:pPr indent="0" marL="0">
              <a:lnSpc>
                <a:spcPct val="102000"/>
              </a:lnSpc>
              <a:buNone/>
            </a:pPr>
            <a:r>
              <a:rPr lang="en-US" sz="1150" dirty="0">
                <a:solidFill>
                  <a:srgbClr val="47524D"/>
                </a:solidFill>
                <a:latin typeface="Calibri" pitchFamily="34" charset="0"/>
                <a:ea typeface="Calibri" pitchFamily="34" charset="-122"/>
                <a:cs typeface="Calibri" pitchFamily="34" charset="-120"/>
              </a:rPr>
              <a:t>Slash dates parsed month-first, so 01/02/2026 became 2 January instead of 1 February.</a:t>
            </a:r>
            <a:endParaRPr lang="en-US" sz="1150" dirty="0"/>
          </a:p>
        </p:txBody>
      </p:sp>
      <p:sp>
        <p:nvSpPr>
          <p:cNvPr id="21" name="Shape 19"/>
          <p:cNvSpPr/>
          <p:nvPr/>
        </p:nvSpPr>
        <p:spPr>
          <a:xfrm>
            <a:off x="3264408" y="2907792"/>
            <a:ext cx="2615184" cy="1188720"/>
          </a:xfrm>
          <a:prstGeom prst="rect">
            <a:avLst/>
          </a:prstGeom>
          <a:solidFill>
            <a:srgbClr val="FFFFFF"/>
          </a:solidFill>
          <a:ln w="12700">
            <a:solidFill>
              <a:srgbClr val="DFE5E1"/>
            </a:solidFill>
            <a:prstDash val="solid"/>
          </a:ln>
        </p:spPr>
      </p:sp>
      <p:sp>
        <p:nvSpPr>
          <p:cNvPr id="22" name="Shape 20"/>
          <p:cNvSpPr/>
          <p:nvPr/>
        </p:nvSpPr>
        <p:spPr>
          <a:xfrm>
            <a:off x="3264408" y="2907792"/>
            <a:ext cx="50292" cy="1188720"/>
          </a:xfrm>
          <a:prstGeom prst="rect">
            <a:avLst/>
          </a:prstGeom>
          <a:solidFill>
            <a:srgbClr val="BB2233"/>
          </a:solidFill>
          <a:ln w="12700">
            <a:solidFill>
              <a:srgbClr val="333333"/>
            </a:solidFill>
            <a:prstDash val="solid"/>
          </a:ln>
        </p:spPr>
      </p:sp>
      <p:sp>
        <p:nvSpPr>
          <p:cNvPr id="23" name="Text 21"/>
          <p:cNvSpPr/>
          <p:nvPr/>
        </p:nvSpPr>
        <p:spPr>
          <a:xfrm>
            <a:off x="3502152" y="3090672"/>
            <a:ext cx="2157984" cy="274320"/>
          </a:xfrm>
          <a:prstGeom prst="rect">
            <a:avLst/>
          </a:prstGeom>
          <a:noFill/>
          <a:ln/>
        </p:spPr>
        <p:txBody>
          <a:bodyPr wrap="square" lIns="0" tIns="0" rIns="0" bIns="0" rtlCol="0" anchor="t"/>
          <a:lstStyle/>
          <a:p>
            <a:pPr indent="0" marL="0">
              <a:buNone/>
            </a:pPr>
            <a:r>
              <a:rPr lang="en-US" sz="1400" b="1" dirty="0">
                <a:solidFill>
                  <a:srgbClr val="121614"/>
                </a:solidFill>
                <a:latin typeface="Georgia" pitchFamily="34" charset="0"/>
                <a:ea typeface="Georgia" pitchFamily="34" charset="-122"/>
                <a:cs typeface="Georgia" pitchFamily="34" charset="-120"/>
              </a:rPr>
              <a:t>Corrupted rows</a:t>
            </a:r>
            <a:endParaRPr lang="en-US" sz="1400" dirty="0"/>
          </a:p>
        </p:txBody>
      </p:sp>
      <p:sp>
        <p:nvSpPr>
          <p:cNvPr id="24" name="Text 22"/>
          <p:cNvSpPr/>
          <p:nvPr/>
        </p:nvSpPr>
        <p:spPr>
          <a:xfrm>
            <a:off x="3502152" y="3401568"/>
            <a:ext cx="2157984" cy="548640"/>
          </a:xfrm>
          <a:prstGeom prst="rect">
            <a:avLst/>
          </a:prstGeom>
          <a:noFill/>
          <a:ln/>
        </p:spPr>
        <p:txBody>
          <a:bodyPr wrap="square" lIns="0" tIns="0" rIns="0" bIns="0" rtlCol="0" anchor="t"/>
          <a:lstStyle/>
          <a:p>
            <a:pPr indent="0" marL="0">
              <a:lnSpc>
                <a:spcPct val="102000"/>
              </a:lnSpc>
              <a:buNone/>
            </a:pPr>
            <a:r>
              <a:rPr lang="en-US" sz="1150" dirty="0">
                <a:solidFill>
                  <a:srgbClr val="47524D"/>
                </a:solidFill>
                <a:latin typeface="Calibri" pitchFamily="34" charset="0"/>
                <a:ea typeface="Calibri" pitchFamily="34" charset="-122"/>
                <a:cs typeface="Calibri" pitchFamily="34" charset="-120"/>
              </a:rPr>
              <a:t>CSV parsing was split by comma, breaking any quoted comma, quoted newline or CRLF file.</a:t>
            </a:r>
            <a:endParaRPr lang="en-US" sz="1150" dirty="0"/>
          </a:p>
        </p:txBody>
      </p:sp>
      <p:sp>
        <p:nvSpPr>
          <p:cNvPr id="25" name="Shape 23"/>
          <p:cNvSpPr/>
          <p:nvPr/>
        </p:nvSpPr>
        <p:spPr>
          <a:xfrm>
            <a:off x="6025896" y="2907792"/>
            <a:ext cx="2615184" cy="1188720"/>
          </a:xfrm>
          <a:prstGeom prst="rect">
            <a:avLst/>
          </a:prstGeom>
          <a:solidFill>
            <a:srgbClr val="FFFFFF"/>
          </a:solidFill>
          <a:ln w="12700">
            <a:solidFill>
              <a:srgbClr val="DFE5E1"/>
            </a:solidFill>
            <a:prstDash val="solid"/>
          </a:ln>
        </p:spPr>
      </p:sp>
      <p:sp>
        <p:nvSpPr>
          <p:cNvPr id="26" name="Shape 24"/>
          <p:cNvSpPr/>
          <p:nvPr/>
        </p:nvSpPr>
        <p:spPr>
          <a:xfrm>
            <a:off x="6025896" y="2907792"/>
            <a:ext cx="50292" cy="1188720"/>
          </a:xfrm>
          <a:prstGeom prst="rect">
            <a:avLst/>
          </a:prstGeom>
          <a:solidFill>
            <a:srgbClr val="BB2233"/>
          </a:solidFill>
          <a:ln w="12700">
            <a:solidFill>
              <a:srgbClr val="333333"/>
            </a:solidFill>
            <a:prstDash val="solid"/>
          </a:ln>
        </p:spPr>
      </p:sp>
      <p:sp>
        <p:nvSpPr>
          <p:cNvPr id="27" name="Text 25"/>
          <p:cNvSpPr/>
          <p:nvPr/>
        </p:nvSpPr>
        <p:spPr>
          <a:xfrm>
            <a:off x="6263640" y="3090672"/>
            <a:ext cx="2157984" cy="274320"/>
          </a:xfrm>
          <a:prstGeom prst="rect">
            <a:avLst/>
          </a:prstGeom>
          <a:noFill/>
          <a:ln/>
        </p:spPr>
        <p:txBody>
          <a:bodyPr wrap="square" lIns="0" tIns="0" rIns="0" bIns="0" rtlCol="0" anchor="t"/>
          <a:lstStyle/>
          <a:p>
            <a:pPr indent="0" marL="0">
              <a:buNone/>
            </a:pPr>
            <a:r>
              <a:rPr lang="en-US" sz="1400" b="1" dirty="0">
                <a:solidFill>
                  <a:srgbClr val="121614"/>
                </a:solidFill>
                <a:latin typeface="Georgia" pitchFamily="34" charset="0"/>
                <a:ea typeface="Georgia" pitchFamily="34" charset="-122"/>
                <a:cs typeface="Georgia" pitchFamily="34" charset="-120"/>
              </a:rPr>
              <a:t>Invisible CSS</a:t>
            </a:r>
            <a:endParaRPr lang="en-US" sz="1400" dirty="0"/>
          </a:p>
        </p:txBody>
      </p:sp>
      <p:sp>
        <p:nvSpPr>
          <p:cNvPr id="28" name="Text 26"/>
          <p:cNvSpPr/>
          <p:nvPr/>
        </p:nvSpPr>
        <p:spPr>
          <a:xfrm>
            <a:off x="6263640" y="3401568"/>
            <a:ext cx="2157984" cy="548640"/>
          </a:xfrm>
          <a:prstGeom prst="rect">
            <a:avLst/>
          </a:prstGeom>
          <a:noFill/>
          <a:ln/>
        </p:spPr>
        <p:txBody>
          <a:bodyPr wrap="square" lIns="0" tIns="0" rIns="0" bIns="0" rtlCol="0" anchor="t"/>
          <a:lstStyle/>
          <a:p>
            <a:pPr indent="0" marL="0">
              <a:lnSpc>
                <a:spcPct val="102000"/>
              </a:lnSpc>
              <a:buNone/>
            </a:pPr>
            <a:r>
              <a:rPr lang="en-US" sz="1150" dirty="0">
                <a:solidFill>
                  <a:srgbClr val="47524D"/>
                </a:solidFill>
                <a:latin typeface="Calibri" pitchFamily="34" charset="0"/>
                <a:ea typeface="Calibri" pitchFamily="34" charset="-122"/>
                <a:cs typeface="Calibri" pitchFamily="34" charset="-120"/>
              </a:rPr>
              <a:t>Eight declarations used an invalid alpha syntax and were dropped, leaving the active nav item with no background.</a:t>
            </a:r>
            <a:endParaRPr lang="en-US" sz="1150" dirty="0"/>
          </a:p>
        </p:txBody>
      </p:sp>
      <p:sp>
        <p:nvSpPr>
          <p:cNvPr id="29" name="Text 27"/>
          <p:cNvSpPr/>
          <p:nvPr/>
        </p:nvSpPr>
        <p:spPr>
          <a:xfrm>
            <a:off x="502920" y="4133088"/>
            <a:ext cx="8138160" cy="329184"/>
          </a:xfrm>
          <a:prstGeom prst="rect">
            <a:avLst/>
          </a:prstGeom>
          <a:noFill/>
          <a:ln/>
        </p:spPr>
        <p:txBody>
          <a:bodyPr wrap="square" lIns="0" tIns="0" rIns="0" bIns="0" rtlCol="0" anchor="ctr"/>
          <a:lstStyle/>
          <a:p>
            <a:pPr indent="0" marL="0">
              <a:buNone/>
            </a:pPr>
            <a:r>
              <a:rPr lang="en-US" sz="1350" i="1" dirty="0">
                <a:solidFill>
                  <a:srgbClr val="47524D"/>
                </a:solidFill>
                <a:latin typeface="Georgia" pitchFamily="34" charset="0"/>
                <a:ea typeface="Georgia" pitchFamily="34" charset="-122"/>
                <a:cs typeface="Georgia" pitchFamily="34" charset="-120"/>
              </a:rPr>
              <a:t>Each one produced plausible output. None produced correct output.</a:t>
            </a:r>
            <a:endParaRPr lang="en-US" sz="1350" dirty="0"/>
          </a:p>
        </p:txBody>
      </p:sp>
      <p:sp>
        <p:nvSpPr>
          <p:cNvPr id="31" name="Text 28"/>
          <p:cNvSpPr/>
          <p:nvPr/>
        </p:nvSpPr>
        <p:spPr>
          <a:xfrm>
            <a:off x="502920" y="4759452"/>
            <a:ext cx="2743200" cy="201168"/>
          </a:xfrm>
          <a:prstGeom prst="rect">
            <a:avLst/>
          </a:prstGeom>
          <a:noFill/>
          <a:ln/>
        </p:spPr>
        <p:txBody>
          <a:bodyPr wrap="square" lIns="0" tIns="0" rIns="0" bIns="0" rtlCol="0" anchor="ctr"/>
          <a:lstStyle/>
          <a:p>
            <a:pPr indent="0" marL="0">
              <a:buNone/>
            </a:pPr>
            <a:r>
              <a:rPr lang="en-US" sz="900" dirty="0">
                <a:solidFill>
                  <a:srgbClr val="5C6862"/>
                </a:solidFill>
                <a:latin typeface="Calibri" pitchFamily="34" charset="0"/>
                <a:ea typeface="Calibri" pitchFamily="34" charset="-122"/>
                <a:cs typeface="Calibri" pitchFamily="34" charset="-120"/>
              </a:rPr>
              <a:t>GovSpirit</a:t>
            </a:r>
            <a:endParaRPr lang="en-US" sz="900" dirty="0"/>
          </a:p>
        </p:txBody>
      </p:sp>
      <p:sp>
        <p:nvSpPr>
          <p:cNvPr id="32" name="Text 29"/>
          <p:cNvSpPr/>
          <p:nvPr/>
        </p:nvSpPr>
        <p:spPr>
          <a:xfrm>
            <a:off x="7726680" y="4759452"/>
            <a:ext cx="914400" cy="201168"/>
          </a:xfrm>
          <a:prstGeom prst="rect">
            <a:avLst/>
          </a:prstGeom>
          <a:noFill/>
          <a:ln/>
        </p:spPr>
        <p:txBody>
          <a:bodyPr wrap="square" lIns="0" tIns="0" rIns="0" bIns="0" rtlCol="0" anchor="ctr"/>
          <a:lstStyle/>
          <a:p>
            <a:pPr algn="r" indent="0" marL="0">
              <a:buNone/>
            </a:pPr>
            <a:r>
              <a:rPr lang="en-US" sz="900" dirty="0">
                <a:solidFill>
                  <a:srgbClr val="5C6862"/>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4F2"/>
        </a:solidFill>
      </p:bgPr>
    </p:bg>
    <p:spTree>
      <p:nvGrpSpPr>
        <p:cNvPr id="1" name=""/>
        <p:cNvGrpSpPr/>
        <p:nvPr/>
      </p:nvGrpSpPr>
      <p:grpSpPr>
        <a:xfrm>
          <a:off x="0" y="0"/>
          <a:ext cx="0" cy="0"/>
          <a:chOff x="0" y="0"/>
          <a:chExt cx="0" cy="0"/>
        </a:xfrm>
      </p:grpSpPr>
      <p:sp>
        <p:nvSpPr>
          <p:cNvPr id="2" name="Shape 0"/>
          <p:cNvSpPr/>
          <p:nvPr/>
        </p:nvSpPr>
        <p:spPr>
          <a:xfrm>
            <a:off x="502920" y="452628"/>
            <a:ext cx="91440" cy="91440"/>
          </a:xfrm>
          <a:prstGeom prst="rect">
            <a:avLst/>
          </a:prstGeom>
          <a:solidFill>
            <a:srgbClr val="C07A2C"/>
          </a:solidFill>
          <a:ln/>
        </p:spPr>
      </p:sp>
      <p:sp>
        <p:nvSpPr>
          <p:cNvPr id="3" name="Text 1"/>
          <p:cNvSpPr/>
          <p:nvPr/>
        </p:nvSpPr>
        <p:spPr>
          <a:xfrm>
            <a:off x="704088" y="402336"/>
            <a:ext cx="5486400" cy="219456"/>
          </a:xfrm>
          <a:prstGeom prst="rect">
            <a:avLst/>
          </a:prstGeom>
          <a:noFill/>
          <a:ln/>
        </p:spPr>
        <p:txBody>
          <a:bodyPr wrap="square" lIns="0" tIns="0" rIns="0" bIns="0" rtlCol="0" anchor="ctr"/>
          <a:lstStyle/>
          <a:p>
            <a:pPr indent="0" marL="0">
              <a:buNone/>
            </a:pPr>
            <a:r>
              <a:rPr lang="en-US" sz="1000" b="1" spc="240" kern="0" dirty="0">
                <a:solidFill>
                  <a:srgbClr val="5C6862"/>
                </a:solidFill>
                <a:latin typeface="Calibri" pitchFamily="34" charset="0"/>
                <a:ea typeface="Calibri" pitchFamily="34" charset="-122"/>
                <a:cs typeface="Calibri" pitchFamily="34" charset="-120"/>
              </a:rPr>
              <a:t>VERIFICATION</a:t>
            </a:r>
            <a:endParaRPr lang="en-US" sz="1000" dirty="0"/>
          </a:p>
        </p:txBody>
      </p:sp>
      <p:sp>
        <p:nvSpPr>
          <p:cNvPr id="4" name="Text 2"/>
          <p:cNvSpPr/>
          <p:nvPr/>
        </p:nvSpPr>
        <p:spPr>
          <a:xfrm>
            <a:off x="502920" y="786384"/>
            <a:ext cx="8138160" cy="713232"/>
          </a:xfrm>
          <a:prstGeom prst="rect">
            <a:avLst/>
          </a:prstGeom>
          <a:noFill/>
          <a:ln/>
        </p:spPr>
        <p:txBody>
          <a:bodyPr wrap="square" lIns="0" tIns="0" rIns="0" bIns="0" rtlCol="0" anchor="t"/>
          <a:lstStyle/>
          <a:p>
            <a:pPr indent="0" marL="0">
              <a:lnSpc>
                <a:spcPct val="94000"/>
              </a:lnSpc>
              <a:buNone/>
            </a:pPr>
            <a:r>
              <a:rPr lang="en-US" sz="3000" b="1" dirty="0">
                <a:solidFill>
                  <a:srgbClr val="121614"/>
                </a:solidFill>
                <a:latin typeface="Georgia" pitchFamily="34" charset="0"/>
                <a:ea typeface="Georgia" pitchFamily="34" charset="-122"/>
                <a:cs typeface="Georgia" pitchFamily="34" charset="-120"/>
              </a:rPr>
              <a:t>Checks that fail the build</a:t>
            </a:r>
            <a:endParaRPr lang="en-US" sz="3000" dirty="0"/>
          </a:p>
        </p:txBody>
      </p:sp>
      <p:sp>
        <p:nvSpPr>
          <p:cNvPr id="5" name="Shape 3"/>
          <p:cNvSpPr/>
          <p:nvPr/>
        </p:nvSpPr>
        <p:spPr>
          <a:xfrm>
            <a:off x="502920" y="1572768"/>
            <a:ext cx="2602992" cy="1572768"/>
          </a:xfrm>
          <a:prstGeom prst="rect">
            <a:avLst/>
          </a:prstGeom>
          <a:solidFill>
            <a:srgbClr val="FFFFFF"/>
          </a:solidFill>
          <a:ln w="12700">
            <a:solidFill>
              <a:srgbClr val="DFE5E1"/>
            </a:solidFill>
            <a:prstDash val="solid"/>
          </a:ln>
        </p:spPr>
      </p:sp>
      <p:sp>
        <p:nvSpPr>
          <p:cNvPr id="6" name="Shape 4"/>
          <p:cNvSpPr/>
          <p:nvPr/>
        </p:nvSpPr>
        <p:spPr>
          <a:xfrm>
            <a:off x="502920" y="1572768"/>
            <a:ext cx="50292" cy="1572768"/>
          </a:xfrm>
          <a:prstGeom prst="rect">
            <a:avLst/>
          </a:prstGeom>
          <a:solidFill>
            <a:srgbClr val="0F6F62"/>
          </a:solidFill>
          <a:ln w="12700">
            <a:solidFill>
              <a:srgbClr val="333333"/>
            </a:solidFill>
            <a:prstDash val="solid"/>
          </a:ln>
        </p:spPr>
      </p:sp>
      <p:sp>
        <p:nvSpPr>
          <p:cNvPr id="7" name="Text 5"/>
          <p:cNvSpPr/>
          <p:nvPr/>
        </p:nvSpPr>
        <p:spPr>
          <a:xfrm>
            <a:off x="740664" y="1755648"/>
            <a:ext cx="2145792" cy="274320"/>
          </a:xfrm>
          <a:prstGeom prst="rect">
            <a:avLst/>
          </a:prstGeom>
          <a:noFill/>
          <a:ln/>
        </p:spPr>
        <p:txBody>
          <a:bodyPr wrap="square" lIns="0" tIns="0" rIns="0" bIns="0" rtlCol="0" anchor="t"/>
          <a:lstStyle/>
          <a:p>
            <a:pPr indent="0" marL="0">
              <a:buNone/>
            </a:pPr>
            <a:r>
              <a:rPr lang="en-US" sz="1400" b="1" dirty="0">
                <a:solidFill>
                  <a:srgbClr val="121614"/>
                </a:solidFill>
                <a:latin typeface="Georgia" pitchFamily="34" charset="0"/>
                <a:ea typeface="Georgia" pitchFamily="34" charset="-122"/>
                <a:cs typeface="Georgia" pitchFamily="34" charset="-120"/>
              </a:rPr>
              <a:t>Contrast</a:t>
            </a:r>
            <a:endParaRPr lang="en-US" sz="1400" dirty="0"/>
          </a:p>
        </p:txBody>
      </p:sp>
      <p:sp>
        <p:nvSpPr>
          <p:cNvPr id="8" name="Text 6"/>
          <p:cNvSpPr/>
          <p:nvPr/>
        </p:nvSpPr>
        <p:spPr>
          <a:xfrm>
            <a:off x="740664" y="2066544"/>
            <a:ext cx="2145792" cy="932688"/>
          </a:xfrm>
          <a:prstGeom prst="rect">
            <a:avLst/>
          </a:prstGeom>
          <a:noFill/>
          <a:ln/>
        </p:spPr>
        <p:txBody>
          <a:bodyPr wrap="square" lIns="0" tIns="0" rIns="0" bIns="0" rtlCol="0" anchor="t"/>
          <a:lstStyle/>
          <a:p>
            <a:pPr indent="0" marL="0">
              <a:lnSpc>
                <a:spcPct val="102000"/>
              </a:lnSpc>
              <a:buNone/>
            </a:pPr>
            <a:r>
              <a:rPr lang="en-US" sz="1150" dirty="0">
                <a:solidFill>
                  <a:srgbClr val="47524D"/>
                </a:solidFill>
                <a:latin typeface="Calibri" pitchFamily="34" charset="0"/>
                <a:ea typeface="Calibri" pitchFamily="34" charset="-122"/>
                <a:cs typeface="Calibri" pitchFamily="34" charset="-120"/>
              </a:rPr>
              <a:t>Recomputes all 16 colour pairings from the stylesheet using the WCAG formula. Four documented ratios were wrong the first time it ran.</a:t>
            </a:r>
            <a:endParaRPr lang="en-US" sz="1150" dirty="0"/>
          </a:p>
        </p:txBody>
      </p:sp>
      <p:sp>
        <p:nvSpPr>
          <p:cNvPr id="9" name="Shape 7"/>
          <p:cNvSpPr/>
          <p:nvPr/>
        </p:nvSpPr>
        <p:spPr>
          <a:xfrm>
            <a:off x="3270504" y="1572768"/>
            <a:ext cx="2602992" cy="1572768"/>
          </a:xfrm>
          <a:prstGeom prst="rect">
            <a:avLst/>
          </a:prstGeom>
          <a:solidFill>
            <a:srgbClr val="FFFFFF"/>
          </a:solidFill>
          <a:ln w="12700">
            <a:solidFill>
              <a:srgbClr val="DFE5E1"/>
            </a:solidFill>
            <a:prstDash val="solid"/>
          </a:ln>
        </p:spPr>
      </p:sp>
      <p:sp>
        <p:nvSpPr>
          <p:cNvPr id="10" name="Shape 8"/>
          <p:cNvSpPr/>
          <p:nvPr/>
        </p:nvSpPr>
        <p:spPr>
          <a:xfrm>
            <a:off x="3270504" y="1572768"/>
            <a:ext cx="50292" cy="1572768"/>
          </a:xfrm>
          <a:prstGeom prst="rect">
            <a:avLst/>
          </a:prstGeom>
          <a:solidFill>
            <a:srgbClr val="0F6F62"/>
          </a:solidFill>
          <a:ln w="12700">
            <a:solidFill>
              <a:srgbClr val="333333"/>
            </a:solidFill>
            <a:prstDash val="solid"/>
          </a:ln>
        </p:spPr>
      </p:sp>
      <p:sp>
        <p:nvSpPr>
          <p:cNvPr id="11" name="Text 9"/>
          <p:cNvSpPr/>
          <p:nvPr/>
        </p:nvSpPr>
        <p:spPr>
          <a:xfrm>
            <a:off x="3508248" y="1755648"/>
            <a:ext cx="2145792" cy="274320"/>
          </a:xfrm>
          <a:prstGeom prst="rect">
            <a:avLst/>
          </a:prstGeom>
          <a:noFill/>
          <a:ln/>
        </p:spPr>
        <p:txBody>
          <a:bodyPr wrap="square" lIns="0" tIns="0" rIns="0" bIns="0" rtlCol="0" anchor="t"/>
          <a:lstStyle/>
          <a:p>
            <a:pPr indent="0" marL="0">
              <a:buNone/>
            </a:pPr>
            <a:r>
              <a:rPr lang="en-US" sz="1400" b="1" dirty="0">
                <a:solidFill>
                  <a:srgbClr val="121614"/>
                </a:solidFill>
                <a:latin typeface="Georgia" pitchFamily="34" charset="0"/>
                <a:ea typeface="Georgia" pitchFamily="34" charset="-122"/>
                <a:cs typeface="Georgia" pitchFamily="34" charset="-120"/>
              </a:rPr>
              <a:t>Stylesheet coverage</a:t>
            </a:r>
            <a:endParaRPr lang="en-US" sz="1400" dirty="0"/>
          </a:p>
        </p:txBody>
      </p:sp>
      <p:sp>
        <p:nvSpPr>
          <p:cNvPr id="12" name="Text 10"/>
          <p:cNvSpPr/>
          <p:nvPr/>
        </p:nvSpPr>
        <p:spPr>
          <a:xfrm>
            <a:off x="3508248" y="2066544"/>
            <a:ext cx="2145792" cy="932688"/>
          </a:xfrm>
          <a:prstGeom prst="rect">
            <a:avLst/>
          </a:prstGeom>
          <a:noFill/>
          <a:ln/>
        </p:spPr>
        <p:txBody>
          <a:bodyPr wrap="square" lIns="0" tIns="0" rIns="0" bIns="0" rtlCol="0" anchor="t"/>
          <a:lstStyle/>
          <a:p>
            <a:pPr indent="0" marL="0">
              <a:lnSpc>
                <a:spcPct val="102000"/>
              </a:lnSpc>
              <a:buNone/>
            </a:pPr>
            <a:r>
              <a:rPr lang="en-US" sz="1150" dirty="0">
                <a:solidFill>
                  <a:srgbClr val="47524D"/>
                </a:solidFill>
                <a:latin typeface="Calibri" pitchFamily="34" charset="0"/>
                <a:ea typeface="Calibri" pitchFamily="34" charset="-122"/>
                <a:cs typeface="Calibri" pitchFamily="34" charset="-120"/>
              </a:rPr>
              <a:t>Asserts every class in the markup has a rule. Found 146 orphans, including a tab strip rendering as plain text.</a:t>
            </a:r>
            <a:endParaRPr lang="en-US" sz="1150" dirty="0"/>
          </a:p>
        </p:txBody>
      </p:sp>
      <p:sp>
        <p:nvSpPr>
          <p:cNvPr id="13" name="Shape 11"/>
          <p:cNvSpPr/>
          <p:nvPr/>
        </p:nvSpPr>
        <p:spPr>
          <a:xfrm>
            <a:off x="6038088" y="1572768"/>
            <a:ext cx="2602992" cy="1572768"/>
          </a:xfrm>
          <a:prstGeom prst="rect">
            <a:avLst/>
          </a:prstGeom>
          <a:solidFill>
            <a:srgbClr val="FFFFFF"/>
          </a:solidFill>
          <a:ln w="12700">
            <a:solidFill>
              <a:srgbClr val="DFE5E1"/>
            </a:solidFill>
            <a:prstDash val="solid"/>
          </a:ln>
        </p:spPr>
      </p:sp>
      <p:sp>
        <p:nvSpPr>
          <p:cNvPr id="14" name="Shape 12"/>
          <p:cNvSpPr/>
          <p:nvPr/>
        </p:nvSpPr>
        <p:spPr>
          <a:xfrm>
            <a:off x="6038088" y="1572768"/>
            <a:ext cx="50292" cy="1572768"/>
          </a:xfrm>
          <a:prstGeom prst="rect">
            <a:avLst/>
          </a:prstGeom>
          <a:solidFill>
            <a:srgbClr val="0F6F62"/>
          </a:solidFill>
          <a:ln w="12700">
            <a:solidFill>
              <a:srgbClr val="333333"/>
            </a:solidFill>
            <a:prstDash val="solid"/>
          </a:ln>
        </p:spPr>
      </p:sp>
      <p:sp>
        <p:nvSpPr>
          <p:cNvPr id="15" name="Text 13"/>
          <p:cNvSpPr/>
          <p:nvPr/>
        </p:nvSpPr>
        <p:spPr>
          <a:xfrm>
            <a:off x="6275832" y="1755648"/>
            <a:ext cx="2145792" cy="274320"/>
          </a:xfrm>
          <a:prstGeom prst="rect">
            <a:avLst/>
          </a:prstGeom>
          <a:noFill/>
          <a:ln/>
        </p:spPr>
        <p:txBody>
          <a:bodyPr wrap="square" lIns="0" tIns="0" rIns="0" bIns="0" rtlCol="0" anchor="t"/>
          <a:lstStyle/>
          <a:p>
            <a:pPr indent="0" marL="0">
              <a:buNone/>
            </a:pPr>
            <a:r>
              <a:rPr lang="en-US" sz="1400" b="1" dirty="0">
                <a:solidFill>
                  <a:srgbClr val="121614"/>
                </a:solidFill>
                <a:latin typeface="Georgia" pitchFamily="34" charset="0"/>
                <a:ea typeface="Georgia" pitchFamily="34" charset="-122"/>
                <a:cs typeface="Georgia" pitchFamily="34" charset="-120"/>
              </a:rPr>
              <a:t>Browser smoke test</a:t>
            </a:r>
            <a:endParaRPr lang="en-US" sz="1400" dirty="0"/>
          </a:p>
        </p:txBody>
      </p:sp>
      <p:sp>
        <p:nvSpPr>
          <p:cNvPr id="16" name="Text 14"/>
          <p:cNvSpPr/>
          <p:nvPr/>
        </p:nvSpPr>
        <p:spPr>
          <a:xfrm>
            <a:off x="6275832" y="2066544"/>
            <a:ext cx="2145792" cy="932688"/>
          </a:xfrm>
          <a:prstGeom prst="rect">
            <a:avLst/>
          </a:prstGeom>
          <a:noFill/>
          <a:ln/>
        </p:spPr>
        <p:txBody>
          <a:bodyPr wrap="square" lIns="0" tIns="0" rIns="0" bIns="0" rtlCol="0" anchor="t"/>
          <a:lstStyle/>
          <a:p>
            <a:pPr indent="0" marL="0">
              <a:lnSpc>
                <a:spcPct val="102000"/>
              </a:lnSpc>
              <a:buNone/>
            </a:pPr>
            <a:r>
              <a:rPr lang="en-US" sz="1150" dirty="0">
                <a:solidFill>
                  <a:srgbClr val="47524D"/>
                </a:solidFill>
                <a:latin typeface="Calibri" pitchFamily="34" charset="0"/>
                <a:ea typeface="Calibri" pitchFamily="34" charset="-122"/>
                <a:cs typeface="Calibri" pitchFamily="34" charset="-120"/>
              </a:rPr>
              <a:t>Loads the app in headless Chromium, walks all 11 views at three widths, fails on console errors, overflow or unsized charts.</a:t>
            </a:r>
            <a:endParaRPr lang="en-US" sz="1150" dirty="0"/>
          </a:p>
        </p:txBody>
      </p:sp>
      <p:sp>
        <p:nvSpPr>
          <p:cNvPr id="17" name="Text 15"/>
          <p:cNvSpPr/>
          <p:nvPr/>
        </p:nvSpPr>
        <p:spPr>
          <a:xfrm>
            <a:off x="502920" y="3419856"/>
            <a:ext cx="1920240" cy="475488"/>
          </a:xfrm>
          <a:prstGeom prst="rect">
            <a:avLst/>
          </a:prstGeom>
          <a:noFill/>
          <a:ln/>
        </p:spPr>
        <p:txBody>
          <a:bodyPr wrap="square" lIns="0" tIns="0" rIns="0" bIns="0" rtlCol="0" anchor="ctr"/>
          <a:lstStyle/>
          <a:p>
            <a:pPr indent="0" marL="0">
              <a:buNone/>
            </a:pPr>
            <a:r>
              <a:rPr lang="en-US" sz="3000" b="1" dirty="0">
                <a:solidFill>
                  <a:srgbClr val="1F7A4D"/>
                </a:solidFill>
                <a:latin typeface="Georgia" pitchFamily="34" charset="0"/>
                <a:ea typeface="Georgia" pitchFamily="34" charset="-122"/>
                <a:cs typeface="Georgia" pitchFamily="34" charset="-120"/>
              </a:rPr>
              <a:t>4.82:1</a:t>
            </a:r>
            <a:endParaRPr lang="en-US" sz="3000" dirty="0"/>
          </a:p>
        </p:txBody>
      </p:sp>
      <p:sp>
        <p:nvSpPr>
          <p:cNvPr id="18" name="Text 16"/>
          <p:cNvSpPr/>
          <p:nvPr/>
        </p:nvSpPr>
        <p:spPr>
          <a:xfrm>
            <a:off x="502920" y="3895344"/>
            <a:ext cx="1920240" cy="457200"/>
          </a:xfrm>
          <a:prstGeom prst="rect">
            <a:avLst/>
          </a:prstGeom>
          <a:noFill/>
          <a:ln/>
        </p:spPr>
        <p:txBody>
          <a:bodyPr wrap="square" lIns="0" tIns="0" rIns="0" bIns="0" rtlCol="0" anchor="t"/>
          <a:lstStyle/>
          <a:p>
            <a:pPr indent="0" marL="0">
              <a:lnSpc>
                <a:spcPct val="92000"/>
              </a:lnSpc>
              <a:buNone/>
            </a:pPr>
            <a:r>
              <a:rPr lang="en-US" sz="1100" dirty="0">
                <a:solidFill>
                  <a:srgbClr val="5C6862"/>
                </a:solidFill>
                <a:latin typeface="Calibri" pitchFamily="34" charset="0"/>
                <a:ea typeface="Calibri" pitchFamily="34" charset="-122"/>
                <a:cs typeface="Calibri" pitchFamily="34" charset="-120"/>
              </a:rPr>
              <a:t>Lowest contrast ratio</a:t>
            </a:r>
            <a:endParaRPr lang="en-US" sz="1100" dirty="0"/>
          </a:p>
          <a:p>
            <a:pPr indent="0" marL="0">
              <a:lnSpc>
                <a:spcPct val="92000"/>
              </a:lnSpc>
              <a:buNone/>
            </a:pPr>
            <a:r>
              <a:rPr lang="en-US" sz="1100" dirty="0">
                <a:solidFill>
                  <a:srgbClr val="5C6862"/>
                </a:solidFill>
                <a:latin typeface="Calibri" pitchFamily="34" charset="0"/>
                <a:ea typeface="Calibri" pitchFamily="34" charset="-122"/>
                <a:cs typeface="Calibri" pitchFamily="34" charset="-120"/>
              </a:rPr>
              <a:t>against a 4.5:1 requirement</a:t>
            </a:r>
            <a:endParaRPr lang="en-US" sz="1100" dirty="0"/>
          </a:p>
        </p:txBody>
      </p:sp>
      <p:sp>
        <p:nvSpPr>
          <p:cNvPr id="19" name="Text 17"/>
          <p:cNvSpPr/>
          <p:nvPr/>
        </p:nvSpPr>
        <p:spPr>
          <a:xfrm>
            <a:off x="2606040" y="3419856"/>
            <a:ext cx="1920240" cy="475488"/>
          </a:xfrm>
          <a:prstGeom prst="rect">
            <a:avLst/>
          </a:prstGeom>
          <a:noFill/>
          <a:ln/>
        </p:spPr>
        <p:txBody>
          <a:bodyPr wrap="square" lIns="0" tIns="0" rIns="0" bIns="0" rtlCol="0" anchor="ctr"/>
          <a:lstStyle/>
          <a:p>
            <a:pPr indent="0" marL="0">
              <a:buNone/>
            </a:pPr>
            <a:r>
              <a:rPr lang="en-US" sz="3000" b="1" dirty="0">
                <a:solidFill>
                  <a:srgbClr val="0A6B60"/>
                </a:solidFill>
                <a:latin typeface="Georgia" pitchFamily="34" charset="0"/>
                <a:ea typeface="Georgia" pitchFamily="34" charset="-122"/>
                <a:cs typeface="Georgia" pitchFamily="34" charset="-120"/>
              </a:rPr>
              <a:t>236</a:t>
            </a:r>
            <a:endParaRPr lang="en-US" sz="3000" dirty="0"/>
          </a:p>
        </p:txBody>
      </p:sp>
      <p:sp>
        <p:nvSpPr>
          <p:cNvPr id="20" name="Text 18"/>
          <p:cNvSpPr/>
          <p:nvPr/>
        </p:nvSpPr>
        <p:spPr>
          <a:xfrm>
            <a:off x="2606040" y="3895344"/>
            <a:ext cx="1920240" cy="457200"/>
          </a:xfrm>
          <a:prstGeom prst="rect">
            <a:avLst/>
          </a:prstGeom>
          <a:noFill/>
          <a:ln/>
        </p:spPr>
        <p:txBody>
          <a:bodyPr wrap="square" lIns="0" tIns="0" rIns="0" bIns="0" rtlCol="0" anchor="t"/>
          <a:lstStyle/>
          <a:p>
            <a:pPr indent="0" marL="0">
              <a:lnSpc>
                <a:spcPct val="92000"/>
              </a:lnSpc>
              <a:buNone/>
            </a:pPr>
            <a:r>
              <a:rPr lang="en-US" sz="1100" dirty="0">
                <a:solidFill>
                  <a:srgbClr val="5C6862"/>
                </a:solidFill>
                <a:latin typeface="Calibri" pitchFamily="34" charset="0"/>
                <a:ea typeface="Calibri" pitchFamily="34" charset="-122"/>
                <a:cs typeface="Calibri" pitchFamily="34" charset="-120"/>
              </a:rPr>
              <a:t>Classes, all of them</a:t>
            </a:r>
            <a:endParaRPr lang="en-US" sz="1100" dirty="0"/>
          </a:p>
          <a:p>
            <a:pPr indent="0" marL="0">
              <a:lnSpc>
                <a:spcPct val="92000"/>
              </a:lnSpc>
              <a:buNone/>
            </a:pPr>
            <a:r>
              <a:rPr lang="en-US" sz="1100" dirty="0">
                <a:solidFill>
                  <a:srgbClr val="5C6862"/>
                </a:solidFill>
                <a:latin typeface="Calibri" pitchFamily="34" charset="0"/>
                <a:ea typeface="Calibri" pitchFamily="34" charset="-122"/>
                <a:cs typeface="Calibri" pitchFamily="34" charset="-120"/>
              </a:rPr>
              <a:t>defined in CSS</a:t>
            </a:r>
            <a:endParaRPr lang="en-US" sz="1100" dirty="0"/>
          </a:p>
        </p:txBody>
      </p:sp>
      <p:sp>
        <p:nvSpPr>
          <p:cNvPr id="21" name="Text 19"/>
          <p:cNvSpPr/>
          <p:nvPr/>
        </p:nvSpPr>
        <p:spPr>
          <a:xfrm>
            <a:off x="4709160" y="3419856"/>
            <a:ext cx="1920240" cy="475488"/>
          </a:xfrm>
          <a:prstGeom prst="rect">
            <a:avLst/>
          </a:prstGeom>
          <a:noFill/>
          <a:ln/>
        </p:spPr>
        <p:txBody>
          <a:bodyPr wrap="square" lIns="0" tIns="0" rIns="0" bIns="0" rtlCol="0" anchor="ctr"/>
          <a:lstStyle/>
          <a:p>
            <a:pPr indent="0" marL="0">
              <a:buNone/>
            </a:pPr>
            <a:r>
              <a:rPr lang="en-US" sz="3000" b="1" dirty="0">
                <a:solidFill>
                  <a:srgbClr val="0A6B60"/>
                </a:solidFill>
                <a:latin typeface="Georgia" pitchFamily="34" charset="0"/>
                <a:ea typeface="Georgia" pitchFamily="34" charset="-122"/>
                <a:cs typeface="Georgia" pitchFamily="34" charset="-120"/>
              </a:rPr>
              <a:t>11 x 3</a:t>
            </a:r>
            <a:endParaRPr lang="en-US" sz="3000" dirty="0"/>
          </a:p>
        </p:txBody>
      </p:sp>
      <p:sp>
        <p:nvSpPr>
          <p:cNvPr id="22" name="Text 20"/>
          <p:cNvSpPr/>
          <p:nvPr/>
        </p:nvSpPr>
        <p:spPr>
          <a:xfrm>
            <a:off x="4709160" y="3895344"/>
            <a:ext cx="1920240" cy="457200"/>
          </a:xfrm>
          <a:prstGeom prst="rect">
            <a:avLst/>
          </a:prstGeom>
          <a:noFill/>
          <a:ln/>
        </p:spPr>
        <p:txBody>
          <a:bodyPr wrap="square" lIns="0" tIns="0" rIns="0" bIns="0" rtlCol="0" anchor="t"/>
          <a:lstStyle/>
          <a:p>
            <a:pPr indent="0" marL="0">
              <a:lnSpc>
                <a:spcPct val="92000"/>
              </a:lnSpc>
              <a:buNone/>
            </a:pPr>
            <a:r>
              <a:rPr lang="en-US" sz="1100" dirty="0">
                <a:solidFill>
                  <a:srgbClr val="5C6862"/>
                </a:solidFill>
                <a:latin typeface="Calibri" pitchFamily="34" charset="0"/>
                <a:ea typeface="Calibri" pitchFamily="34" charset="-122"/>
                <a:cs typeface="Calibri" pitchFamily="34" charset="-120"/>
              </a:rPr>
              <a:t>Views by widths, walked</a:t>
            </a:r>
            <a:endParaRPr lang="en-US" sz="1100" dirty="0"/>
          </a:p>
          <a:p>
            <a:pPr indent="0" marL="0">
              <a:lnSpc>
                <a:spcPct val="92000"/>
              </a:lnSpc>
              <a:buNone/>
            </a:pPr>
            <a:r>
              <a:rPr lang="en-US" sz="1100" dirty="0">
                <a:solidFill>
                  <a:srgbClr val="5C6862"/>
                </a:solidFill>
                <a:latin typeface="Calibri" pitchFamily="34" charset="0"/>
                <a:ea typeface="Calibri" pitchFamily="34" charset="-122"/>
                <a:cs typeface="Calibri" pitchFamily="34" charset="-120"/>
              </a:rPr>
              <a:t>on every push</a:t>
            </a:r>
            <a:endParaRPr lang="en-US" sz="1100" dirty="0"/>
          </a:p>
        </p:txBody>
      </p:sp>
      <p:sp>
        <p:nvSpPr>
          <p:cNvPr id="23" name="Text 21"/>
          <p:cNvSpPr/>
          <p:nvPr/>
        </p:nvSpPr>
        <p:spPr>
          <a:xfrm>
            <a:off x="6812280" y="3419856"/>
            <a:ext cx="1828800" cy="475488"/>
          </a:xfrm>
          <a:prstGeom prst="rect">
            <a:avLst/>
          </a:prstGeom>
          <a:noFill/>
          <a:ln/>
        </p:spPr>
        <p:txBody>
          <a:bodyPr wrap="square" lIns="0" tIns="0" rIns="0" bIns="0" rtlCol="0" anchor="ctr"/>
          <a:lstStyle/>
          <a:p>
            <a:pPr indent="0" marL="0">
              <a:buNone/>
            </a:pPr>
            <a:r>
              <a:rPr lang="en-US" sz="3000" b="1" dirty="0">
                <a:solidFill>
                  <a:srgbClr val="C07A2C"/>
                </a:solidFill>
                <a:latin typeface="Georgia" pitchFamily="34" charset="0"/>
                <a:ea typeface="Georgia" pitchFamily="34" charset="-122"/>
                <a:cs typeface="Georgia" pitchFamily="34" charset="-120"/>
              </a:rPr>
              <a:t>0</a:t>
            </a:r>
            <a:endParaRPr lang="en-US" sz="3000" dirty="0"/>
          </a:p>
        </p:txBody>
      </p:sp>
      <p:sp>
        <p:nvSpPr>
          <p:cNvPr id="24" name="Text 22"/>
          <p:cNvSpPr/>
          <p:nvPr/>
        </p:nvSpPr>
        <p:spPr>
          <a:xfrm>
            <a:off x="6812280" y="3895344"/>
            <a:ext cx="1828800" cy="457200"/>
          </a:xfrm>
          <a:prstGeom prst="rect">
            <a:avLst/>
          </a:prstGeom>
          <a:noFill/>
          <a:ln/>
        </p:spPr>
        <p:txBody>
          <a:bodyPr wrap="square" lIns="0" tIns="0" rIns="0" bIns="0" rtlCol="0" anchor="t"/>
          <a:lstStyle/>
          <a:p>
            <a:pPr indent="0" marL="0">
              <a:lnSpc>
                <a:spcPct val="92000"/>
              </a:lnSpc>
              <a:buNone/>
            </a:pPr>
            <a:r>
              <a:rPr lang="en-US" sz="1100" dirty="0">
                <a:solidFill>
                  <a:srgbClr val="5C6862"/>
                </a:solidFill>
                <a:latin typeface="Calibri" pitchFamily="34" charset="0"/>
                <a:ea typeface="Calibri" pitchFamily="34" charset="-122"/>
                <a:cs typeface="Calibri" pitchFamily="34" charset="-120"/>
              </a:rPr>
              <a:t>Console errors</a:t>
            </a:r>
            <a:endParaRPr lang="en-US" sz="1100" dirty="0"/>
          </a:p>
          <a:p>
            <a:pPr indent="0" marL="0">
              <a:lnSpc>
                <a:spcPct val="92000"/>
              </a:lnSpc>
              <a:buNone/>
            </a:pPr>
            <a:r>
              <a:rPr lang="en-US" sz="1100" dirty="0">
                <a:solidFill>
                  <a:srgbClr val="5C6862"/>
                </a:solidFill>
                <a:latin typeface="Calibri" pitchFamily="34" charset="0"/>
                <a:ea typeface="Calibri" pitchFamily="34" charset="-122"/>
                <a:cs typeface="Calibri" pitchFamily="34" charset="-120"/>
              </a:rPr>
              <a:t>across the walk</a:t>
            </a:r>
            <a:endParaRPr lang="en-US" sz="1100" dirty="0"/>
          </a:p>
        </p:txBody>
      </p:sp>
      <p:sp>
        <p:nvSpPr>
          <p:cNvPr id="26" name="Text 23"/>
          <p:cNvSpPr/>
          <p:nvPr/>
        </p:nvSpPr>
        <p:spPr>
          <a:xfrm>
            <a:off x="502920" y="4759452"/>
            <a:ext cx="2743200" cy="201168"/>
          </a:xfrm>
          <a:prstGeom prst="rect">
            <a:avLst/>
          </a:prstGeom>
          <a:noFill/>
          <a:ln/>
        </p:spPr>
        <p:txBody>
          <a:bodyPr wrap="square" lIns="0" tIns="0" rIns="0" bIns="0" rtlCol="0" anchor="ctr"/>
          <a:lstStyle/>
          <a:p>
            <a:pPr indent="0" marL="0">
              <a:buNone/>
            </a:pPr>
            <a:r>
              <a:rPr lang="en-US" sz="900" dirty="0">
                <a:solidFill>
                  <a:srgbClr val="5C6862"/>
                </a:solidFill>
                <a:latin typeface="Calibri" pitchFamily="34" charset="0"/>
                <a:ea typeface="Calibri" pitchFamily="34" charset="-122"/>
                <a:cs typeface="Calibri" pitchFamily="34" charset="-120"/>
              </a:rPr>
              <a:t>GovSpirit</a:t>
            </a:r>
            <a:endParaRPr lang="en-US" sz="900" dirty="0"/>
          </a:p>
        </p:txBody>
      </p:sp>
      <p:sp>
        <p:nvSpPr>
          <p:cNvPr id="27" name="Text 24"/>
          <p:cNvSpPr/>
          <p:nvPr/>
        </p:nvSpPr>
        <p:spPr>
          <a:xfrm>
            <a:off x="7726680" y="4759452"/>
            <a:ext cx="914400" cy="201168"/>
          </a:xfrm>
          <a:prstGeom prst="rect">
            <a:avLst/>
          </a:prstGeom>
          <a:noFill/>
          <a:ln/>
        </p:spPr>
        <p:txBody>
          <a:bodyPr wrap="square" lIns="0" tIns="0" rIns="0" bIns="0" rtlCol="0" anchor="ctr"/>
          <a:lstStyle/>
          <a:p>
            <a:pPr algn="r" indent="0" marL="0">
              <a:buNone/>
            </a:pPr>
            <a:r>
              <a:rPr lang="en-US" sz="900" dirty="0">
                <a:solidFill>
                  <a:srgbClr val="5C6862"/>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4F2"/>
        </a:solidFill>
      </p:bgPr>
    </p:bg>
    <p:spTree>
      <p:nvGrpSpPr>
        <p:cNvPr id="1" name=""/>
        <p:cNvGrpSpPr/>
        <p:nvPr/>
      </p:nvGrpSpPr>
      <p:grpSpPr>
        <a:xfrm>
          <a:off x="0" y="0"/>
          <a:ext cx="0" cy="0"/>
          <a:chOff x="0" y="0"/>
          <a:chExt cx="0" cy="0"/>
        </a:xfrm>
      </p:grpSpPr>
      <p:sp>
        <p:nvSpPr>
          <p:cNvPr id="2" name="Shape 0"/>
          <p:cNvSpPr/>
          <p:nvPr/>
        </p:nvSpPr>
        <p:spPr>
          <a:xfrm>
            <a:off x="502920" y="452628"/>
            <a:ext cx="91440" cy="91440"/>
          </a:xfrm>
          <a:prstGeom prst="rect">
            <a:avLst/>
          </a:prstGeom>
          <a:solidFill>
            <a:srgbClr val="C07A2C"/>
          </a:solidFill>
          <a:ln/>
        </p:spPr>
      </p:sp>
      <p:sp>
        <p:nvSpPr>
          <p:cNvPr id="3" name="Text 1"/>
          <p:cNvSpPr/>
          <p:nvPr/>
        </p:nvSpPr>
        <p:spPr>
          <a:xfrm>
            <a:off x="704088" y="402336"/>
            <a:ext cx="5486400" cy="219456"/>
          </a:xfrm>
          <a:prstGeom prst="rect">
            <a:avLst/>
          </a:prstGeom>
          <a:noFill/>
          <a:ln/>
        </p:spPr>
        <p:txBody>
          <a:bodyPr wrap="square" lIns="0" tIns="0" rIns="0" bIns="0" rtlCol="0" anchor="ctr"/>
          <a:lstStyle/>
          <a:p>
            <a:pPr indent="0" marL="0">
              <a:buNone/>
            </a:pPr>
            <a:r>
              <a:rPr lang="en-US" sz="1000" b="1" spc="240" kern="0" dirty="0">
                <a:solidFill>
                  <a:srgbClr val="5C6862"/>
                </a:solidFill>
                <a:latin typeface="Calibri" pitchFamily="34" charset="0"/>
                <a:ea typeface="Calibri" pitchFamily="34" charset="-122"/>
                <a:cs typeface="Calibri" pitchFamily="34" charset="-120"/>
              </a:rPr>
              <a:t>ACCESSIBILITY</a:t>
            </a:r>
            <a:endParaRPr lang="en-US" sz="1000" dirty="0"/>
          </a:p>
        </p:txBody>
      </p:sp>
      <p:sp>
        <p:nvSpPr>
          <p:cNvPr id="4" name="Text 2"/>
          <p:cNvSpPr/>
          <p:nvPr/>
        </p:nvSpPr>
        <p:spPr>
          <a:xfrm>
            <a:off x="502920" y="786384"/>
            <a:ext cx="8138160" cy="713232"/>
          </a:xfrm>
          <a:prstGeom prst="rect">
            <a:avLst/>
          </a:prstGeom>
          <a:noFill/>
          <a:ln/>
        </p:spPr>
        <p:txBody>
          <a:bodyPr wrap="square" lIns="0" tIns="0" rIns="0" bIns="0" rtlCol="0" anchor="t"/>
          <a:lstStyle/>
          <a:p>
            <a:pPr indent="0" marL="0">
              <a:lnSpc>
                <a:spcPct val="94000"/>
              </a:lnSpc>
              <a:buNone/>
            </a:pPr>
            <a:r>
              <a:rPr lang="en-US" sz="3000" b="1" dirty="0">
                <a:solidFill>
                  <a:srgbClr val="121614"/>
                </a:solidFill>
                <a:latin typeface="Georgia" pitchFamily="34" charset="0"/>
                <a:ea typeface="Georgia" pitchFamily="34" charset="-122"/>
                <a:cs typeface="Georgia" pitchFamily="34" charset="-120"/>
              </a:rPr>
              <a:t>Built to WCAG 2.2 Level AA</a:t>
            </a:r>
            <a:endParaRPr lang="en-US" sz="3000" dirty="0"/>
          </a:p>
        </p:txBody>
      </p:sp>
      <p:sp>
        <p:nvSpPr>
          <p:cNvPr id="5" name="Shape 3"/>
          <p:cNvSpPr/>
          <p:nvPr/>
        </p:nvSpPr>
        <p:spPr>
          <a:xfrm>
            <a:off x="502920" y="1645920"/>
            <a:ext cx="82296" cy="82296"/>
          </a:xfrm>
          <a:prstGeom prst="rect">
            <a:avLst/>
          </a:prstGeom>
          <a:solidFill>
            <a:srgbClr val="0F6F62"/>
          </a:solidFill>
          <a:ln w="12700">
            <a:solidFill>
              <a:srgbClr val="333333"/>
            </a:solidFill>
            <a:prstDash val="solid"/>
          </a:ln>
        </p:spPr>
      </p:sp>
      <p:sp>
        <p:nvSpPr>
          <p:cNvPr id="6" name="Text 4"/>
          <p:cNvSpPr/>
          <p:nvPr/>
        </p:nvSpPr>
        <p:spPr>
          <a:xfrm>
            <a:off x="704088" y="1591056"/>
            <a:ext cx="3639312" cy="219456"/>
          </a:xfrm>
          <a:prstGeom prst="rect">
            <a:avLst/>
          </a:prstGeom>
          <a:noFill/>
          <a:ln/>
        </p:spPr>
        <p:txBody>
          <a:bodyPr wrap="square" lIns="0" tIns="0" rIns="0" bIns="0" rtlCol="0" anchor="ctr"/>
          <a:lstStyle/>
          <a:p>
            <a:pPr indent="0" marL="0">
              <a:buNone/>
            </a:pPr>
            <a:r>
              <a:rPr lang="en-US" sz="1300" b="1" dirty="0">
                <a:solidFill>
                  <a:srgbClr val="121614"/>
                </a:solidFill>
                <a:latin typeface="Georgia" pitchFamily="34" charset="0"/>
                <a:ea typeface="Georgia" pitchFamily="34" charset="-122"/>
                <a:cs typeface="Georgia" pitchFamily="34" charset="-120"/>
              </a:rPr>
              <a:t>Measured, not assumed</a:t>
            </a:r>
            <a:endParaRPr lang="en-US" sz="1300" dirty="0"/>
          </a:p>
        </p:txBody>
      </p:sp>
      <p:sp>
        <p:nvSpPr>
          <p:cNvPr id="7" name="Text 5"/>
          <p:cNvSpPr/>
          <p:nvPr/>
        </p:nvSpPr>
        <p:spPr>
          <a:xfrm>
            <a:off x="704088" y="1819656"/>
            <a:ext cx="3639312" cy="512064"/>
          </a:xfrm>
          <a:prstGeom prst="rect">
            <a:avLst/>
          </a:prstGeom>
          <a:noFill/>
          <a:ln/>
        </p:spPr>
        <p:txBody>
          <a:bodyPr wrap="square" lIns="0" tIns="0" rIns="0" bIns="0" rtlCol="0" anchor="ctr"/>
          <a:lstStyle/>
          <a:p>
            <a:pPr indent="0" marL="0">
              <a:lnSpc>
                <a:spcPct val="104000"/>
              </a:lnSpc>
              <a:buNone/>
            </a:pPr>
            <a:r>
              <a:rPr lang="en-US" sz="1100" dirty="0">
                <a:solidFill>
                  <a:srgbClr val="47524D"/>
                </a:solidFill>
                <a:latin typeface="Calibri" pitchFamily="34" charset="0"/>
                <a:ea typeface="Calibri" pitchFamily="34" charset="-122"/>
                <a:cs typeface="Calibri" pitchFamily="34" charset="-120"/>
              </a:rPr>
              <a:t>Every text colour carries the ratio it achieves, and CI recomputes it.</a:t>
            </a:r>
            <a:endParaRPr lang="en-US" sz="1100" dirty="0"/>
          </a:p>
        </p:txBody>
      </p:sp>
      <p:sp>
        <p:nvSpPr>
          <p:cNvPr id="8" name="Shape 6"/>
          <p:cNvSpPr/>
          <p:nvPr/>
        </p:nvSpPr>
        <p:spPr>
          <a:xfrm>
            <a:off x="4800600" y="1645920"/>
            <a:ext cx="82296" cy="82296"/>
          </a:xfrm>
          <a:prstGeom prst="rect">
            <a:avLst/>
          </a:prstGeom>
          <a:solidFill>
            <a:srgbClr val="0F6F62"/>
          </a:solidFill>
          <a:ln w="12700">
            <a:solidFill>
              <a:srgbClr val="333333"/>
            </a:solidFill>
            <a:prstDash val="solid"/>
          </a:ln>
        </p:spPr>
      </p:sp>
      <p:sp>
        <p:nvSpPr>
          <p:cNvPr id="9" name="Text 7"/>
          <p:cNvSpPr/>
          <p:nvPr/>
        </p:nvSpPr>
        <p:spPr>
          <a:xfrm>
            <a:off x="5001768" y="1591056"/>
            <a:ext cx="3639312" cy="219456"/>
          </a:xfrm>
          <a:prstGeom prst="rect">
            <a:avLst/>
          </a:prstGeom>
          <a:noFill/>
          <a:ln/>
        </p:spPr>
        <p:txBody>
          <a:bodyPr wrap="square" lIns="0" tIns="0" rIns="0" bIns="0" rtlCol="0" anchor="ctr"/>
          <a:lstStyle/>
          <a:p>
            <a:pPr indent="0" marL="0">
              <a:buNone/>
            </a:pPr>
            <a:r>
              <a:rPr lang="en-US" sz="1300" b="1" dirty="0">
                <a:solidFill>
                  <a:srgbClr val="121614"/>
                </a:solidFill>
                <a:latin typeface="Georgia" pitchFamily="34" charset="0"/>
                <a:ea typeface="Georgia" pitchFamily="34" charset="-122"/>
                <a:cs typeface="Georgia" pitchFamily="34" charset="-120"/>
              </a:rPr>
              <a:t>Real modal behaviour</a:t>
            </a:r>
            <a:endParaRPr lang="en-US" sz="1300" dirty="0"/>
          </a:p>
        </p:txBody>
      </p:sp>
      <p:sp>
        <p:nvSpPr>
          <p:cNvPr id="10" name="Text 8"/>
          <p:cNvSpPr/>
          <p:nvPr/>
        </p:nvSpPr>
        <p:spPr>
          <a:xfrm>
            <a:off x="5001768" y="1819656"/>
            <a:ext cx="3639312" cy="512064"/>
          </a:xfrm>
          <a:prstGeom prst="rect">
            <a:avLst/>
          </a:prstGeom>
          <a:noFill/>
          <a:ln/>
        </p:spPr>
        <p:txBody>
          <a:bodyPr wrap="square" lIns="0" tIns="0" rIns="0" bIns="0" rtlCol="0" anchor="ctr"/>
          <a:lstStyle/>
          <a:p>
            <a:pPr indent="0" marL="0">
              <a:lnSpc>
                <a:spcPct val="104000"/>
              </a:lnSpc>
              <a:buNone/>
            </a:pPr>
            <a:r>
              <a:rPr lang="en-US" sz="1100" dirty="0">
                <a:solidFill>
                  <a:srgbClr val="47524D"/>
                </a:solidFill>
                <a:latin typeface="Calibri" pitchFamily="34" charset="0"/>
                <a:ea typeface="Calibri" pitchFamily="34" charset="-122"/>
                <a:cs typeface="Calibri" pitchFamily="34" charset="-120"/>
              </a:rPr>
              <a:t>The mobile drawer traps focus, closes on Escape, and marks the page inert.</a:t>
            </a:r>
            <a:endParaRPr lang="en-US" sz="1100" dirty="0"/>
          </a:p>
        </p:txBody>
      </p:sp>
      <p:sp>
        <p:nvSpPr>
          <p:cNvPr id="11" name="Shape 9"/>
          <p:cNvSpPr/>
          <p:nvPr/>
        </p:nvSpPr>
        <p:spPr>
          <a:xfrm>
            <a:off x="502920" y="2505456"/>
            <a:ext cx="82296" cy="82296"/>
          </a:xfrm>
          <a:prstGeom prst="rect">
            <a:avLst/>
          </a:prstGeom>
          <a:solidFill>
            <a:srgbClr val="0F6F62"/>
          </a:solidFill>
          <a:ln w="12700">
            <a:solidFill>
              <a:srgbClr val="333333"/>
            </a:solidFill>
            <a:prstDash val="solid"/>
          </a:ln>
        </p:spPr>
      </p:sp>
      <p:sp>
        <p:nvSpPr>
          <p:cNvPr id="12" name="Text 10"/>
          <p:cNvSpPr/>
          <p:nvPr/>
        </p:nvSpPr>
        <p:spPr>
          <a:xfrm>
            <a:off x="704088" y="2450592"/>
            <a:ext cx="3639312" cy="219456"/>
          </a:xfrm>
          <a:prstGeom prst="rect">
            <a:avLst/>
          </a:prstGeom>
          <a:noFill/>
          <a:ln/>
        </p:spPr>
        <p:txBody>
          <a:bodyPr wrap="square" lIns="0" tIns="0" rIns="0" bIns="0" rtlCol="0" anchor="ctr"/>
          <a:lstStyle/>
          <a:p>
            <a:pPr indent="0" marL="0">
              <a:buNone/>
            </a:pPr>
            <a:r>
              <a:rPr lang="en-US" sz="1300" b="1" dirty="0">
                <a:solidFill>
                  <a:srgbClr val="121614"/>
                </a:solidFill>
                <a:latin typeface="Georgia" pitchFamily="34" charset="0"/>
                <a:ea typeface="Georgia" pitchFamily="34" charset="-122"/>
                <a:cs typeface="Georgia" pitchFamily="34" charset="-120"/>
              </a:rPr>
              <a:t>Reachable by keyboard</a:t>
            </a:r>
            <a:endParaRPr lang="en-US" sz="1300" dirty="0"/>
          </a:p>
        </p:txBody>
      </p:sp>
      <p:sp>
        <p:nvSpPr>
          <p:cNvPr id="13" name="Text 11"/>
          <p:cNvSpPr/>
          <p:nvPr/>
        </p:nvSpPr>
        <p:spPr>
          <a:xfrm>
            <a:off x="704088" y="2679192"/>
            <a:ext cx="3639312" cy="512064"/>
          </a:xfrm>
          <a:prstGeom prst="rect">
            <a:avLst/>
          </a:prstGeom>
          <a:noFill/>
          <a:ln/>
        </p:spPr>
        <p:txBody>
          <a:bodyPr wrap="square" lIns="0" tIns="0" rIns="0" bIns="0" rtlCol="0" anchor="ctr"/>
          <a:lstStyle/>
          <a:p>
            <a:pPr indent="0" marL="0">
              <a:lnSpc>
                <a:spcPct val="104000"/>
              </a:lnSpc>
              <a:buNone/>
            </a:pPr>
            <a:r>
              <a:rPr lang="en-US" sz="1100" dirty="0">
                <a:solidFill>
                  <a:srgbClr val="47524D"/>
                </a:solidFill>
                <a:latin typeface="Calibri" pitchFamily="34" charset="0"/>
                <a:ea typeface="Calibri" pitchFamily="34" charset="-122"/>
                <a:cs typeface="Calibri" pitchFamily="34" charset="-120"/>
              </a:rPr>
              <a:t>Scroll containers are focusable, because content only reachable by scrolling must be reachable by key.</a:t>
            </a:r>
            <a:endParaRPr lang="en-US" sz="1100" dirty="0"/>
          </a:p>
        </p:txBody>
      </p:sp>
      <p:sp>
        <p:nvSpPr>
          <p:cNvPr id="14" name="Shape 12"/>
          <p:cNvSpPr/>
          <p:nvPr/>
        </p:nvSpPr>
        <p:spPr>
          <a:xfrm>
            <a:off x="4800600" y="2505456"/>
            <a:ext cx="82296" cy="82296"/>
          </a:xfrm>
          <a:prstGeom prst="rect">
            <a:avLst/>
          </a:prstGeom>
          <a:solidFill>
            <a:srgbClr val="0F6F62"/>
          </a:solidFill>
          <a:ln w="12700">
            <a:solidFill>
              <a:srgbClr val="333333"/>
            </a:solidFill>
            <a:prstDash val="solid"/>
          </a:ln>
        </p:spPr>
      </p:sp>
      <p:sp>
        <p:nvSpPr>
          <p:cNvPr id="15" name="Text 13"/>
          <p:cNvSpPr/>
          <p:nvPr/>
        </p:nvSpPr>
        <p:spPr>
          <a:xfrm>
            <a:off x="5001768" y="2450592"/>
            <a:ext cx="3639312" cy="219456"/>
          </a:xfrm>
          <a:prstGeom prst="rect">
            <a:avLst/>
          </a:prstGeom>
          <a:noFill/>
          <a:ln/>
        </p:spPr>
        <p:txBody>
          <a:bodyPr wrap="square" lIns="0" tIns="0" rIns="0" bIns="0" rtlCol="0" anchor="ctr"/>
          <a:lstStyle/>
          <a:p>
            <a:pPr indent="0" marL="0">
              <a:buNone/>
            </a:pPr>
            <a:r>
              <a:rPr lang="en-US" sz="1300" b="1" dirty="0">
                <a:solidFill>
                  <a:srgbClr val="121614"/>
                </a:solidFill>
                <a:latin typeface="Georgia" pitchFamily="34" charset="0"/>
                <a:ea typeface="Georgia" pitchFamily="34" charset="-122"/>
                <a:cs typeface="Georgia" pitchFamily="34" charset="-120"/>
              </a:rPr>
              <a:t>Text that scales</a:t>
            </a:r>
            <a:endParaRPr lang="en-US" sz="1300" dirty="0"/>
          </a:p>
        </p:txBody>
      </p:sp>
      <p:sp>
        <p:nvSpPr>
          <p:cNvPr id="16" name="Text 14"/>
          <p:cNvSpPr/>
          <p:nvPr/>
        </p:nvSpPr>
        <p:spPr>
          <a:xfrm>
            <a:off x="5001768" y="2679192"/>
            <a:ext cx="3639312" cy="512064"/>
          </a:xfrm>
          <a:prstGeom prst="rect">
            <a:avLst/>
          </a:prstGeom>
          <a:noFill/>
          <a:ln/>
        </p:spPr>
        <p:txBody>
          <a:bodyPr wrap="square" lIns="0" tIns="0" rIns="0" bIns="0" rtlCol="0" anchor="ctr"/>
          <a:lstStyle/>
          <a:p>
            <a:pPr indent="0" marL="0">
              <a:lnSpc>
                <a:spcPct val="104000"/>
              </a:lnSpc>
              <a:buNone/>
            </a:pPr>
            <a:r>
              <a:rPr lang="en-US" sz="1100" dirty="0">
                <a:solidFill>
                  <a:srgbClr val="47524D"/>
                </a:solidFill>
                <a:latin typeface="Calibri" pitchFamily="34" charset="0"/>
                <a:ea typeface="Calibri" pitchFamily="34" charset="-122"/>
                <a:cs typeface="Calibri" pitchFamily="34" charset="-120"/>
              </a:rPr>
              <a:t>Sizes in rem, so the browser font setting is respected. Version 1 pinned 14px.</a:t>
            </a:r>
            <a:endParaRPr lang="en-US" sz="1100" dirty="0"/>
          </a:p>
        </p:txBody>
      </p:sp>
      <p:sp>
        <p:nvSpPr>
          <p:cNvPr id="17" name="Shape 15"/>
          <p:cNvSpPr/>
          <p:nvPr/>
        </p:nvSpPr>
        <p:spPr>
          <a:xfrm>
            <a:off x="502920" y="3364992"/>
            <a:ext cx="82296" cy="82296"/>
          </a:xfrm>
          <a:prstGeom prst="rect">
            <a:avLst/>
          </a:prstGeom>
          <a:solidFill>
            <a:srgbClr val="0F6F62"/>
          </a:solidFill>
          <a:ln w="12700">
            <a:solidFill>
              <a:srgbClr val="333333"/>
            </a:solidFill>
            <a:prstDash val="solid"/>
          </a:ln>
        </p:spPr>
      </p:sp>
      <p:sp>
        <p:nvSpPr>
          <p:cNvPr id="18" name="Text 16"/>
          <p:cNvSpPr/>
          <p:nvPr/>
        </p:nvSpPr>
        <p:spPr>
          <a:xfrm>
            <a:off x="704088" y="3310128"/>
            <a:ext cx="3639312" cy="219456"/>
          </a:xfrm>
          <a:prstGeom prst="rect">
            <a:avLst/>
          </a:prstGeom>
          <a:noFill/>
          <a:ln/>
        </p:spPr>
        <p:txBody>
          <a:bodyPr wrap="square" lIns="0" tIns="0" rIns="0" bIns="0" rtlCol="0" anchor="ctr"/>
          <a:lstStyle/>
          <a:p>
            <a:pPr indent="0" marL="0">
              <a:buNone/>
            </a:pPr>
            <a:r>
              <a:rPr lang="en-US" sz="1300" b="1" dirty="0">
                <a:solidFill>
                  <a:srgbClr val="121614"/>
                </a:solidFill>
                <a:latin typeface="Georgia" pitchFamily="34" charset="0"/>
                <a:ea typeface="Georgia" pitchFamily="34" charset="-122"/>
                <a:cs typeface="Georgia" pitchFamily="34" charset="-120"/>
              </a:rPr>
              <a:t>Never colour alone</a:t>
            </a:r>
            <a:endParaRPr lang="en-US" sz="1300" dirty="0"/>
          </a:p>
        </p:txBody>
      </p:sp>
      <p:sp>
        <p:nvSpPr>
          <p:cNvPr id="19" name="Text 17"/>
          <p:cNvSpPr/>
          <p:nvPr/>
        </p:nvSpPr>
        <p:spPr>
          <a:xfrm>
            <a:off x="704088" y="3538728"/>
            <a:ext cx="3639312" cy="512064"/>
          </a:xfrm>
          <a:prstGeom prst="rect">
            <a:avLst/>
          </a:prstGeom>
          <a:noFill/>
          <a:ln/>
        </p:spPr>
        <p:txBody>
          <a:bodyPr wrap="square" lIns="0" tIns="0" rIns="0" bIns="0" rtlCol="0" anchor="ctr"/>
          <a:lstStyle/>
          <a:p>
            <a:pPr indent="0" marL="0">
              <a:lnSpc>
                <a:spcPct val="104000"/>
              </a:lnSpc>
              <a:buNone/>
            </a:pPr>
            <a:r>
              <a:rPr lang="en-US" sz="1100" dirty="0">
                <a:solidFill>
                  <a:srgbClr val="47524D"/>
                </a:solidFill>
                <a:latin typeface="Calibri" pitchFamily="34" charset="0"/>
                <a:ea typeface="Calibri" pitchFamily="34" charset="-122"/>
                <a:cs typeface="Calibri" pitchFamily="34" charset="-120"/>
              </a:rPr>
              <a:t>Every status carries a word. Zone tags print the letter next to the swatch.</a:t>
            </a:r>
            <a:endParaRPr lang="en-US" sz="1100" dirty="0"/>
          </a:p>
        </p:txBody>
      </p:sp>
      <p:sp>
        <p:nvSpPr>
          <p:cNvPr id="20" name="Shape 18"/>
          <p:cNvSpPr/>
          <p:nvPr/>
        </p:nvSpPr>
        <p:spPr>
          <a:xfrm>
            <a:off x="4800600" y="3364992"/>
            <a:ext cx="82296" cy="82296"/>
          </a:xfrm>
          <a:prstGeom prst="rect">
            <a:avLst/>
          </a:prstGeom>
          <a:solidFill>
            <a:srgbClr val="0F6F62"/>
          </a:solidFill>
          <a:ln w="12700">
            <a:solidFill>
              <a:srgbClr val="333333"/>
            </a:solidFill>
            <a:prstDash val="solid"/>
          </a:ln>
        </p:spPr>
      </p:sp>
      <p:sp>
        <p:nvSpPr>
          <p:cNvPr id="21" name="Text 19"/>
          <p:cNvSpPr/>
          <p:nvPr/>
        </p:nvSpPr>
        <p:spPr>
          <a:xfrm>
            <a:off x="5001768" y="3310128"/>
            <a:ext cx="3639312" cy="219456"/>
          </a:xfrm>
          <a:prstGeom prst="rect">
            <a:avLst/>
          </a:prstGeom>
          <a:noFill/>
          <a:ln/>
        </p:spPr>
        <p:txBody>
          <a:bodyPr wrap="square" lIns="0" tIns="0" rIns="0" bIns="0" rtlCol="0" anchor="ctr"/>
          <a:lstStyle/>
          <a:p>
            <a:pPr indent="0" marL="0">
              <a:buNone/>
            </a:pPr>
            <a:r>
              <a:rPr lang="en-US" sz="1300" b="1" dirty="0">
                <a:solidFill>
                  <a:srgbClr val="121614"/>
                </a:solidFill>
                <a:latin typeface="Georgia" pitchFamily="34" charset="0"/>
                <a:ea typeface="Georgia" pitchFamily="34" charset="-122"/>
                <a:cs typeface="Georgia" pitchFamily="34" charset="-120"/>
              </a:rPr>
              <a:t>Charts described</a:t>
            </a:r>
            <a:endParaRPr lang="en-US" sz="1300" dirty="0"/>
          </a:p>
        </p:txBody>
      </p:sp>
      <p:sp>
        <p:nvSpPr>
          <p:cNvPr id="22" name="Text 20"/>
          <p:cNvSpPr/>
          <p:nvPr/>
        </p:nvSpPr>
        <p:spPr>
          <a:xfrm>
            <a:off x="5001768" y="3538728"/>
            <a:ext cx="3639312" cy="512064"/>
          </a:xfrm>
          <a:prstGeom prst="rect">
            <a:avLst/>
          </a:prstGeom>
          <a:noFill/>
          <a:ln/>
        </p:spPr>
        <p:txBody>
          <a:bodyPr wrap="square" lIns="0" tIns="0" rIns="0" bIns="0" rtlCol="0" anchor="ctr"/>
          <a:lstStyle/>
          <a:p>
            <a:pPr indent="0" marL="0">
              <a:lnSpc>
                <a:spcPct val="104000"/>
              </a:lnSpc>
              <a:buNone/>
            </a:pPr>
            <a:r>
              <a:rPr lang="en-US" sz="1100" dirty="0">
                <a:solidFill>
                  <a:srgbClr val="47524D"/>
                </a:solidFill>
                <a:latin typeface="Calibri" pitchFamily="34" charset="0"/>
                <a:ea typeface="Calibri" pitchFamily="34" charset="-122"/>
                <a:cs typeface="Calibri" pitchFamily="34" charset="-120"/>
              </a:rPr>
              <a:t>Each canvas carries a text summary, and the same figures exist in a table.</a:t>
            </a:r>
            <a:endParaRPr lang="en-US" sz="1100" dirty="0"/>
          </a:p>
        </p:txBody>
      </p:sp>
      <p:sp>
        <p:nvSpPr>
          <p:cNvPr id="23" name="Text 21"/>
          <p:cNvSpPr/>
          <p:nvPr/>
        </p:nvSpPr>
        <p:spPr>
          <a:xfrm>
            <a:off x="502920" y="4224528"/>
            <a:ext cx="8138160" cy="310896"/>
          </a:xfrm>
          <a:prstGeom prst="rect">
            <a:avLst/>
          </a:prstGeom>
          <a:noFill/>
          <a:ln/>
        </p:spPr>
        <p:txBody>
          <a:bodyPr wrap="square" lIns="0" tIns="0" rIns="0" bIns="0" rtlCol="0" anchor="ctr"/>
          <a:lstStyle/>
          <a:p>
            <a:pPr indent="0" marL="0">
              <a:buNone/>
            </a:pPr>
            <a:r>
              <a:rPr lang="en-US" sz="1150" i="1" dirty="0">
                <a:solidFill>
                  <a:srgbClr val="5C6862"/>
                </a:solidFill>
                <a:latin typeface="Calibri" pitchFamily="34" charset="0"/>
                <a:ea typeface="Calibri" pitchFamily="34" charset="-122"/>
                <a:cs typeface="Calibri" pitchFamily="34" charset="-120"/>
              </a:rPr>
              <a:t>Known gaps are documented rather than omitted: no screen reader has yet been run against it.</a:t>
            </a:r>
            <a:endParaRPr lang="en-US" sz="1150" dirty="0"/>
          </a:p>
        </p:txBody>
      </p:sp>
      <p:sp>
        <p:nvSpPr>
          <p:cNvPr id="25" name="Text 22"/>
          <p:cNvSpPr/>
          <p:nvPr/>
        </p:nvSpPr>
        <p:spPr>
          <a:xfrm>
            <a:off x="502920" y="4759452"/>
            <a:ext cx="2743200" cy="201168"/>
          </a:xfrm>
          <a:prstGeom prst="rect">
            <a:avLst/>
          </a:prstGeom>
          <a:noFill/>
          <a:ln/>
        </p:spPr>
        <p:txBody>
          <a:bodyPr wrap="square" lIns="0" tIns="0" rIns="0" bIns="0" rtlCol="0" anchor="ctr"/>
          <a:lstStyle/>
          <a:p>
            <a:pPr indent="0" marL="0">
              <a:buNone/>
            </a:pPr>
            <a:r>
              <a:rPr lang="en-US" sz="900" dirty="0">
                <a:solidFill>
                  <a:srgbClr val="5C6862"/>
                </a:solidFill>
                <a:latin typeface="Calibri" pitchFamily="34" charset="0"/>
                <a:ea typeface="Calibri" pitchFamily="34" charset="-122"/>
                <a:cs typeface="Calibri" pitchFamily="34" charset="-120"/>
              </a:rPr>
              <a:t>GovSpirit</a:t>
            </a:r>
            <a:endParaRPr lang="en-US" sz="900" dirty="0"/>
          </a:p>
        </p:txBody>
      </p:sp>
      <p:sp>
        <p:nvSpPr>
          <p:cNvPr id="26" name="Text 23"/>
          <p:cNvSpPr/>
          <p:nvPr/>
        </p:nvSpPr>
        <p:spPr>
          <a:xfrm>
            <a:off x="7726680" y="4759452"/>
            <a:ext cx="914400" cy="201168"/>
          </a:xfrm>
          <a:prstGeom prst="rect">
            <a:avLst/>
          </a:prstGeom>
          <a:noFill/>
          <a:ln/>
        </p:spPr>
        <p:txBody>
          <a:bodyPr wrap="square" lIns="0" tIns="0" rIns="0" bIns="0" rtlCol="0" anchor="ctr"/>
          <a:lstStyle/>
          <a:p>
            <a:pPr algn="r" indent="0" marL="0">
              <a:buNone/>
            </a:pPr>
            <a:r>
              <a:rPr lang="en-US" sz="900" dirty="0">
                <a:solidFill>
                  <a:srgbClr val="5C6862"/>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4F2"/>
        </a:solidFill>
      </p:bgPr>
    </p:bg>
    <p:spTree>
      <p:nvGrpSpPr>
        <p:cNvPr id="1" name=""/>
        <p:cNvGrpSpPr/>
        <p:nvPr/>
      </p:nvGrpSpPr>
      <p:grpSpPr>
        <a:xfrm>
          <a:off x="0" y="0"/>
          <a:ext cx="0" cy="0"/>
          <a:chOff x="0" y="0"/>
          <a:chExt cx="0" cy="0"/>
        </a:xfrm>
      </p:grpSpPr>
      <p:sp>
        <p:nvSpPr>
          <p:cNvPr id="2" name="Shape 0"/>
          <p:cNvSpPr/>
          <p:nvPr/>
        </p:nvSpPr>
        <p:spPr>
          <a:xfrm>
            <a:off x="502920" y="452628"/>
            <a:ext cx="91440" cy="91440"/>
          </a:xfrm>
          <a:prstGeom prst="rect">
            <a:avLst/>
          </a:prstGeom>
          <a:solidFill>
            <a:srgbClr val="C07A2C"/>
          </a:solidFill>
          <a:ln/>
        </p:spPr>
      </p:sp>
      <p:sp>
        <p:nvSpPr>
          <p:cNvPr id="3" name="Text 1"/>
          <p:cNvSpPr/>
          <p:nvPr/>
        </p:nvSpPr>
        <p:spPr>
          <a:xfrm>
            <a:off x="704088" y="402336"/>
            <a:ext cx="5486400" cy="219456"/>
          </a:xfrm>
          <a:prstGeom prst="rect">
            <a:avLst/>
          </a:prstGeom>
          <a:noFill/>
          <a:ln/>
        </p:spPr>
        <p:txBody>
          <a:bodyPr wrap="square" lIns="0" tIns="0" rIns="0" bIns="0" rtlCol="0" anchor="ctr"/>
          <a:lstStyle/>
          <a:p>
            <a:pPr indent="0" marL="0">
              <a:buNone/>
            </a:pPr>
            <a:r>
              <a:rPr lang="en-US" sz="1000" b="1" spc="240" kern="0" dirty="0">
                <a:solidFill>
                  <a:srgbClr val="5C6862"/>
                </a:solidFill>
                <a:latin typeface="Calibri" pitchFamily="34" charset="0"/>
                <a:ea typeface="Calibri" pitchFamily="34" charset="-122"/>
                <a:cs typeface="Calibri" pitchFamily="34" charset="-120"/>
              </a:rPr>
              <a:t>DESIGN</a:t>
            </a:r>
            <a:endParaRPr lang="en-US" sz="1000" dirty="0"/>
          </a:p>
        </p:txBody>
      </p:sp>
      <p:sp>
        <p:nvSpPr>
          <p:cNvPr id="4" name="Text 2"/>
          <p:cNvSpPr/>
          <p:nvPr/>
        </p:nvSpPr>
        <p:spPr>
          <a:xfrm>
            <a:off x="502920" y="786384"/>
            <a:ext cx="8138160" cy="713232"/>
          </a:xfrm>
          <a:prstGeom prst="rect">
            <a:avLst/>
          </a:prstGeom>
          <a:noFill/>
          <a:ln/>
        </p:spPr>
        <p:txBody>
          <a:bodyPr wrap="square" lIns="0" tIns="0" rIns="0" bIns="0" rtlCol="0" anchor="t"/>
          <a:lstStyle/>
          <a:p>
            <a:pPr indent="0" marL="0">
              <a:lnSpc>
                <a:spcPct val="94000"/>
              </a:lnSpc>
              <a:buNone/>
            </a:pPr>
            <a:r>
              <a:rPr lang="en-US" sz="3000" b="1" dirty="0">
                <a:solidFill>
                  <a:srgbClr val="121614"/>
                </a:solidFill>
                <a:latin typeface="Georgia" pitchFamily="34" charset="0"/>
                <a:ea typeface="Georgia" pitchFamily="34" charset="-122"/>
                <a:cs typeface="Georgia" pitchFamily="34" charset="-120"/>
              </a:rPr>
              <a:t>Chrome recedes, data advances</a:t>
            </a:r>
            <a:endParaRPr lang="en-US" sz="3000" dirty="0"/>
          </a:p>
        </p:txBody>
      </p:sp>
      <p:sp>
        <p:nvSpPr>
          <p:cNvPr id="5" name="Text 3"/>
          <p:cNvSpPr/>
          <p:nvPr/>
        </p:nvSpPr>
        <p:spPr>
          <a:xfrm>
            <a:off x="502920" y="1572768"/>
            <a:ext cx="4754880" cy="786384"/>
          </a:xfrm>
          <a:prstGeom prst="rect">
            <a:avLst/>
          </a:prstGeom>
          <a:noFill/>
          <a:ln/>
        </p:spPr>
        <p:txBody>
          <a:bodyPr wrap="square" lIns="0" tIns="0" rIns="0" bIns="0" rtlCol="0" anchor="ctr"/>
          <a:lstStyle/>
          <a:p>
            <a:pPr indent="0" marL="0">
              <a:lnSpc>
                <a:spcPct val="112000"/>
              </a:lnSpc>
              <a:buNone/>
            </a:pPr>
            <a:r>
              <a:rPr lang="en-US" sz="1300" dirty="0">
                <a:solidFill>
                  <a:srgbClr val="47524D"/>
                </a:solidFill>
                <a:latin typeface="Calibri" pitchFamily="34" charset="0"/>
                <a:ea typeface="Calibri" pitchFamily="34" charset="-122"/>
                <a:cs typeface="Calibri" pitchFamily="34" charset="-120"/>
              </a:rPr>
              <a:t>Saturated colour does three jobs and no others: it marks a chart series, it flags a status that needs attention, and it identifies something interactive. Everything else is neutral.</a:t>
            </a:r>
            <a:endParaRPr lang="en-US" sz="1300" dirty="0"/>
          </a:p>
        </p:txBody>
      </p:sp>
      <p:sp>
        <p:nvSpPr>
          <p:cNvPr id="6" name="Text 4"/>
          <p:cNvSpPr/>
          <p:nvPr/>
        </p:nvSpPr>
        <p:spPr>
          <a:xfrm>
            <a:off x="502920" y="2432304"/>
            <a:ext cx="4754880" cy="859536"/>
          </a:xfrm>
          <a:prstGeom prst="rect">
            <a:avLst/>
          </a:prstGeom>
          <a:noFill/>
          <a:ln/>
        </p:spPr>
        <p:txBody>
          <a:bodyPr wrap="square" lIns="0" tIns="0" rIns="0" bIns="0" rtlCol="0" anchor="ctr"/>
          <a:lstStyle/>
          <a:p>
            <a:pPr indent="0" marL="0">
              <a:lnSpc>
                <a:spcPct val="112000"/>
              </a:lnSpc>
              <a:buNone/>
            </a:pPr>
            <a:r>
              <a:rPr lang="en-US" sz="1300" dirty="0">
                <a:solidFill>
                  <a:srgbClr val="47524D"/>
                </a:solidFill>
                <a:latin typeface="Calibri" pitchFamily="34" charset="0"/>
                <a:ea typeface="Calibri" pitchFamily="34" charset="-122"/>
                <a:cs typeface="Calibri" pitchFamily="34" charset="-120"/>
              </a:rPr>
              <a:t>The palette comes from the room the software is used in: green glass, brass fittings, kraft paperwork, concrete floors. Status colours match the paint already on the floor, so they need no legend.</a:t>
            </a:r>
            <a:endParaRPr lang="en-US" sz="1300" dirty="0"/>
          </a:p>
        </p:txBody>
      </p:sp>
      <p:sp>
        <p:nvSpPr>
          <p:cNvPr id="7" name="Shape 5"/>
          <p:cNvSpPr/>
          <p:nvPr/>
        </p:nvSpPr>
        <p:spPr>
          <a:xfrm>
            <a:off x="502920" y="3401568"/>
            <a:ext cx="804672" cy="365760"/>
          </a:xfrm>
          <a:prstGeom prst="rect">
            <a:avLst/>
          </a:prstGeom>
          <a:solidFill>
            <a:srgbClr val="0F6F62"/>
          </a:solidFill>
          <a:ln w="12700">
            <a:solidFill>
              <a:srgbClr val="333333"/>
            </a:solidFill>
            <a:prstDash val="solid"/>
          </a:ln>
        </p:spPr>
      </p:sp>
      <p:sp>
        <p:nvSpPr>
          <p:cNvPr id="8" name="Text 6"/>
          <p:cNvSpPr/>
          <p:nvPr/>
        </p:nvSpPr>
        <p:spPr>
          <a:xfrm>
            <a:off x="502920" y="3803904"/>
            <a:ext cx="896112" cy="182880"/>
          </a:xfrm>
          <a:prstGeom prst="rect">
            <a:avLst/>
          </a:prstGeom>
          <a:noFill/>
          <a:ln/>
        </p:spPr>
        <p:txBody>
          <a:bodyPr wrap="square" lIns="0" tIns="0" rIns="0" bIns="0" rtlCol="0" anchor="ctr"/>
          <a:lstStyle/>
          <a:p>
            <a:pPr indent="0" marL="0">
              <a:buNone/>
            </a:pPr>
            <a:r>
              <a:rPr lang="en-US" sz="1000" b="1" dirty="0">
                <a:solidFill>
                  <a:srgbClr val="121614"/>
                </a:solidFill>
                <a:latin typeface="Calibri" pitchFamily="34" charset="0"/>
                <a:ea typeface="Calibri" pitchFamily="34" charset="-122"/>
                <a:cs typeface="Calibri" pitchFamily="34" charset="-120"/>
              </a:rPr>
              <a:t>Verdigris</a:t>
            </a:r>
            <a:endParaRPr lang="en-US" sz="1000" dirty="0"/>
          </a:p>
        </p:txBody>
      </p:sp>
      <p:sp>
        <p:nvSpPr>
          <p:cNvPr id="9" name="Text 7"/>
          <p:cNvSpPr/>
          <p:nvPr/>
        </p:nvSpPr>
        <p:spPr>
          <a:xfrm>
            <a:off x="502920" y="3977640"/>
            <a:ext cx="896112" cy="182880"/>
          </a:xfrm>
          <a:prstGeom prst="rect">
            <a:avLst/>
          </a:prstGeom>
          <a:noFill/>
          <a:ln/>
        </p:spPr>
        <p:txBody>
          <a:bodyPr wrap="square" lIns="0" tIns="0" rIns="0" bIns="0" rtlCol="0" anchor="ctr"/>
          <a:lstStyle/>
          <a:p>
            <a:pPr indent="0" marL="0">
              <a:buNone/>
            </a:pPr>
            <a:r>
              <a:rPr lang="en-US" sz="950" dirty="0">
                <a:solidFill>
                  <a:srgbClr val="5C6862"/>
                </a:solidFill>
                <a:latin typeface="Calibri" pitchFamily="34" charset="0"/>
                <a:ea typeface="Calibri" pitchFamily="34" charset="-122"/>
                <a:cs typeface="Calibri" pitchFamily="34" charset="-120"/>
              </a:rPr>
              <a:t>interactive</a:t>
            </a:r>
            <a:endParaRPr lang="en-US" sz="950" dirty="0"/>
          </a:p>
        </p:txBody>
      </p:sp>
      <p:sp>
        <p:nvSpPr>
          <p:cNvPr id="10" name="Shape 8"/>
          <p:cNvSpPr/>
          <p:nvPr/>
        </p:nvSpPr>
        <p:spPr>
          <a:xfrm>
            <a:off x="1472184" y="3401568"/>
            <a:ext cx="804672" cy="365760"/>
          </a:xfrm>
          <a:prstGeom prst="rect">
            <a:avLst/>
          </a:prstGeom>
          <a:solidFill>
            <a:srgbClr val="C07A2C"/>
          </a:solidFill>
          <a:ln w="12700">
            <a:solidFill>
              <a:srgbClr val="333333"/>
            </a:solidFill>
            <a:prstDash val="solid"/>
          </a:ln>
        </p:spPr>
      </p:sp>
      <p:sp>
        <p:nvSpPr>
          <p:cNvPr id="11" name="Text 9"/>
          <p:cNvSpPr/>
          <p:nvPr/>
        </p:nvSpPr>
        <p:spPr>
          <a:xfrm>
            <a:off x="1472184" y="3803904"/>
            <a:ext cx="896112" cy="182880"/>
          </a:xfrm>
          <a:prstGeom prst="rect">
            <a:avLst/>
          </a:prstGeom>
          <a:noFill/>
          <a:ln/>
        </p:spPr>
        <p:txBody>
          <a:bodyPr wrap="square" lIns="0" tIns="0" rIns="0" bIns="0" rtlCol="0" anchor="ctr"/>
          <a:lstStyle/>
          <a:p>
            <a:pPr indent="0" marL="0">
              <a:buNone/>
            </a:pPr>
            <a:r>
              <a:rPr lang="en-US" sz="1000" b="1" dirty="0">
                <a:solidFill>
                  <a:srgbClr val="121614"/>
                </a:solidFill>
                <a:latin typeface="Calibri" pitchFamily="34" charset="0"/>
                <a:ea typeface="Calibri" pitchFamily="34" charset="-122"/>
                <a:cs typeface="Calibri" pitchFamily="34" charset="-120"/>
              </a:rPr>
              <a:t>Brass</a:t>
            </a:r>
            <a:endParaRPr lang="en-US" sz="1000" dirty="0"/>
          </a:p>
        </p:txBody>
      </p:sp>
      <p:sp>
        <p:nvSpPr>
          <p:cNvPr id="12" name="Text 10"/>
          <p:cNvSpPr/>
          <p:nvPr/>
        </p:nvSpPr>
        <p:spPr>
          <a:xfrm>
            <a:off x="1472184" y="3977640"/>
            <a:ext cx="896112" cy="182880"/>
          </a:xfrm>
          <a:prstGeom prst="rect">
            <a:avLst/>
          </a:prstGeom>
          <a:noFill/>
          <a:ln/>
        </p:spPr>
        <p:txBody>
          <a:bodyPr wrap="square" lIns="0" tIns="0" rIns="0" bIns="0" rtlCol="0" anchor="ctr"/>
          <a:lstStyle/>
          <a:p>
            <a:pPr indent="0" marL="0">
              <a:buNone/>
            </a:pPr>
            <a:r>
              <a:rPr lang="en-US" sz="950" dirty="0">
                <a:solidFill>
                  <a:srgbClr val="5C6862"/>
                </a:solidFill>
                <a:latin typeface="Calibri" pitchFamily="34" charset="0"/>
                <a:ea typeface="Calibri" pitchFamily="34" charset="-122"/>
                <a:cs typeface="Calibri" pitchFamily="34" charset="-120"/>
              </a:rPr>
              <a:t>caution</a:t>
            </a:r>
            <a:endParaRPr lang="en-US" sz="950" dirty="0"/>
          </a:p>
        </p:txBody>
      </p:sp>
      <p:sp>
        <p:nvSpPr>
          <p:cNvPr id="13" name="Shape 11"/>
          <p:cNvSpPr/>
          <p:nvPr/>
        </p:nvSpPr>
        <p:spPr>
          <a:xfrm>
            <a:off x="2441448" y="3401568"/>
            <a:ext cx="804672" cy="365760"/>
          </a:xfrm>
          <a:prstGeom prst="rect">
            <a:avLst/>
          </a:prstGeom>
          <a:solidFill>
            <a:srgbClr val="1F7A4D"/>
          </a:solidFill>
          <a:ln w="12700">
            <a:solidFill>
              <a:srgbClr val="333333"/>
            </a:solidFill>
            <a:prstDash val="solid"/>
          </a:ln>
        </p:spPr>
      </p:sp>
      <p:sp>
        <p:nvSpPr>
          <p:cNvPr id="14" name="Text 12"/>
          <p:cNvSpPr/>
          <p:nvPr/>
        </p:nvSpPr>
        <p:spPr>
          <a:xfrm>
            <a:off x="2441448" y="3803904"/>
            <a:ext cx="896112" cy="182880"/>
          </a:xfrm>
          <a:prstGeom prst="rect">
            <a:avLst/>
          </a:prstGeom>
          <a:noFill/>
          <a:ln/>
        </p:spPr>
        <p:txBody>
          <a:bodyPr wrap="square" lIns="0" tIns="0" rIns="0" bIns="0" rtlCol="0" anchor="ctr"/>
          <a:lstStyle/>
          <a:p>
            <a:pPr indent="0" marL="0">
              <a:buNone/>
            </a:pPr>
            <a:r>
              <a:rPr lang="en-US" sz="1000" b="1" dirty="0">
                <a:solidFill>
                  <a:srgbClr val="121614"/>
                </a:solidFill>
                <a:latin typeface="Calibri" pitchFamily="34" charset="0"/>
                <a:ea typeface="Calibri" pitchFamily="34" charset="-122"/>
                <a:cs typeface="Calibri" pitchFamily="34" charset="-120"/>
              </a:rPr>
              <a:t>Green</a:t>
            </a:r>
            <a:endParaRPr lang="en-US" sz="1000" dirty="0"/>
          </a:p>
        </p:txBody>
      </p:sp>
      <p:sp>
        <p:nvSpPr>
          <p:cNvPr id="15" name="Text 13"/>
          <p:cNvSpPr/>
          <p:nvPr/>
        </p:nvSpPr>
        <p:spPr>
          <a:xfrm>
            <a:off x="2441448" y="3977640"/>
            <a:ext cx="896112" cy="182880"/>
          </a:xfrm>
          <a:prstGeom prst="rect">
            <a:avLst/>
          </a:prstGeom>
          <a:noFill/>
          <a:ln/>
        </p:spPr>
        <p:txBody>
          <a:bodyPr wrap="square" lIns="0" tIns="0" rIns="0" bIns="0" rtlCol="0" anchor="ctr"/>
          <a:lstStyle/>
          <a:p>
            <a:pPr indent="0" marL="0">
              <a:buNone/>
            </a:pPr>
            <a:r>
              <a:rPr lang="en-US" sz="950" dirty="0">
                <a:solidFill>
                  <a:srgbClr val="5C6862"/>
                </a:solidFill>
                <a:latin typeface="Calibri" pitchFamily="34" charset="0"/>
                <a:ea typeface="Calibri" pitchFamily="34" charset="-122"/>
                <a:cs typeface="Calibri" pitchFamily="34" charset="-120"/>
              </a:rPr>
              <a:t>clear</a:t>
            </a:r>
            <a:endParaRPr lang="en-US" sz="950" dirty="0"/>
          </a:p>
        </p:txBody>
      </p:sp>
      <p:sp>
        <p:nvSpPr>
          <p:cNvPr id="16" name="Shape 14"/>
          <p:cNvSpPr/>
          <p:nvPr/>
        </p:nvSpPr>
        <p:spPr>
          <a:xfrm>
            <a:off x="3410712" y="3401568"/>
            <a:ext cx="804672" cy="365760"/>
          </a:xfrm>
          <a:prstGeom prst="rect">
            <a:avLst/>
          </a:prstGeom>
          <a:solidFill>
            <a:srgbClr val="BB2233"/>
          </a:solidFill>
          <a:ln w="12700">
            <a:solidFill>
              <a:srgbClr val="333333"/>
            </a:solidFill>
            <a:prstDash val="solid"/>
          </a:ln>
        </p:spPr>
      </p:sp>
      <p:sp>
        <p:nvSpPr>
          <p:cNvPr id="17" name="Text 15"/>
          <p:cNvSpPr/>
          <p:nvPr/>
        </p:nvSpPr>
        <p:spPr>
          <a:xfrm>
            <a:off x="3410712" y="3803904"/>
            <a:ext cx="896112" cy="182880"/>
          </a:xfrm>
          <a:prstGeom prst="rect">
            <a:avLst/>
          </a:prstGeom>
          <a:noFill/>
          <a:ln/>
        </p:spPr>
        <p:txBody>
          <a:bodyPr wrap="square" lIns="0" tIns="0" rIns="0" bIns="0" rtlCol="0" anchor="ctr"/>
          <a:lstStyle/>
          <a:p>
            <a:pPr indent="0" marL="0">
              <a:buNone/>
            </a:pPr>
            <a:r>
              <a:rPr lang="en-US" sz="1000" b="1" dirty="0">
                <a:solidFill>
                  <a:srgbClr val="121614"/>
                </a:solidFill>
                <a:latin typeface="Calibri" pitchFamily="34" charset="0"/>
                <a:ea typeface="Calibri" pitchFamily="34" charset="-122"/>
                <a:cs typeface="Calibri" pitchFamily="34" charset="-120"/>
              </a:rPr>
              <a:t>Red</a:t>
            </a:r>
            <a:endParaRPr lang="en-US" sz="1000" dirty="0"/>
          </a:p>
        </p:txBody>
      </p:sp>
      <p:sp>
        <p:nvSpPr>
          <p:cNvPr id="18" name="Text 16"/>
          <p:cNvSpPr/>
          <p:nvPr/>
        </p:nvSpPr>
        <p:spPr>
          <a:xfrm>
            <a:off x="3410712" y="3977640"/>
            <a:ext cx="896112" cy="182880"/>
          </a:xfrm>
          <a:prstGeom prst="rect">
            <a:avLst/>
          </a:prstGeom>
          <a:noFill/>
          <a:ln/>
        </p:spPr>
        <p:txBody>
          <a:bodyPr wrap="square" lIns="0" tIns="0" rIns="0" bIns="0" rtlCol="0" anchor="ctr"/>
          <a:lstStyle/>
          <a:p>
            <a:pPr indent="0" marL="0">
              <a:buNone/>
            </a:pPr>
            <a:r>
              <a:rPr lang="en-US" sz="950" dirty="0">
                <a:solidFill>
                  <a:srgbClr val="5C6862"/>
                </a:solidFill>
                <a:latin typeface="Calibri" pitchFamily="34" charset="0"/>
                <a:ea typeface="Calibri" pitchFamily="34" charset="-122"/>
                <a:cs typeface="Calibri" pitchFamily="34" charset="-120"/>
              </a:rPr>
              <a:t>stop</a:t>
            </a:r>
            <a:endParaRPr lang="en-US" sz="950" dirty="0"/>
          </a:p>
        </p:txBody>
      </p:sp>
      <p:sp>
        <p:nvSpPr>
          <p:cNvPr id="19" name="Shape 17"/>
          <p:cNvSpPr/>
          <p:nvPr/>
        </p:nvSpPr>
        <p:spPr>
          <a:xfrm>
            <a:off x="4379976" y="3401568"/>
            <a:ext cx="804672" cy="365760"/>
          </a:xfrm>
          <a:prstGeom prst="rect">
            <a:avLst/>
          </a:prstGeom>
          <a:solidFill>
            <a:srgbClr val="5C6862"/>
          </a:solidFill>
          <a:ln w="12700">
            <a:solidFill>
              <a:srgbClr val="333333"/>
            </a:solidFill>
            <a:prstDash val="solid"/>
          </a:ln>
        </p:spPr>
      </p:sp>
      <p:sp>
        <p:nvSpPr>
          <p:cNvPr id="20" name="Text 18"/>
          <p:cNvSpPr/>
          <p:nvPr/>
        </p:nvSpPr>
        <p:spPr>
          <a:xfrm>
            <a:off x="4379976" y="3803904"/>
            <a:ext cx="896112" cy="182880"/>
          </a:xfrm>
          <a:prstGeom prst="rect">
            <a:avLst/>
          </a:prstGeom>
          <a:noFill/>
          <a:ln/>
        </p:spPr>
        <p:txBody>
          <a:bodyPr wrap="square" lIns="0" tIns="0" rIns="0" bIns="0" rtlCol="0" anchor="ctr"/>
          <a:lstStyle/>
          <a:p>
            <a:pPr indent="0" marL="0">
              <a:buNone/>
            </a:pPr>
            <a:r>
              <a:rPr lang="en-US" sz="1000" b="1" dirty="0">
                <a:solidFill>
                  <a:srgbClr val="121614"/>
                </a:solidFill>
                <a:latin typeface="Calibri" pitchFamily="34" charset="0"/>
                <a:ea typeface="Calibri" pitchFamily="34" charset="-122"/>
                <a:cs typeface="Calibri" pitchFamily="34" charset="-120"/>
              </a:rPr>
              <a:t>Slate</a:t>
            </a:r>
            <a:endParaRPr lang="en-US" sz="1000" dirty="0"/>
          </a:p>
        </p:txBody>
      </p:sp>
      <p:sp>
        <p:nvSpPr>
          <p:cNvPr id="21" name="Text 19"/>
          <p:cNvSpPr/>
          <p:nvPr/>
        </p:nvSpPr>
        <p:spPr>
          <a:xfrm>
            <a:off x="4379976" y="3977640"/>
            <a:ext cx="896112" cy="182880"/>
          </a:xfrm>
          <a:prstGeom prst="rect">
            <a:avLst/>
          </a:prstGeom>
          <a:noFill/>
          <a:ln/>
        </p:spPr>
        <p:txBody>
          <a:bodyPr wrap="square" lIns="0" tIns="0" rIns="0" bIns="0" rtlCol="0" anchor="ctr"/>
          <a:lstStyle/>
          <a:p>
            <a:pPr indent="0" marL="0">
              <a:buNone/>
            </a:pPr>
            <a:r>
              <a:rPr lang="en-US" sz="950" dirty="0">
                <a:solidFill>
                  <a:srgbClr val="5C6862"/>
                </a:solidFill>
                <a:latin typeface="Calibri" pitchFamily="34" charset="0"/>
                <a:ea typeface="Calibri" pitchFamily="34" charset="-122"/>
                <a:cs typeface="Calibri" pitchFamily="34" charset="-120"/>
              </a:rPr>
              <a:t>chrome</a:t>
            </a:r>
            <a:endParaRPr lang="en-US" sz="950" dirty="0"/>
          </a:p>
        </p:txBody>
      </p:sp>
      <p:sp>
        <p:nvSpPr>
          <p:cNvPr id="22" name="Shape 20"/>
          <p:cNvSpPr/>
          <p:nvPr/>
        </p:nvSpPr>
        <p:spPr>
          <a:xfrm>
            <a:off x="5577840" y="1572768"/>
            <a:ext cx="3063240" cy="2487168"/>
          </a:xfrm>
          <a:prstGeom prst="rect">
            <a:avLst/>
          </a:prstGeom>
          <a:solidFill>
            <a:srgbClr val="FFFFFF"/>
          </a:solidFill>
          <a:ln w="12700">
            <a:solidFill>
              <a:srgbClr val="DFE5E1"/>
            </a:solidFill>
            <a:prstDash val="solid"/>
          </a:ln>
        </p:spPr>
      </p:sp>
      <p:sp>
        <p:nvSpPr>
          <p:cNvPr id="23" name="Text 21"/>
          <p:cNvSpPr/>
          <p:nvPr/>
        </p:nvSpPr>
        <p:spPr>
          <a:xfrm>
            <a:off x="5833872" y="1773936"/>
            <a:ext cx="2560320" cy="219456"/>
          </a:xfrm>
          <a:prstGeom prst="rect">
            <a:avLst/>
          </a:prstGeom>
          <a:noFill/>
          <a:ln/>
        </p:spPr>
        <p:txBody>
          <a:bodyPr wrap="square" lIns="0" tIns="0" rIns="0" bIns="0" rtlCol="0" anchor="ctr"/>
          <a:lstStyle/>
          <a:p>
            <a:pPr indent="0" marL="0">
              <a:buNone/>
            </a:pPr>
            <a:r>
              <a:rPr lang="en-US" sz="1000" b="1" spc="200" kern="0" dirty="0">
                <a:solidFill>
                  <a:srgbClr val="BB2233"/>
                </a:solidFill>
                <a:latin typeface="Calibri" pitchFamily="34" charset="0"/>
                <a:ea typeface="Calibri" pitchFamily="34" charset="-122"/>
                <a:cs typeface="Calibri" pitchFamily="34" charset="-120"/>
              </a:rPr>
              <a:t>REMOVED</a:t>
            </a:r>
            <a:endParaRPr lang="en-US" sz="1000" dirty="0"/>
          </a:p>
        </p:txBody>
      </p:sp>
      <p:sp>
        <p:nvSpPr>
          <p:cNvPr id="24" name="Text 22"/>
          <p:cNvSpPr/>
          <p:nvPr/>
        </p:nvSpPr>
        <p:spPr>
          <a:xfrm>
            <a:off x="5833872" y="2084832"/>
            <a:ext cx="2606040" cy="1828800"/>
          </a:xfrm>
          <a:prstGeom prst="rect">
            <a:avLst/>
          </a:prstGeom>
          <a:noFill/>
          <a:ln/>
        </p:spPr>
        <p:txBody>
          <a:bodyPr wrap="square" lIns="0" tIns="0" rIns="0" bIns="0" rtlCol="0" anchor="ctr"/>
          <a:lstStyle/>
          <a:p>
            <a:pPr indent="0" marL="0">
              <a:lnSpc>
                <a:spcPct val="104000"/>
              </a:lnSpc>
              <a:buNone/>
            </a:pPr>
            <a:r>
              <a:rPr lang="en-US" sz="1100" b="1" dirty="0">
                <a:solidFill>
                  <a:srgbClr val="47524D"/>
                </a:solidFill>
                <a:latin typeface="Calibri" pitchFamily="34" charset="0"/>
                <a:ea typeface="Calibri" pitchFamily="34" charset="-122"/>
                <a:cs typeface="Calibri" pitchFamily="34" charset="-120"/>
              </a:rPr>
              <a:t>146 emoji</a:t>
            </a:r>
            <a:endParaRPr lang="en-US" sz="1100" dirty="0"/>
          </a:p>
          <a:p>
            <a:pPr indent="0" marL="0">
              <a:lnSpc>
                <a:spcPct val="104000"/>
              </a:lnSpc>
              <a:buNone/>
            </a:pPr>
            <a:r>
              <a:rPr lang="en-US" sz="1100" dirty="0">
                <a:solidFill>
                  <a:srgbClr val="47524D"/>
                </a:solidFill>
                <a:latin typeface="Calibri" pitchFamily="34" charset="0"/>
                <a:ea typeface="Calibri" pitchFamily="34" charset="-122"/>
                <a:cs typeface="Calibri" pitchFamily="34" charset="-120"/>
              </a:rPr>
              <a:t>Replaced by a 50 glyph SVG set that inherits colour and is not read aloud as "skull".</a:t>
            </a:r>
            <a:endParaRPr lang="en-US" sz="1100" dirty="0"/>
          </a:p>
          <a:p>
            <a:pPr indent="0" marL="0">
              <a:lnSpc>
                <a:spcPct val="104000"/>
              </a:lnSpc>
              <a:buNone/>
            </a:pPr>
            <a:endParaRPr lang="en-US" sz="1100" dirty="0"/>
          </a:p>
          <a:p>
            <a:pPr indent="0" marL="0">
              <a:lnSpc>
                <a:spcPct val="104000"/>
              </a:lnSpc>
              <a:buNone/>
            </a:pPr>
            <a:r>
              <a:rPr lang="en-US" sz="1100" b="1" dirty="0">
                <a:solidFill>
                  <a:srgbClr val="47524D"/>
                </a:solidFill>
                <a:latin typeface="Calibri" pitchFamily="34" charset="0"/>
                <a:ea typeface="Calibri" pitchFamily="34" charset="-122"/>
                <a:cs typeface="Calibri" pitchFamily="34" charset="-120"/>
              </a:rPr>
              <a:t>Every gradient</a:t>
            </a:r>
            <a:endParaRPr lang="en-US" sz="1100" dirty="0"/>
          </a:p>
          <a:p>
            <a:pPr indent="0" marL="0">
              <a:lnSpc>
                <a:spcPct val="104000"/>
              </a:lnSpc>
              <a:buNone/>
            </a:pPr>
            <a:r>
              <a:rPr lang="en-US" sz="1100" dirty="0">
                <a:solidFill>
                  <a:srgbClr val="47524D"/>
                </a:solidFill>
                <a:latin typeface="Calibri" pitchFamily="34" charset="0"/>
                <a:ea typeface="Calibri" pitchFamily="34" charset="-122"/>
                <a:cs typeface="Calibri" pitchFamily="34" charset="-120"/>
              </a:rPr>
              <a:t>Indigo to violet on the logo, buttons, headings and progress bars.</a:t>
            </a:r>
            <a:endParaRPr lang="en-US" sz="1100" dirty="0"/>
          </a:p>
          <a:p>
            <a:pPr indent="0" marL="0">
              <a:lnSpc>
                <a:spcPct val="104000"/>
              </a:lnSpc>
              <a:buNone/>
            </a:pPr>
            <a:endParaRPr lang="en-US" sz="1100" dirty="0"/>
          </a:p>
          <a:p>
            <a:pPr indent="0" marL="0">
              <a:lnSpc>
                <a:spcPct val="104000"/>
              </a:lnSpc>
              <a:buNone/>
            </a:pPr>
            <a:r>
              <a:rPr lang="en-US" sz="1100" b="1" dirty="0">
                <a:solidFill>
                  <a:srgbClr val="47524D"/>
                </a:solidFill>
                <a:latin typeface="Calibri" pitchFamily="34" charset="0"/>
                <a:ea typeface="Calibri" pitchFamily="34" charset="-122"/>
                <a:cs typeface="Calibri" pitchFamily="34" charset="-120"/>
              </a:rPr>
              <a:t>20px radii</a:t>
            </a:r>
            <a:endParaRPr lang="en-US" sz="1100" dirty="0"/>
          </a:p>
          <a:p>
            <a:pPr indent="0" marL="0">
              <a:lnSpc>
                <a:spcPct val="104000"/>
              </a:lnSpc>
              <a:buNone/>
            </a:pPr>
            <a:r>
              <a:rPr lang="en-US" sz="1100" dirty="0">
                <a:solidFill>
                  <a:srgbClr val="47524D"/>
                </a:solidFill>
                <a:latin typeface="Calibri" pitchFamily="34" charset="0"/>
                <a:ea typeface="Calibri" pitchFamily="34" charset="-122"/>
                <a:cs typeface="Calibri" pitchFamily="34" charset="-120"/>
              </a:rPr>
              <a:t>A reporting tool should sit closer to a printed form.</a:t>
            </a:r>
            <a:endParaRPr lang="en-US" sz="1100" dirty="0"/>
          </a:p>
        </p:txBody>
      </p:sp>
      <p:sp>
        <p:nvSpPr>
          <p:cNvPr id="26" name="Text 23"/>
          <p:cNvSpPr/>
          <p:nvPr/>
        </p:nvSpPr>
        <p:spPr>
          <a:xfrm>
            <a:off x="502920" y="4759452"/>
            <a:ext cx="2743200" cy="201168"/>
          </a:xfrm>
          <a:prstGeom prst="rect">
            <a:avLst/>
          </a:prstGeom>
          <a:noFill/>
          <a:ln/>
        </p:spPr>
        <p:txBody>
          <a:bodyPr wrap="square" lIns="0" tIns="0" rIns="0" bIns="0" rtlCol="0" anchor="ctr"/>
          <a:lstStyle/>
          <a:p>
            <a:pPr indent="0" marL="0">
              <a:buNone/>
            </a:pPr>
            <a:r>
              <a:rPr lang="en-US" sz="900" dirty="0">
                <a:solidFill>
                  <a:srgbClr val="5C6862"/>
                </a:solidFill>
                <a:latin typeface="Calibri" pitchFamily="34" charset="0"/>
                <a:ea typeface="Calibri" pitchFamily="34" charset="-122"/>
                <a:cs typeface="Calibri" pitchFamily="34" charset="-120"/>
              </a:rPr>
              <a:t>GovSpirit</a:t>
            </a:r>
            <a:endParaRPr lang="en-US" sz="900" dirty="0"/>
          </a:p>
        </p:txBody>
      </p:sp>
      <p:sp>
        <p:nvSpPr>
          <p:cNvPr id="27" name="Text 24"/>
          <p:cNvSpPr/>
          <p:nvPr/>
        </p:nvSpPr>
        <p:spPr>
          <a:xfrm>
            <a:off x="7726680" y="4759452"/>
            <a:ext cx="914400" cy="201168"/>
          </a:xfrm>
          <a:prstGeom prst="rect">
            <a:avLst/>
          </a:prstGeom>
          <a:noFill/>
          <a:ln/>
        </p:spPr>
        <p:txBody>
          <a:bodyPr wrap="square" lIns="0" tIns="0" rIns="0" bIns="0" rtlCol="0" anchor="ctr"/>
          <a:lstStyle/>
          <a:p>
            <a:pPr algn="r" indent="0" marL="0">
              <a:buNone/>
            </a:pPr>
            <a:r>
              <a:rPr lang="en-US" sz="900" dirty="0">
                <a:solidFill>
                  <a:srgbClr val="5C6862"/>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4F2"/>
        </a:solidFill>
      </p:bgPr>
    </p:bg>
    <p:spTree>
      <p:nvGrpSpPr>
        <p:cNvPr id="1" name=""/>
        <p:cNvGrpSpPr/>
        <p:nvPr/>
      </p:nvGrpSpPr>
      <p:grpSpPr>
        <a:xfrm>
          <a:off x="0" y="0"/>
          <a:ext cx="0" cy="0"/>
          <a:chOff x="0" y="0"/>
          <a:chExt cx="0" cy="0"/>
        </a:xfrm>
      </p:grpSpPr>
      <p:sp>
        <p:nvSpPr>
          <p:cNvPr id="2" name="Shape 0"/>
          <p:cNvSpPr/>
          <p:nvPr/>
        </p:nvSpPr>
        <p:spPr>
          <a:xfrm>
            <a:off x="502920" y="452628"/>
            <a:ext cx="91440" cy="91440"/>
          </a:xfrm>
          <a:prstGeom prst="rect">
            <a:avLst/>
          </a:prstGeom>
          <a:solidFill>
            <a:srgbClr val="C07A2C"/>
          </a:solidFill>
          <a:ln/>
        </p:spPr>
      </p:sp>
      <p:sp>
        <p:nvSpPr>
          <p:cNvPr id="3" name="Text 1"/>
          <p:cNvSpPr/>
          <p:nvPr/>
        </p:nvSpPr>
        <p:spPr>
          <a:xfrm>
            <a:off x="704088" y="402336"/>
            <a:ext cx="5486400" cy="219456"/>
          </a:xfrm>
          <a:prstGeom prst="rect">
            <a:avLst/>
          </a:prstGeom>
          <a:noFill/>
          <a:ln/>
        </p:spPr>
        <p:txBody>
          <a:bodyPr wrap="square" lIns="0" tIns="0" rIns="0" bIns="0" rtlCol="0" anchor="ctr"/>
          <a:lstStyle/>
          <a:p>
            <a:pPr indent="0" marL="0">
              <a:buNone/>
            </a:pPr>
            <a:r>
              <a:rPr lang="en-US" sz="1000" b="1" spc="240" kern="0" dirty="0">
                <a:solidFill>
                  <a:srgbClr val="5C6862"/>
                </a:solidFill>
                <a:latin typeface="Calibri" pitchFamily="34" charset="0"/>
                <a:ea typeface="Calibri" pitchFamily="34" charset="-122"/>
                <a:cs typeface="Calibri" pitchFamily="34" charset="-120"/>
              </a:rPr>
              <a:t>RESULTS</a:t>
            </a:r>
            <a:endParaRPr lang="en-US" sz="1000" dirty="0"/>
          </a:p>
        </p:txBody>
      </p:sp>
      <p:sp>
        <p:nvSpPr>
          <p:cNvPr id="4" name="Text 2"/>
          <p:cNvSpPr/>
          <p:nvPr/>
        </p:nvSpPr>
        <p:spPr>
          <a:xfrm>
            <a:off x="502920" y="786384"/>
            <a:ext cx="8138160" cy="713232"/>
          </a:xfrm>
          <a:prstGeom prst="rect">
            <a:avLst/>
          </a:prstGeom>
          <a:noFill/>
          <a:ln/>
        </p:spPr>
        <p:txBody>
          <a:bodyPr wrap="square" lIns="0" tIns="0" rIns="0" bIns="0" rtlCol="0" anchor="t"/>
          <a:lstStyle/>
          <a:p>
            <a:pPr indent="0" marL="0">
              <a:lnSpc>
                <a:spcPct val="94000"/>
              </a:lnSpc>
              <a:buNone/>
            </a:pPr>
            <a:r>
              <a:rPr lang="en-US" sz="3000" b="1" dirty="0">
                <a:solidFill>
                  <a:srgbClr val="121614"/>
                </a:solidFill>
                <a:latin typeface="Georgia" pitchFamily="34" charset="0"/>
                <a:ea typeface="Georgia" pitchFamily="34" charset="-122"/>
                <a:cs typeface="Georgia" pitchFamily="34" charset="-120"/>
              </a:rPr>
              <a:t>Version 1 against version 2</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572768"/>
          <a:ext cx="8138160" cy="914400"/>
        </p:xfrm>
        <a:graphic>
          <a:graphicData uri="http://schemas.openxmlformats.org/drawingml/2006/table">
            <a:tbl>
              <a:tblPr/>
              <a:tblGrid>
                <a:gridCol w="4846320"/>
                <a:gridCol w="1627632"/>
                <a:gridCol w="1664208"/>
              </a:tblGrid>
              <a:tr h="30632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Measure</a:t>
                      </a:r>
                      <a:endParaRPr lang="en-US" sz="1150" dirty="0">
                        <a:latin typeface="Calibri" charset="0"/>
                        <a:ea typeface="Calibri" charset="0"/>
                        <a:cs typeface="Calibri" charset="0"/>
                      </a:endParaRPr>
                    </a:p>
                  </a:txBody>
                  <a:tcPr marL="109728" marR="109728" marT="36576" marB="36576" anchor="ctr">
                    <a:lnL w="6350" cap="flat" cmpd="sng" algn="ctr">
                      <a:solidFill>
                        <a:srgbClr val="DFE5E1"/>
                      </a:solidFill>
                      <a:prstDash val="solid"/>
                      <a:round/>
                      <a:headEnd type="none" w="med" len="med"/>
                      <a:tailEnd type="none" w="med" len="med"/>
                    </a:lnL>
                    <a:lnR w="6350" cap="flat" cmpd="sng" algn="ctr">
                      <a:solidFill>
                        <a:srgbClr val="DFE5E1"/>
                      </a:solidFill>
                      <a:prstDash val="solid"/>
                      <a:round/>
                      <a:headEnd type="none" w="med" len="med"/>
                      <a:tailEnd type="none" w="med" len="med"/>
                    </a:lnR>
                    <a:lnT w="6350" cap="flat" cmpd="sng" algn="ctr">
                      <a:solidFill>
                        <a:srgbClr val="DFE5E1"/>
                      </a:solidFill>
                      <a:prstDash val="solid"/>
                      <a:round/>
                      <a:headEnd type="none" w="med" len="med"/>
                      <a:tailEnd type="none" w="med" len="med"/>
                    </a:lnT>
                    <a:lnB w="6350" cap="flat" cmpd="sng" algn="ctr">
                      <a:solidFill>
                        <a:srgbClr val="DFE5E1"/>
                      </a:solidFill>
                      <a:prstDash val="solid"/>
                      <a:round/>
                      <a:headEnd type="none" w="med" len="med"/>
                      <a:tailEnd type="none" w="med" len="med"/>
                    </a:lnB>
                    <a:solidFill>
                      <a:srgbClr val="0F6F62"/>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Version 1</a:t>
                      </a:r>
                      <a:endParaRPr lang="en-US" sz="1150" dirty="0">
                        <a:latin typeface="Calibri" charset="0"/>
                        <a:ea typeface="Calibri" charset="0"/>
                        <a:cs typeface="Calibri" charset="0"/>
                      </a:endParaRPr>
                    </a:p>
                  </a:txBody>
                  <a:tcPr marL="109728" marR="109728" marT="36576" marB="36576" anchor="ctr">
                    <a:lnL w="6350" cap="flat" cmpd="sng" algn="ctr">
                      <a:solidFill>
                        <a:srgbClr val="DFE5E1"/>
                      </a:solidFill>
                      <a:prstDash val="solid"/>
                      <a:round/>
                      <a:headEnd type="none" w="med" len="med"/>
                      <a:tailEnd type="none" w="med" len="med"/>
                    </a:lnL>
                    <a:lnR w="6350" cap="flat" cmpd="sng" algn="ctr">
                      <a:solidFill>
                        <a:srgbClr val="DFE5E1"/>
                      </a:solidFill>
                      <a:prstDash val="solid"/>
                      <a:round/>
                      <a:headEnd type="none" w="med" len="med"/>
                      <a:tailEnd type="none" w="med" len="med"/>
                    </a:lnR>
                    <a:lnT w="6350" cap="flat" cmpd="sng" algn="ctr">
                      <a:solidFill>
                        <a:srgbClr val="DFE5E1"/>
                      </a:solidFill>
                      <a:prstDash val="solid"/>
                      <a:round/>
                      <a:headEnd type="none" w="med" len="med"/>
                      <a:tailEnd type="none" w="med" len="med"/>
                    </a:lnT>
                    <a:lnB w="6350" cap="flat" cmpd="sng" algn="ctr">
                      <a:solidFill>
                        <a:srgbClr val="DFE5E1"/>
                      </a:solidFill>
                      <a:prstDash val="solid"/>
                      <a:round/>
                      <a:headEnd type="none" w="med" len="med"/>
                      <a:tailEnd type="none" w="med" len="med"/>
                    </a:lnB>
                    <a:solidFill>
                      <a:srgbClr val="0F6F62"/>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Version 2</a:t>
                      </a:r>
                      <a:endParaRPr lang="en-US" sz="1150" dirty="0">
                        <a:latin typeface="Calibri" charset="0"/>
                        <a:ea typeface="Calibri" charset="0"/>
                        <a:cs typeface="Calibri" charset="0"/>
                      </a:endParaRPr>
                    </a:p>
                  </a:txBody>
                  <a:tcPr marL="109728" marR="109728" marT="36576" marB="36576" anchor="ctr">
                    <a:lnL w="6350" cap="flat" cmpd="sng" algn="ctr">
                      <a:solidFill>
                        <a:srgbClr val="DFE5E1"/>
                      </a:solidFill>
                      <a:prstDash val="solid"/>
                      <a:round/>
                      <a:headEnd type="none" w="med" len="med"/>
                      <a:tailEnd type="none" w="med" len="med"/>
                    </a:lnL>
                    <a:lnR w="6350" cap="flat" cmpd="sng" algn="ctr">
                      <a:solidFill>
                        <a:srgbClr val="DFE5E1"/>
                      </a:solidFill>
                      <a:prstDash val="solid"/>
                      <a:round/>
                      <a:headEnd type="none" w="med" len="med"/>
                      <a:tailEnd type="none" w="med" len="med"/>
                    </a:lnR>
                    <a:lnT w="6350" cap="flat" cmpd="sng" algn="ctr">
                      <a:solidFill>
                        <a:srgbClr val="DFE5E1"/>
                      </a:solidFill>
                      <a:prstDash val="solid"/>
                      <a:round/>
                      <a:headEnd type="none" w="med" len="med"/>
                      <a:tailEnd type="none" w="med" len="med"/>
                    </a:lnT>
                    <a:lnB w="6350" cap="flat" cmpd="sng" algn="ctr">
                      <a:solidFill>
                        <a:srgbClr val="DFE5E1"/>
                      </a:solidFill>
                      <a:prstDash val="solid"/>
                      <a:round/>
                      <a:headEnd type="none" w="med" len="med"/>
                      <a:tailEnd type="none" w="med" len="med"/>
                    </a:lnB>
                    <a:solidFill>
                      <a:srgbClr val="0F6F62"/>
                    </a:solidFill>
                  </a:tcPr>
                </a:tc>
              </a:tr>
              <a:tr h="306324">
                <a:tc>
                  <a:txBody>
                    <a:bodyPr/>
                    <a:lstStyle/>
                    <a:p>
                      <a:pPr indent="0" marL="0">
                        <a:buNone/>
                      </a:pPr>
                      <a:r>
                        <a:rPr lang="en-US" sz="1150" dirty="0">
                          <a:solidFill>
                            <a:srgbClr val="121614"/>
                          </a:solidFill>
                          <a:latin typeface="Calibri" pitchFamily="34" charset="0"/>
                          <a:ea typeface="Calibri" pitchFamily="34" charset="-122"/>
                          <a:cs typeface="Calibri" pitchFamily="34" charset="-120"/>
                        </a:rPr>
                        <a:t>Correctness faults in the data path</a:t>
                      </a:r>
                      <a:endParaRPr lang="en-US" sz="1150" dirty="0">
                        <a:latin typeface="Calibri" charset="0"/>
                        <a:ea typeface="Calibri" charset="0"/>
                        <a:cs typeface="Calibri" charset="0"/>
                      </a:endParaRPr>
                    </a:p>
                  </a:txBody>
                  <a:tcPr marL="109728" marR="109728" marT="36576" marB="36576" anchor="ctr">
                    <a:lnL w="6350" cap="flat" cmpd="sng" algn="ctr">
                      <a:solidFill>
                        <a:srgbClr val="DFE5E1"/>
                      </a:solidFill>
                      <a:prstDash val="solid"/>
                      <a:round/>
                      <a:headEnd type="none" w="med" len="med"/>
                      <a:tailEnd type="none" w="med" len="med"/>
                    </a:lnL>
                    <a:lnR w="6350" cap="flat" cmpd="sng" algn="ctr">
                      <a:solidFill>
                        <a:srgbClr val="DFE5E1"/>
                      </a:solidFill>
                      <a:prstDash val="solid"/>
                      <a:round/>
                      <a:headEnd type="none" w="med" len="med"/>
                      <a:tailEnd type="none" w="med" len="med"/>
                    </a:lnR>
                    <a:lnT w="6350" cap="flat" cmpd="sng" algn="ctr">
                      <a:solidFill>
                        <a:srgbClr val="DFE5E1"/>
                      </a:solidFill>
                      <a:prstDash val="solid"/>
                      <a:round/>
                      <a:headEnd type="none" w="med" len="med"/>
                      <a:tailEnd type="none" w="med" len="med"/>
                    </a:lnT>
                    <a:lnB w="6350" cap="flat" cmpd="sng" algn="ctr">
                      <a:solidFill>
                        <a:srgbClr val="DFE5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C6862"/>
                          </a:solidFill>
                          <a:latin typeface="Calibri" pitchFamily="34" charset="0"/>
                          <a:ea typeface="Calibri" pitchFamily="34" charset="-122"/>
                          <a:cs typeface="Calibri" pitchFamily="34" charset="-120"/>
                        </a:rPr>
                        <a:t>6 known</a:t>
                      </a:r>
                      <a:endParaRPr lang="en-US" sz="1150" dirty="0">
                        <a:latin typeface="Calibri" charset="0"/>
                        <a:ea typeface="Calibri" charset="0"/>
                        <a:cs typeface="Calibri" charset="0"/>
                      </a:endParaRPr>
                    </a:p>
                  </a:txBody>
                  <a:tcPr marL="109728" marR="109728" marT="36576" marB="36576" anchor="ctr">
                    <a:lnL w="6350" cap="flat" cmpd="sng" algn="ctr">
                      <a:solidFill>
                        <a:srgbClr val="DFE5E1"/>
                      </a:solidFill>
                      <a:prstDash val="solid"/>
                      <a:round/>
                      <a:headEnd type="none" w="med" len="med"/>
                      <a:tailEnd type="none" w="med" len="med"/>
                    </a:lnL>
                    <a:lnR w="6350" cap="flat" cmpd="sng" algn="ctr">
                      <a:solidFill>
                        <a:srgbClr val="DFE5E1"/>
                      </a:solidFill>
                      <a:prstDash val="solid"/>
                      <a:round/>
                      <a:headEnd type="none" w="med" len="med"/>
                      <a:tailEnd type="none" w="med" len="med"/>
                    </a:lnR>
                    <a:lnT w="6350" cap="flat" cmpd="sng" algn="ctr">
                      <a:solidFill>
                        <a:srgbClr val="DFE5E1"/>
                      </a:solidFill>
                      <a:prstDash val="solid"/>
                      <a:round/>
                      <a:headEnd type="none" w="med" len="med"/>
                      <a:tailEnd type="none" w="med" len="med"/>
                    </a:lnT>
                    <a:lnB w="6350" cap="flat" cmpd="sng" algn="ctr">
                      <a:solidFill>
                        <a:srgbClr val="DFE5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F7A4D"/>
                          </a:solidFill>
                          <a:latin typeface="Calibri" pitchFamily="34" charset="0"/>
                          <a:ea typeface="Calibri" pitchFamily="34" charset="-122"/>
                          <a:cs typeface="Calibri" pitchFamily="34" charset="-120"/>
                        </a:rPr>
                        <a:t>0 known</a:t>
                      </a:r>
                      <a:endParaRPr lang="en-US" sz="1150" dirty="0">
                        <a:latin typeface="Calibri" charset="0"/>
                        <a:ea typeface="Calibri" charset="0"/>
                        <a:cs typeface="Calibri" charset="0"/>
                      </a:endParaRPr>
                    </a:p>
                  </a:txBody>
                  <a:tcPr marL="109728" marR="109728" marT="36576" marB="36576" anchor="ctr">
                    <a:lnL w="6350" cap="flat" cmpd="sng" algn="ctr">
                      <a:solidFill>
                        <a:srgbClr val="DFE5E1"/>
                      </a:solidFill>
                      <a:prstDash val="solid"/>
                      <a:round/>
                      <a:headEnd type="none" w="med" len="med"/>
                      <a:tailEnd type="none" w="med" len="med"/>
                    </a:lnL>
                    <a:lnR w="6350" cap="flat" cmpd="sng" algn="ctr">
                      <a:solidFill>
                        <a:srgbClr val="DFE5E1"/>
                      </a:solidFill>
                      <a:prstDash val="solid"/>
                      <a:round/>
                      <a:headEnd type="none" w="med" len="med"/>
                      <a:tailEnd type="none" w="med" len="med"/>
                    </a:lnR>
                    <a:lnT w="6350" cap="flat" cmpd="sng" algn="ctr">
                      <a:solidFill>
                        <a:srgbClr val="DFE5E1"/>
                      </a:solidFill>
                      <a:prstDash val="solid"/>
                      <a:round/>
                      <a:headEnd type="none" w="med" len="med"/>
                      <a:tailEnd type="none" w="med" len="med"/>
                    </a:lnT>
                    <a:lnB w="6350" cap="flat" cmpd="sng" algn="ctr">
                      <a:solidFill>
                        <a:srgbClr val="DFE5E1"/>
                      </a:solidFill>
                      <a:prstDash val="solid"/>
                      <a:round/>
                      <a:headEnd type="none" w="med" len="med"/>
                      <a:tailEnd type="none" w="med" len="med"/>
                    </a:lnB>
                    <a:solidFill>
                      <a:srgbClr val="FFFFFF"/>
                    </a:solidFill>
                  </a:tcPr>
                </a:tc>
              </a:tr>
              <a:tr h="306324">
                <a:tc>
                  <a:txBody>
                    <a:bodyPr/>
                    <a:lstStyle/>
                    <a:p>
                      <a:pPr indent="0" marL="0">
                        <a:buNone/>
                      </a:pPr>
                      <a:r>
                        <a:rPr lang="en-US" sz="1150" dirty="0">
                          <a:solidFill>
                            <a:srgbClr val="121614"/>
                          </a:solidFill>
                          <a:latin typeface="Calibri" pitchFamily="34" charset="0"/>
                          <a:ea typeface="Calibri" pitchFamily="34" charset="-122"/>
                          <a:cs typeface="Calibri" pitchFamily="34" charset="-120"/>
                        </a:rPr>
                        <a:t>Metrics invented when data was absent</a:t>
                      </a:r>
                      <a:endParaRPr lang="en-US" sz="1150" dirty="0">
                        <a:latin typeface="Calibri" charset="0"/>
                        <a:ea typeface="Calibri" charset="0"/>
                        <a:cs typeface="Calibri" charset="0"/>
                      </a:endParaRPr>
                    </a:p>
                  </a:txBody>
                  <a:tcPr marL="109728" marR="109728" marT="36576" marB="36576" anchor="ctr">
                    <a:lnL w="6350" cap="flat" cmpd="sng" algn="ctr">
                      <a:solidFill>
                        <a:srgbClr val="DFE5E1"/>
                      </a:solidFill>
                      <a:prstDash val="solid"/>
                      <a:round/>
                      <a:headEnd type="none" w="med" len="med"/>
                      <a:tailEnd type="none" w="med" len="med"/>
                    </a:lnL>
                    <a:lnR w="6350" cap="flat" cmpd="sng" algn="ctr">
                      <a:solidFill>
                        <a:srgbClr val="DFE5E1"/>
                      </a:solidFill>
                      <a:prstDash val="solid"/>
                      <a:round/>
                      <a:headEnd type="none" w="med" len="med"/>
                      <a:tailEnd type="none" w="med" len="med"/>
                    </a:lnR>
                    <a:lnT w="6350" cap="flat" cmpd="sng" algn="ctr">
                      <a:solidFill>
                        <a:srgbClr val="DFE5E1"/>
                      </a:solidFill>
                      <a:prstDash val="solid"/>
                      <a:round/>
                      <a:headEnd type="none" w="med" len="med"/>
                      <a:tailEnd type="none" w="med" len="med"/>
                    </a:lnT>
                    <a:lnB w="6350" cap="flat" cmpd="sng" algn="ctr">
                      <a:solidFill>
                        <a:srgbClr val="DFE5E1"/>
                      </a:solidFill>
                      <a:prstDash val="solid"/>
                      <a:round/>
                      <a:headEnd type="none" w="med" len="med"/>
                      <a:tailEnd type="none" w="med" len="med"/>
                    </a:lnB>
                    <a:solidFill>
                      <a:srgbClr val="F2F4F2"/>
                    </a:solidFill>
                  </a:tcPr>
                </a:tc>
                <a:tc>
                  <a:txBody>
                    <a:bodyPr/>
                    <a:lstStyle/>
                    <a:p>
                      <a:pPr algn="ctr" indent="0" marL="0">
                        <a:buNone/>
                      </a:pPr>
                      <a:r>
                        <a:rPr lang="en-US" sz="1150" dirty="0">
                          <a:solidFill>
                            <a:srgbClr val="5C6862"/>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109728" marR="109728" marT="36576" marB="36576" anchor="ctr">
                    <a:lnL w="6350" cap="flat" cmpd="sng" algn="ctr">
                      <a:solidFill>
                        <a:srgbClr val="DFE5E1"/>
                      </a:solidFill>
                      <a:prstDash val="solid"/>
                      <a:round/>
                      <a:headEnd type="none" w="med" len="med"/>
                      <a:tailEnd type="none" w="med" len="med"/>
                    </a:lnL>
                    <a:lnR w="6350" cap="flat" cmpd="sng" algn="ctr">
                      <a:solidFill>
                        <a:srgbClr val="DFE5E1"/>
                      </a:solidFill>
                      <a:prstDash val="solid"/>
                      <a:round/>
                      <a:headEnd type="none" w="med" len="med"/>
                      <a:tailEnd type="none" w="med" len="med"/>
                    </a:lnR>
                    <a:lnT w="6350" cap="flat" cmpd="sng" algn="ctr">
                      <a:solidFill>
                        <a:srgbClr val="DFE5E1"/>
                      </a:solidFill>
                      <a:prstDash val="solid"/>
                      <a:round/>
                      <a:headEnd type="none" w="med" len="med"/>
                      <a:tailEnd type="none" w="med" len="med"/>
                    </a:lnT>
                    <a:lnB w="6350" cap="flat" cmpd="sng" algn="ctr">
                      <a:solidFill>
                        <a:srgbClr val="DFE5E1"/>
                      </a:solidFill>
                      <a:prstDash val="solid"/>
                      <a:round/>
                      <a:headEnd type="none" w="med" len="med"/>
                      <a:tailEnd type="none" w="med" len="med"/>
                    </a:lnB>
                    <a:solidFill>
                      <a:srgbClr val="F2F4F2"/>
                    </a:solidFill>
                  </a:tcPr>
                </a:tc>
                <a:tc>
                  <a:txBody>
                    <a:bodyPr/>
                    <a:lstStyle/>
                    <a:p>
                      <a:pPr algn="ctr" indent="0" marL="0">
                        <a:buNone/>
                      </a:pPr>
                      <a:r>
                        <a:rPr lang="en-US" sz="1150" b="1" dirty="0">
                          <a:solidFill>
                            <a:srgbClr val="1F7A4D"/>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109728" marR="109728" marT="36576" marB="36576" anchor="ctr">
                    <a:lnL w="6350" cap="flat" cmpd="sng" algn="ctr">
                      <a:solidFill>
                        <a:srgbClr val="DFE5E1"/>
                      </a:solidFill>
                      <a:prstDash val="solid"/>
                      <a:round/>
                      <a:headEnd type="none" w="med" len="med"/>
                      <a:tailEnd type="none" w="med" len="med"/>
                    </a:lnL>
                    <a:lnR w="6350" cap="flat" cmpd="sng" algn="ctr">
                      <a:solidFill>
                        <a:srgbClr val="DFE5E1"/>
                      </a:solidFill>
                      <a:prstDash val="solid"/>
                      <a:round/>
                      <a:headEnd type="none" w="med" len="med"/>
                      <a:tailEnd type="none" w="med" len="med"/>
                    </a:lnR>
                    <a:lnT w="6350" cap="flat" cmpd="sng" algn="ctr">
                      <a:solidFill>
                        <a:srgbClr val="DFE5E1"/>
                      </a:solidFill>
                      <a:prstDash val="solid"/>
                      <a:round/>
                      <a:headEnd type="none" w="med" len="med"/>
                      <a:tailEnd type="none" w="med" len="med"/>
                    </a:lnT>
                    <a:lnB w="6350" cap="flat" cmpd="sng" algn="ctr">
                      <a:solidFill>
                        <a:srgbClr val="DFE5E1"/>
                      </a:solidFill>
                      <a:prstDash val="solid"/>
                      <a:round/>
                      <a:headEnd type="none" w="med" len="med"/>
                      <a:tailEnd type="none" w="med" len="med"/>
                    </a:lnB>
                    <a:solidFill>
                      <a:srgbClr val="F2F4F2"/>
                    </a:solidFill>
                  </a:tcPr>
                </a:tc>
              </a:tr>
              <a:tr h="306324">
                <a:tc>
                  <a:txBody>
                    <a:bodyPr/>
                    <a:lstStyle/>
                    <a:p>
                      <a:pPr indent="0" marL="0">
                        <a:buNone/>
                      </a:pPr>
                      <a:r>
                        <a:rPr lang="en-US" sz="1150" dirty="0">
                          <a:solidFill>
                            <a:srgbClr val="121614"/>
                          </a:solidFill>
                          <a:latin typeface="Calibri" pitchFamily="34" charset="0"/>
                          <a:ea typeface="Calibri" pitchFamily="34" charset="-122"/>
                          <a:cs typeface="Calibri" pitchFamily="34" charset="-120"/>
                        </a:rPr>
                        <a:t>Unescaped render paths</a:t>
                      </a:r>
                      <a:endParaRPr lang="en-US" sz="1150" dirty="0">
                        <a:latin typeface="Calibri" charset="0"/>
                        <a:ea typeface="Calibri" charset="0"/>
                        <a:cs typeface="Calibri" charset="0"/>
                      </a:endParaRPr>
                    </a:p>
                  </a:txBody>
                  <a:tcPr marL="109728" marR="109728" marT="36576" marB="36576" anchor="ctr">
                    <a:lnL w="6350" cap="flat" cmpd="sng" algn="ctr">
                      <a:solidFill>
                        <a:srgbClr val="DFE5E1"/>
                      </a:solidFill>
                      <a:prstDash val="solid"/>
                      <a:round/>
                      <a:headEnd type="none" w="med" len="med"/>
                      <a:tailEnd type="none" w="med" len="med"/>
                    </a:lnL>
                    <a:lnR w="6350" cap="flat" cmpd="sng" algn="ctr">
                      <a:solidFill>
                        <a:srgbClr val="DFE5E1"/>
                      </a:solidFill>
                      <a:prstDash val="solid"/>
                      <a:round/>
                      <a:headEnd type="none" w="med" len="med"/>
                      <a:tailEnd type="none" w="med" len="med"/>
                    </a:lnR>
                    <a:lnT w="6350" cap="flat" cmpd="sng" algn="ctr">
                      <a:solidFill>
                        <a:srgbClr val="DFE5E1"/>
                      </a:solidFill>
                      <a:prstDash val="solid"/>
                      <a:round/>
                      <a:headEnd type="none" w="med" len="med"/>
                      <a:tailEnd type="none" w="med" len="med"/>
                    </a:lnT>
                    <a:lnB w="6350" cap="flat" cmpd="sng" algn="ctr">
                      <a:solidFill>
                        <a:srgbClr val="DFE5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C6862"/>
                          </a:solidFill>
                          <a:latin typeface="Calibri" pitchFamily="34" charset="0"/>
                          <a:ea typeface="Calibri" pitchFamily="34" charset="-122"/>
                          <a:cs typeface="Calibri" pitchFamily="34" charset="-120"/>
                        </a:rPr>
                        <a:t>all</a:t>
                      </a:r>
                      <a:endParaRPr lang="en-US" sz="1150" dirty="0">
                        <a:latin typeface="Calibri" charset="0"/>
                        <a:ea typeface="Calibri" charset="0"/>
                        <a:cs typeface="Calibri" charset="0"/>
                      </a:endParaRPr>
                    </a:p>
                  </a:txBody>
                  <a:tcPr marL="109728" marR="109728" marT="36576" marB="36576" anchor="ctr">
                    <a:lnL w="6350" cap="flat" cmpd="sng" algn="ctr">
                      <a:solidFill>
                        <a:srgbClr val="DFE5E1"/>
                      </a:solidFill>
                      <a:prstDash val="solid"/>
                      <a:round/>
                      <a:headEnd type="none" w="med" len="med"/>
                      <a:tailEnd type="none" w="med" len="med"/>
                    </a:lnL>
                    <a:lnR w="6350" cap="flat" cmpd="sng" algn="ctr">
                      <a:solidFill>
                        <a:srgbClr val="DFE5E1"/>
                      </a:solidFill>
                      <a:prstDash val="solid"/>
                      <a:round/>
                      <a:headEnd type="none" w="med" len="med"/>
                      <a:tailEnd type="none" w="med" len="med"/>
                    </a:lnR>
                    <a:lnT w="6350" cap="flat" cmpd="sng" algn="ctr">
                      <a:solidFill>
                        <a:srgbClr val="DFE5E1"/>
                      </a:solidFill>
                      <a:prstDash val="solid"/>
                      <a:round/>
                      <a:headEnd type="none" w="med" len="med"/>
                      <a:tailEnd type="none" w="med" len="med"/>
                    </a:lnT>
                    <a:lnB w="6350" cap="flat" cmpd="sng" algn="ctr">
                      <a:solidFill>
                        <a:srgbClr val="DFE5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F7A4D"/>
                          </a:solidFill>
                          <a:latin typeface="Calibri" pitchFamily="34" charset="0"/>
                          <a:ea typeface="Calibri" pitchFamily="34" charset="-122"/>
                          <a:cs typeface="Calibri" pitchFamily="34" charset="-120"/>
                        </a:rPr>
                        <a:t>none</a:t>
                      </a:r>
                      <a:endParaRPr lang="en-US" sz="1150" dirty="0">
                        <a:latin typeface="Calibri" charset="0"/>
                        <a:ea typeface="Calibri" charset="0"/>
                        <a:cs typeface="Calibri" charset="0"/>
                      </a:endParaRPr>
                    </a:p>
                  </a:txBody>
                  <a:tcPr marL="109728" marR="109728" marT="36576" marB="36576" anchor="ctr">
                    <a:lnL w="6350" cap="flat" cmpd="sng" algn="ctr">
                      <a:solidFill>
                        <a:srgbClr val="DFE5E1"/>
                      </a:solidFill>
                      <a:prstDash val="solid"/>
                      <a:round/>
                      <a:headEnd type="none" w="med" len="med"/>
                      <a:tailEnd type="none" w="med" len="med"/>
                    </a:lnL>
                    <a:lnR w="6350" cap="flat" cmpd="sng" algn="ctr">
                      <a:solidFill>
                        <a:srgbClr val="DFE5E1"/>
                      </a:solidFill>
                      <a:prstDash val="solid"/>
                      <a:round/>
                      <a:headEnd type="none" w="med" len="med"/>
                      <a:tailEnd type="none" w="med" len="med"/>
                    </a:lnR>
                    <a:lnT w="6350" cap="flat" cmpd="sng" algn="ctr">
                      <a:solidFill>
                        <a:srgbClr val="DFE5E1"/>
                      </a:solidFill>
                      <a:prstDash val="solid"/>
                      <a:round/>
                      <a:headEnd type="none" w="med" len="med"/>
                      <a:tailEnd type="none" w="med" len="med"/>
                    </a:lnT>
                    <a:lnB w="6350" cap="flat" cmpd="sng" algn="ctr">
                      <a:solidFill>
                        <a:srgbClr val="DFE5E1"/>
                      </a:solidFill>
                      <a:prstDash val="solid"/>
                      <a:round/>
                      <a:headEnd type="none" w="med" len="med"/>
                      <a:tailEnd type="none" w="med" len="med"/>
                    </a:lnB>
                    <a:solidFill>
                      <a:srgbClr val="FFFFFF"/>
                    </a:solidFill>
                  </a:tcPr>
                </a:tc>
              </a:tr>
              <a:tr h="306324">
                <a:tc>
                  <a:txBody>
                    <a:bodyPr/>
                    <a:lstStyle/>
                    <a:p>
                      <a:pPr indent="0" marL="0">
                        <a:buNone/>
                      </a:pPr>
                      <a:r>
                        <a:rPr lang="en-US" sz="1150" dirty="0">
                          <a:solidFill>
                            <a:srgbClr val="121614"/>
                          </a:solidFill>
                          <a:latin typeface="Calibri" pitchFamily="34" charset="0"/>
                          <a:ea typeface="Calibri" pitchFamily="34" charset="-122"/>
                          <a:cs typeface="Calibri" pitchFamily="34" charset="-120"/>
                        </a:rPr>
                        <a:t>Dead code shipped to the browser</a:t>
                      </a:r>
                      <a:endParaRPr lang="en-US" sz="1150" dirty="0">
                        <a:latin typeface="Calibri" charset="0"/>
                        <a:ea typeface="Calibri" charset="0"/>
                        <a:cs typeface="Calibri" charset="0"/>
                      </a:endParaRPr>
                    </a:p>
                  </a:txBody>
                  <a:tcPr marL="109728" marR="109728" marT="36576" marB="36576" anchor="ctr">
                    <a:lnL w="6350" cap="flat" cmpd="sng" algn="ctr">
                      <a:solidFill>
                        <a:srgbClr val="DFE5E1"/>
                      </a:solidFill>
                      <a:prstDash val="solid"/>
                      <a:round/>
                      <a:headEnd type="none" w="med" len="med"/>
                      <a:tailEnd type="none" w="med" len="med"/>
                    </a:lnL>
                    <a:lnR w="6350" cap="flat" cmpd="sng" algn="ctr">
                      <a:solidFill>
                        <a:srgbClr val="DFE5E1"/>
                      </a:solidFill>
                      <a:prstDash val="solid"/>
                      <a:round/>
                      <a:headEnd type="none" w="med" len="med"/>
                      <a:tailEnd type="none" w="med" len="med"/>
                    </a:lnR>
                    <a:lnT w="6350" cap="flat" cmpd="sng" algn="ctr">
                      <a:solidFill>
                        <a:srgbClr val="DFE5E1"/>
                      </a:solidFill>
                      <a:prstDash val="solid"/>
                      <a:round/>
                      <a:headEnd type="none" w="med" len="med"/>
                      <a:tailEnd type="none" w="med" len="med"/>
                    </a:lnT>
                    <a:lnB w="6350" cap="flat" cmpd="sng" algn="ctr">
                      <a:solidFill>
                        <a:srgbClr val="DFE5E1"/>
                      </a:solidFill>
                      <a:prstDash val="solid"/>
                      <a:round/>
                      <a:headEnd type="none" w="med" len="med"/>
                      <a:tailEnd type="none" w="med" len="med"/>
                    </a:lnB>
                    <a:solidFill>
                      <a:srgbClr val="F2F4F2"/>
                    </a:solidFill>
                  </a:tcPr>
                </a:tc>
                <a:tc>
                  <a:txBody>
                    <a:bodyPr/>
                    <a:lstStyle/>
                    <a:p>
                      <a:pPr algn="ctr" indent="0" marL="0">
                        <a:buNone/>
                      </a:pPr>
                      <a:r>
                        <a:rPr lang="en-US" sz="1150" dirty="0">
                          <a:solidFill>
                            <a:srgbClr val="5C6862"/>
                          </a:solidFill>
                          <a:latin typeface="Calibri" pitchFamily="34" charset="0"/>
                          <a:ea typeface="Calibri" pitchFamily="34" charset="-122"/>
                          <a:cs typeface="Calibri" pitchFamily="34" charset="-120"/>
                        </a:rPr>
                        <a:t>463 lines</a:t>
                      </a:r>
                      <a:endParaRPr lang="en-US" sz="1150" dirty="0">
                        <a:latin typeface="Calibri" charset="0"/>
                        <a:ea typeface="Calibri" charset="0"/>
                        <a:cs typeface="Calibri" charset="0"/>
                      </a:endParaRPr>
                    </a:p>
                  </a:txBody>
                  <a:tcPr marL="109728" marR="109728" marT="36576" marB="36576" anchor="ctr">
                    <a:lnL w="6350" cap="flat" cmpd="sng" algn="ctr">
                      <a:solidFill>
                        <a:srgbClr val="DFE5E1"/>
                      </a:solidFill>
                      <a:prstDash val="solid"/>
                      <a:round/>
                      <a:headEnd type="none" w="med" len="med"/>
                      <a:tailEnd type="none" w="med" len="med"/>
                    </a:lnL>
                    <a:lnR w="6350" cap="flat" cmpd="sng" algn="ctr">
                      <a:solidFill>
                        <a:srgbClr val="DFE5E1"/>
                      </a:solidFill>
                      <a:prstDash val="solid"/>
                      <a:round/>
                      <a:headEnd type="none" w="med" len="med"/>
                      <a:tailEnd type="none" w="med" len="med"/>
                    </a:lnR>
                    <a:lnT w="6350" cap="flat" cmpd="sng" algn="ctr">
                      <a:solidFill>
                        <a:srgbClr val="DFE5E1"/>
                      </a:solidFill>
                      <a:prstDash val="solid"/>
                      <a:round/>
                      <a:headEnd type="none" w="med" len="med"/>
                      <a:tailEnd type="none" w="med" len="med"/>
                    </a:lnT>
                    <a:lnB w="6350" cap="flat" cmpd="sng" algn="ctr">
                      <a:solidFill>
                        <a:srgbClr val="DFE5E1"/>
                      </a:solidFill>
                      <a:prstDash val="solid"/>
                      <a:round/>
                      <a:headEnd type="none" w="med" len="med"/>
                      <a:tailEnd type="none" w="med" len="med"/>
                    </a:lnB>
                    <a:solidFill>
                      <a:srgbClr val="F2F4F2"/>
                    </a:solidFill>
                  </a:tcPr>
                </a:tc>
                <a:tc>
                  <a:txBody>
                    <a:bodyPr/>
                    <a:lstStyle/>
                    <a:p>
                      <a:pPr algn="ctr" indent="0" marL="0">
                        <a:buNone/>
                      </a:pPr>
                      <a:r>
                        <a:rPr lang="en-US" sz="1150" b="1" dirty="0">
                          <a:solidFill>
                            <a:srgbClr val="1F7A4D"/>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109728" marR="109728" marT="36576" marB="36576" anchor="ctr">
                    <a:lnL w="6350" cap="flat" cmpd="sng" algn="ctr">
                      <a:solidFill>
                        <a:srgbClr val="DFE5E1"/>
                      </a:solidFill>
                      <a:prstDash val="solid"/>
                      <a:round/>
                      <a:headEnd type="none" w="med" len="med"/>
                      <a:tailEnd type="none" w="med" len="med"/>
                    </a:lnL>
                    <a:lnR w="6350" cap="flat" cmpd="sng" algn="ctr">
                      <a:solidFill>
                        <a:srgbClr val="DFE5E1"/>
                      </a:solidFill>
                      <a:prstDash val="solid"/>
                      <a:round/>
                      <a:headEnd type="none" w="med" len="med"/>
                      <a:tailEnd type="none" w="med" len="med"/>
                    </a:lnR>
                    <a:lnT w="6350" cap="flat" cmpd="sng" algn="ctr">
                      <a:solidFill>
                        <a:srgbClr val="DFE5E1"/>
                      </a:solidFill>
                      <a:prstDash val="solid"/>
                      <a:round/>
                      <a:headEnd type="none" w="med" len="med"/>
                      <a:tailEnd type="none" w="med" len="med"/>
                    </a:lnT>
                    <a:lnB w="6350" cap="flat" cmpd="sng" algn="ctr">
                      <a:solidFill>
                        <a:srgbClr val="DFE5E1"/>
                      </a:solidFill>
                      <a:prstDash val="solid"/>
                      <a:round/>
                      <a:headEnd type="none" w="med" len="med"/>
                      <a:tailEnd type="none" w="med" len="med"/>
                    </a:lnB>
                    <a:solidFill>
                      <a:srgbClr val="F2F4F2"/>
                    </a:solidFill>
                  </a:tcPr>
                </a:tc>
              </a:tr>
              <a:tr h="306324">
                <a:tc>
                  <a:txBody>
                    <a:bodyPr/>
                    <a:lstStyle/>
                    <a:p>
                      <a:pPr indent="0" marL="0">
                        <a:buNone/>
                      </a:pPr>
                      <a:r>
                        <a:rPr lang="en-US" sz="1150" dirty="0">
                          <a:solidFill>
                            <a:srgbClr val="121614"/>
                          </a:solidFill>
                          <a:latin typeface="Calibri" pitchFamily="34" charset="0"/>
                          <a:ea typeface="Calibri" pitchFamily="34" charset="-122"/>
                          <a:cs typeface="Calibri" pitchFamily="34" charset="-120"/>
                        </a:rPr>
                        <a:t>Script bytes before first interaction</a:t>
                      </a:r>
                      <a:endParaRPr lang="en-US" sz="1150" dirty="0">
                        <a:latin typeface="Calibri" charset="0"/>
                        <a:ea typeface="Calibri" charset="0"/>
                        <a:cs typeface="Calibri" charset="0"/>
                      </a:endParaRPr>
                    </a:p>
                  </a:txBody>
                  <a:tcPr marL="109728" marR="109728" marT="36576" marB="36576" anchor="ctr">
                    <a:lnL w="6350" cap="flat" cmpd="sng" algn="ctr">
                      <a:solidFill>
                        <a:srgbClr val="DFE5E1"/>
                      </a:solidFill>
                      <a:prstDash val="solid"/>
                      <a:round/>
                      <a:headEnd type="none" w="med" len="med"/>
                      <a:tailEnd type="none" w="med" len="med"/>
                    </a:lnL>
                    <a:lnR w="6350" cap="flat" cmpd="sng" algn="ctr">
                      <a:solidFill>
                        <a:srgbClr val="DFE5E1"/>
                      </a:solidFill>
                      <a:prstDash val="solid"/>
                      <a:round/>
                      <a:headEnd type="none" w="med" len="med"/>
                      <a:tailEnd type="none" w="med" len="med"/>
                    </a:lnR>
                    <a:lnT w="6350" cap="flat" cmpd="sng" algn="ctr">
                      <a:solidFill>
                        <a:srgbClr val="DFE5E1"/>
                      </a:solidFill>
                      <a:prstDash val="solid"/>
                      <a:round/>
                      <a:headEnd type="none" w="med" len="med"/>
                      <a:tailEnd type="none" w="med" len="med"/>
                    </a:lnT>
                    <a:lnB w="6350" cap="flat" cmpd="sng" algn="ctr">
                      <a:solidFill>
                        <a:srgbClr val="DFE5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C6862"/>
                          </a:solidFill>
                          <a:latin typeface="Calibri" pitchFamily="34" charset="0"/>
                          <a:ea typeface="Calibri" pitchFamily="34" charset="-122"/>
                          <a:cs typeface="Calibri" pitchFamily="34" charset="-120"/>
                        </a:rPr>
                        <a:t>1.65 MB</a:t>
                      </a:r>
                      <a:endParaRPr lang="en-US" sz="1150" dirty="0">
                        <a:latin typeface="Calibri" charset="0"/>
                        <a:ea typeface="Calibri" charset="0"/>
                        <a:cs typeface="Calibri" charset="0"/>
                      </a:endParaRPr>
                    </a:p>
                  </a:txBody>
                  <a:tcPr marL="109728" marR="109728" marT="36576" marB="36576" anchor="ctr">
                    <a:lnL w="6350" cap="flat" cmpd="sng" algn="ctr">
                      <a:solidFill>
                        <a:srgbClr val="DFE5E1"/>
                      </a:solidFill>
                      <a:prstDash val="solid"/>
                      <a:round/>
                      <a:headEnd type="none" w="med" len="med"/>
                      <a:tailEnd type="none" w="med" len="med"/>
                    </a:lnL>
                    <a:lnR w="6350" cap="flat" cmpd="sng" algn="ctr">
                      <a:solidFill>
                        <a:srgbClr val="DFE5E1"/>
                      </a:solidFill>
                      <a:prstDash val="solid"/>
                      <a:round/>
                      <a:headEnd type="none" w="med" len="med"/>
                      <a:tailEnd type="none" w="med" len="med"/>
                    </a:lnR>
                    <a:lnT w="6350" cap="flat" cmpd="sng" algn="ctr">
                      <a:solidFill>
                        <a:srgbClr val="DFE5E1"/>
                      </a:solidFill>
                      <a:prstDash val="solid"/>
                      <a:round/>
                      <a:headEnd type="none" w="med" len="med"/>
                      <a:tailEnd type="none" w="med" len="med"/>
                    </a:lnT>
                    <a:lnB w="6350" cap="flat" cmpd="sng" algn="ctr">
                      <a:solidFill>
                        <a:srgbClr val="DFE5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F7A4D"/>
                          </a:solidFill>
                          <a:latin typeface="Calibri" pitchFamily="34" charset="0"/>
                          <a:ea typeface="Calibri" pitchFamily="34" charset="-122"/>
                          <a:cs typeface="Calibri" pitchFamily="34" charset="-120"/>
                        </a:rPr>
                        <a:t>206 KB</a:t>
                      </a:r>
                      <a:endParaRPr lang="en-US" sz="1150" dirty="0">
                        <a:latin typeface="Calibri" charset="0"/>
                        <a:ea typeface="Calibri" charset="0"/>
                        <a:cs typeface="Calibri" charset="0"/>
                      </a:endParaRPr>
                    </a:p>
                  </a:txBody>
                  <a:tcPr marL="109728" marR="109728" marT="36576" marB="36576" anchor="ctr">
                    <a:lnL w="6350" cap="flat" cmpd="sng" algn="ctr">
                      <a:solidFill>
                        <a:srgbClr val="DFE5E1"/>
                      </a:solidFill>
                      <a:prstDash val="solid"/>
                      <a:round/>
                      <a:headEnd type="none" w="med" len="med"/>
                      <a:tailEnd type="none" w="med" len="med"/>
                    </a:lnL>
                    <a:lnR w="6350" cap="flat" cmpd="sng" algn="ctr">
                      <a:solidFill>
                        <a:srgbClr val="DFE5E1"/>
                      </a:solidFill>
                      <a:prstDash val="solid"/>
                      <a:round/>
                      <a:headEnd type="none" w="med" len="med"/>
                      <a:tailEnd type="none" w="med" len="med"/>
                    </a:lnR>
                    <a:lnT w="6350" cap="flat" cmpd="sng" algn="ctr">
                      <a:solidFill>
                        <a:srgbClr val="DFE5E1"/>
                      </a:solidFill>
                      <a:prstDash val="solid"/>
                      <a:round/>
                      <a:headEnd type="none" w="med" len="med"/>
                      <a:tailEnd type="none" w="med" len="med"/>
                    </a:lnT>
                    <a:lnB w="6350" cap="flat" cmpd="sng" algn="ctr">
                      <a:solidFill>
                        <a:srgbClr val="DFE5E1"/>
                      </a:solidFill>
                      <a:prstDash val="solid"/>
                      <a:round/>
                      <a:headEnd type="none" w="med" len="med"/>
                      <a:tailEnd type="none" w="med" len="med"/>
                    </a:lnB>
                    <a:solidFill>
                      <a:srgbClr val="FFFFFF"/>
                    </a:solidFill>
                  </a:tcPr>
                </a:tc>
              </a:tr>
              <a:tr h="306324">
                <a:tc>
                  <a:txBody>
                    <a:bodyPr/>
                    <a:lstStyle/>
                    <a:p>
                      <a:pPr indent="0" marL="0">
                        <a:buNone/>
                      </a:pPr>
                      <a:r>
                        <a:rPr lang="en-US" sz="1150" dirty="0">
                          <a:solidFill>
                            <a:srgbClr val="121614"/>
                          </a:solidFill>
                          <a:latin typeface="Calibri" pitchFamily="34" charset="0"/>
                          <a:ea typeface="Calibri" pitchFamily="34" charset="-122"/>
                          <a:cs typeface="Calibri" pitchFamily="34" charset="-120"/>
                        </a:rPr>
                        <a:t>Smallest verified screen width</a:t>
                      </a:r>
                      <a:endParaRPr lang="en-US" sz="1150" dirty="0">
                        <a:latin typeface="Calibri" charset="0"/>
                        <a:ea typeface="Calibri" charset="0"/>
                        <a:cs typeface="Calibri" charset="0"/>
                      </a:endParaRPr>
                    </a:p>
                  </a:txBody>
                  <a:tcPr marL="109728" marR="109728" marT="36576" marB="36576" anchor="ctr">
                    <a:lnL w="6350" cap="flat" cmpd="sng" algn="ctr">
                      <a:solidFill>
                        <a:srgbClr val="DFE5E1"/>
                      </a:solidFill>
                      <a:prstDash val="solid"/>
                      <a:round/>
                      <a:headEnd type="none" w="med" len="med"/>
                      <a:tailEnd type="none" w="med" len="med"/>
                    </a:lnL>
                    <a:lnR w="6350" cap="flat" cmpd="sng" algn="ctr">
                      <a:solidFill>
                        <a:srgbClr val="DFE5E1"/>
                      </a:solidFill>
                      <a:prstDash val="solid"/>
                      <a:round/>
                      <a:headEnd type="none" w="med" len="med"/>
                      <a:tailEnd type="none" w="med" len="med"/>
                    </a:lnR>
                    <a:lnT w="6350" cap="flat" cmpd="sng" algn="ctr">
                      <a:solidFill>
                        <a:srgbClr val="DFE5E1"/>
                      </a:solidFill>
                      <a:prstDash val="solid"/>
                      <a:round/>
                      <a:headEnd type="none" w="med" len="med"/>
                      <a:tailEnd type="none" w="med" len="med"/>
                    </a:lnT>
                    <a:lnB w="6350" cap="flat" cmpd="sng" algn="ctr">
                      <a:solidFill>
                        <a:srgbClr val="DFE5E1"/>
                      </a:solidFill>
                      <a:prstDash val="solid"/>
                      <a:round/>
                      <a:headEnd type="none" w="med" len="med"/>
                      <a:tailEnd type="none" w="med" len="med"/>
                    </a:lnB>
                    <a:solidFill>
                      <a:srgbClr val="F2F4F2"/>
                    </a:solidFill>
                  </a:tcPr>
                </a:tc>
                <a:tc>
                  <a:txBody>
                    <a:bodyPr/>
                    <a:lstStyle/>
                    <a:p>
                      <a:pPr algn="ctr" indent="0" marL="0">
                        <a:buNone/>
                      </a:pPr>
                      <a:r>
                        <a:rPr lang="en-US" sz="1150" dirty="0">
                          <a:solidFill>
                            <a:srgbClr val="5C6862"/>
                          </a:solidFill>
                          <a:latin typeface="Calibri" pitchFamily="34" charset="0"/>
                          <a:ea typeface="Calibri" pitchFamily="34" charset="-122"/>
                          <a:cs typeface="Calibri" pitchFamily="34" charset="-120"/>
                        </a:rPr>
                        <a:t>not tested</a:t>
                      </a:r>
                      <a:endParaRPr lang="en-US" sz="1150" dirty="0">
                        <a:latin typeface="Calibri" charset="0"/>
                        <a:ea typeface="Calibri" charset="0"/>
                        <a:cs typeface="Calibri" charset="0"/>
                      </a:endParaRPr>
                    </a:p>
                  </a:txBody>
                  <a:tcPr marL="109728" marR="109728" marT="36576" marB="36576" anchor="ctr">
                    <a:lnL w="6350" cap="flat" cmpd="sng" algn="ctr">
                      <a:solidFill>
                        <a:srgbClr val="DFE5E1"/>
                      </a:solidFill>
                      <a:prstDash val="solid"/>
                      <a:round/>
                      <a:headEnd type="none" w="med" len="med"/>
                      <a:tailEnd type="none" w="med" len="med"/>
                    </a:lnL>
                    <a:lnR w="6350" cap="flat" cmpd="sng" algn="ctr">
                      <a:solidFill>
                        <a:srgbClr val="DFE5E1"/>
                      </a:solidFill>
                      <a:prstDash val="solid"/>
                      <a:round/>
                      <a:headEnd type="none" w="med" len="med"/>
                      <a:tailEnd type="none" w="med" len="med"/>
                    </a:lnR>
                    <a:lnT w="6350" cap="flat" cmpd="sng" algn="ctr">
                      <a:solidFill>
                        <a:srgbClr val="DFE5E1"/>
                      </a:solidFill>
                      <a:prstDash val="solid"/>
                      <a:round/>
                      <a:headEnd type="none" w="med" len="med"/>
                      <a:tailEnd type="none" w="med" len="med"/>
                    </a:lnT>
                    <a:lnB w="6350" cap="flat" cmpd="sng" algn="ctr">
                      <a:solidFill>
                        <a:srgbClr val="DFE5E1"/>
                      </a:solidFill>
                      <a:prstDash val="solid"/>
                      <a:round/>
                      <a:headEnd type="none" w="med" len="med"/>
                      <a:tailEnd type="none" w="med" len="med"/>
                    </a:lnB>
                    <a:solidFill>
                      <a:srgbClr val="F2F4F2"/>
                    </a:solidFill>
                  </a:tcPr>
                </a:tc>
                <a:tc>
                  <a:txBody>
                    <a:bodyPr/>
                    <a:lstStyle/>
                    <a:p>
                      <a:pPr algn="ctr" indent="0" marL="0">
                        <a:buNone/>
                      </a:pPr>
                      <a:r>
                        <a:rPr lang="en-US" sz="1150" b="1" dirty="0">
                          <a:solidFill>
                            <a:srgbClr val="1F7A4D"/>
                          </a:solidFill>
                          <a:latin typeface="Calibri" pitchFamily="34" charset="0"/>
                          <a:ea typeface="Calibri" pitchFamily="34" charset="-122"/>
                          <a:cs typeface="Calibri" pitchFamily="34" charset="-120"/>
                        </a:rPr>
                        <a:t>320 px</a:t>
                      </a:r>
                      <a:endParaRPr lang="en-US" sz="1150" dirty="0">
                        <a:latin typeface="Calibri" charset="0"/>
                        <a:ea typeface="Calibri" charset="0"/>
                        <a:cs typeface="Calibri" charset="0"/>
                      </a:endParaRPr>
                    </a:p>
                  </a:txBody>
                  <a:tcPr marL="109728" marR="109728" marT="36576" marB="36576" anchor="ctr">
                    <a:lnL w="6350" cap="flat" cmpd="sng" algn="ctr">
                      <a:solidFill>
                        <a:srgbClr val="DFE5E1"/>
                      </a:solidFill>
                      <a:prstDash val="solid"/>
                      <a:round/>
                      <a:headEnd type="none" w="med" len="med"/>
                      <a:tailEnd type="none" w="med" len="med"/>
                    </a:lnL>
                    <a:lnR w="6350" cap="flat" cmpd="sng" algn="ctr">
                      <a:solidFill>
                        <a:srgbClr val="DFE5E1"/>
                      </a:solidFill>
                      <a:prstDash val="solid"/>
                      <a:round/>
                      <a:headEnd type="none" w="med" len="med"/>
                      <a:tailEnd type="none" w="med" len="med"/>
                    </a:lnR>
                    <a:lnT w="6350" cap="flat" cmpd="sng" algn="ctr">
                      <a:solidFill>
                        <a:srgbClr val="DFE5E1"/>
                      </a:solidFill>
                      <a:prstDash val="solid"/>
                      <a:round/>
                      <a:headEnd type="none" w="med" len="med"/>
                      <a:tailEnd type="none" w="med" len="med"/>
                    </a:lnT>
                    <a:lnB w="6350" cap="flat" cmpd="sng" algn="ctr">
                      <a:solidFill>
                        <a:srgbClr val="DFE5E1"/>
                      </a:solidFill>
                      <a:prstDash val="solid"/>
                      <a:round/>
                      <a:headEnd type="none" w="med" len="med"/>
                      <a:tailEnd type="none" w="med" len="med"/>
                    </a:lnB>
                    <a:solidFill>
                      <a:srgbClr val="F2F4F2"/>
                    </a:solidFill>
                  </a:tcPr>
                </a:tc>
              </a:tr>
              <a:tr h="306324">
                <a:tc>
                  <a:txBody>
                    <a:bodyPr/>
                    <a:lstStyle/>
                    <a:p>
                      <a:pPr indent="0" marL="0">
                        <a:buNone/>
                      </a:pPr>
                      <a:r>
                        <a:rPr lang="en-US" sz="1150" dirty="0">
                          <a:solidFill>
                            <a:srgbClr val="121614"/>
                          </a:solidFill>
                          <a:latin typeface="Calibri" pitchFamily="34" charset="0"/>
                          <a:ea typeface="Calibri" pitchFamily="34" charset="-122"/>
                          <a:cs typeface="Calibri" pitchFamily="34" charset="-120"/>
                        </a:rPr>
                        <a:t>Automated checks in CI</a:t>
                      </a:r>
                      <a:endParaRPr lang="en-US" sz="1150" dirty="0">
                        <a:latin typeface="Calibri" charset="0"/>
                        <a:ea typeface="Calibri" charset="0"/>
                        <a:cs typeface="Calibri" charset="0"/>
                      </a:endParaRPr>
                    </a:p>
                  </a:txBody>
                  <a:tcPr marL="109728" marR="109728" marT="36576" marB="36576" anchor="ctr">
                    <a:lnL w="6350" cap="flat" cmpd="sng" algn="ctr">
                      <a:solidFill>
                        <a:srgbClr val="DFE5E1"/>
                      </a:solidFill>
                      <a:prstDash val="solid"/>
                      <a:round/>
                      <a:headEnd type="none" w="med" len="med"/>
                      <a:tailEnd type="none" w="med" len="med"/>
                    </a:lnL>
                    <a:lnR w="6350" cap="flat" cmpd="sng" algn="ctr">
                      <a:solidFill>
                        <a:srgbClr val="DFE5E1"/>
                      </a:solidFill>
                      <a:prstDash val="solid"/>
                      <a:round/>
                      <a:headEnd type="none" w="med" len="med"/>
                      <a:tailEnd type="none" w="med" len="med"/>
                    </a:lnR>
                    <a:lnT w="6350" cap="flat" cmpd="sng" algn="ctr">
                      <a:solidFill>
                        <a:srgbClr val="DFE5E1"/>
                      </a:solidFill>
                      <a:prstDash val="solid"/>
                      <a:round/>
                      <a:headEnd type="none" w="med" len="med"/>
                      <a:tailEnd type="none" w="med" len="med"/>
                    </a:lnT>
                    <a:lnB w="6350" cap="flat" cmpd="sng" algn="ctr">
                      <a:solidFill>
                        <a:srgbClr val="DFE5E1"/>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C6862"/>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109728" marR="109728" marT="36576" marB="36576" anchor="ctr">
                    <a:lnL w="6350" cap="flat" cmpd="sng" algn="ctr">
                      <a:solidFill>
                        <a:srgbClr val="DFE5E1"/>
                      </a:solidFill>
                      <a:prstDash val="solid"/>
                      <a:round/>
                      <a:headEnd type="none" w="med" len="med"/>
                      <a:tailEnd type="none" w="med" len="med"/>
                    </a:lnL>
                    <a:lnR w="6350" cap="flat" cmpd="sng" algn="ctr">
                      <a:solidFill>
                        <a:srgbClr val="DFE5E1"/>
                      </a:solidFill>
                      <a:prstDash val="solid"/>
                      <a:round/>
                      <a:headEnd type="none" w="med" len="med"/>
                      <a:tailEnd type="none" w="med" len="med"/>
                    </a:lnR>
                    <a:lnT w="6350" cap="flat" cmpd="sng" algn="ctr">
                      <a:solidFill>
                        <a:srgbClr val="DFE5E1"/>
                      </a:solidFill>
                      <a:prstDash val="solid"/>
                      <a:round/>
                      <a:headEnd type="none" w="med" len="med"/>
                      <a:tailEnd type="none" w="med" len="med"/>
                    </a:lnT>
                    <a:lnB w="6350" cap="flat" cmpd="sng" algn="ctr">
                      <a:solidFill>
                        <a:srgbClr val="DFE5E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F7A4D"/>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109728" marR="109728" marT="36576" marB="36576" anchor="ctr">
                    <a:lnL w="6350" cap="flat" cmpd="sng" algn="ctr">
                      <a:solidFill>
                        <a:srgbClr val="DFE5E1"/>
                      </a:solidFill>
                      <a:prstDash val="solid"/>
                      <a:round/>
                      <a:headEnd type="none" w="med" len="med"/>
                      <a:tailEnd type="none" w="med" len="med"/>
                    </a:lnL>
                    <a:lnR w="6350" cap="flat" cmpd="sng" algn="ctr">
                      <a:solidFill>
                        <a:srgbClr val="DFE5E1"/>
                      </a:solidFill>
                      <a:prstDash val="solid"/>
                      <a:round/>
                      <a:headEnd type="none" w="med" len="med"/>
                      <a:tailEnd type="none" w="med" len="med"/>
                    </a:lnR>
                    <a:lnT w="6350" cap="flat" cmpd="sng" algn="ctr">
                      <a:solidFill>
                        <a:srgbClr val="DFE5E1"/>
                      </a:solidFill>
                      <a:prstDash val="solid"/>
                      <a:round/>
                      <a:headEnd type="none" w="med" len="med"/>
                      <a:tailEnd type="none" w="med" len="med"/>
                    </a:lnT>
                    <a:lnB w="6350" cap="flat" cmpd="sng" algn="ctr">
                      <a:solidFill>
                        <a:srgbClr val="DFE5E1"/>
                      </a:solidFill>
                      <a:prstDash val="solid"/>
                      <a:round/>
                      <a:headEnd type="none" w="med" len="med"/>
                      <a:tailEnd type="none" w="med" len="med"/>
                    </a:lnB>
                    <a:solidFill>
                      <a:srgbClr val="FFFFFF"/>
                    </a:solidFill>
                  </a:tcPr>
                </a:tc>
              </a:tr>
            </a:tbl>
          </a:graphicData>
        </a:graphic>
      </p:graphicFrame>
      <p:sp>
        <p:nvSpPr>
          <p:cNvPr id="7" name="Text 3"/>
          <p:cNvSpPr/>
          <p:nvPr/>
        </p:nvSpPr>
        <p:spPr>
          <a:xfrm>
            <a:off x="502920" y="4759452"/>
            <a:ext cx="2743200" cy="201168"/>
          </a:xfrm>
          <a:prstGeom prst="rect">
            <a:avLst/>
          </a:prstGeom>
          <a:noFill/>
          <a:ln/>
        </p:spPr>
        <p:txBody>
          <a:bodyPr wrap="square" lIns="0" tIns="0" rIns="0" bIns="0" rtlCol="0" anchor="ctr"/>
          <a:lstStyle/>
          <a:p>
            <a:pPr indent="0" marL="0">
              <a:buNone/>
            </a:pPr>
            <a:r>
              <a:rPr lang="en-US" sz="900" dirty="0">
                <a:solidFill>
                  <a:srgbClr val="5C6862"/>
                </a:solidFill>
                <a:latin typeface="Calibri" pitchFamily="34" charset="0"/>
                <a:ea typeface="Calibri" pitchFamily="34" charset="-122"/>
                <a:cs typeface="Calibri" pitchFamily="34" charset="-120"/>
              </a:rPr>
              <a:t>GovSpirit</a:t>
            </a:r>
            <a:endParaRPr lang="en-US" sz="900" dirty="0"/>
          </a:p>
        </p:txBody>
      </p:sp>
      <p:sp>
        <p:nvSpPr>
          <p:cNvPr id="8" name="Text 4"/>
          <p:cNvSpPr/>
          <p:nvPr/>
        </p:nvSpPr>
        <p:spPr>
          <a:xfrm>
            <a:off x="7726680" y="4759452"/>
            <a:ext cx="914400" cy="201168"/>
          </a:xfrm>
          <a:prstGeom prst="rect">
            <a:avLst/>
          </a:prstGeom>
          <a:noFill/>
          <a:ln/>
        </p:spPr>
        <p:txBody>
          <a:bodyPr wrap="square" lIns="0" tIns="0" rIns="0" bIns="0" rtlCol="0" anchor="ctr"/>
          <a:lstStyle/>
          <a:p>
            <a:pPr algn="r" indent="0" marL="0">
              <a:buNone/>
            </a:pPr>
            <a:r>
              <a:rPr lang="en-US" sz="900" dirty="0">
                <a:solidFill>
                  <a:srgbClr val="5C6862"/>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412"/>
        </a:solidFill>
      </p:bgPr>
    </p:bg>
    <p:spTree>
      <p:nvGrpSpPr>
        <p:cNvPr id="1" name=""/>
        <p:cNvGrpSpPr/>
        <p:nvPr/>
      </p:nvGrpSpPr>
      <p:grpSpPr>
        <a:xfrm>
          <a:off x="0" y="0"/>
          <a:ext cx="0" cy="0"/>
          <a:chOff x="0" y="0"/>
          <a:chExt cx="0" cy="0"/>
        </a:xfrm>
      </p:grpSpPr>
      <p:sp>
        <p:nvSpPr>
          <p:cNvPr id="2" name="Shape 0"/>
          <p:cNvSpPr/>
          <p:nvPr/>
        </p:nvSpPr>
        <p:spPr>
          <a:xfrm>
            <a:off x="502920" y="452628"/>
            <a:ext cx="91440" cy="91440"/>
          </a:xfrm>
          <a:prstGeom prst="rect">
            <a:avLst/>
          </a:prstGeom>
          <a:solidFill>
            <a:srgbClr val="C07A2C"/>
          </a:solidFill>
          <a:ln/>
        </p:spPr>
      </p:sp>
      <p:sp>
        <p:nvSpPr>
          <p:cNvPr id="3" name="Text 1"/>
          <p:cNvSpPr/>
          <p:nvPr/>
        </p:nvSpPr>
        <p:spPr>
          <a:xfrm>
            <a:off x="704088" y="402336"/>
            <a:ext cx="5486400" cy="219456"/>
          </a:xfrm>
          <a:prstGeom prst="rect">
            <a:avLst/>
          </a:prstGeom>
          <a:noFill/>
          <a:ln/>
        </p:spPr>
        <p:txBody>
          <a:bodyPr wrap="square" lIns="0" tIns="0" rIns="0" bIns="0" rtlCol="0" anchor="ctr"/>
          <a:lstStyle/>
          <a:p>
            <a:pPr indent="0" marL="0">
              <a:buNone/>
            </a:pPr>
            <a:r>
              <a:rPr lang="en-US" sz="1000" b="1" spc="240" kern="0" dirty="0">
                <a:solidFill>
                  <a:srgbClr val="A6B2AC"/>
                </a:solidFill>
                <a:latin typeface="Calibri" pitchFamily="34" charset="0"/>
                <a:ea typeface="Calibri" pitchFamily="34" charset="-122"/>
                <a:cs typeface="Calibri" pitchFamily="34" charset="-120"/>
              </a:rPr>
              <a:t>TRY IT</a:t>
            </a:r>
            <a:endParaRPr lang="en-US" sz="1000" dirty="0"/>
          </a:p>
        </p:txBody>
      </p:sp>
      <p:sp>
        <p:nvSpPr>
          <p:cNvPr id="4" name="Text 2"/>
          <p:cNvSpPr/>
          <p:nvPr/>
        </p:nvSpPr>
        <p:spPr>
          <a:xfrm>
            <a:off x="502920" y="786384"/>
            <a:ext cx="8138160" cy="713232"/>
          </a:xfrm>
          <a:prstGeom prst="rect">
            <a:avLst/>
          </a:prstGeom>
          <a:noFill/>
          <a:ln/>
        </p:spPr>
        <p:txBody>
          <a:bodyPr wrap="square" lIns="0" tIns="0" rIns="0" bIns="0" rtlCol="0" anchor="t"/>
          <a:lstStyle/>
          <a:p>
            <a:pPr indent="0" marL="0">
              <a:lnSpc>
                <a:spcPct val="94000"/>
              </a:lnSpc>
              <a:buNone/>
            </a:pPr>
            <a:r>
              <a:rPr lang="en-US" sz="3000" b="1" dirty="0">
                <a:solidFill>
                  <a:srgbClr val="E9EFEA"/>
                </a:solidFill>
                <a:latin typeface="Georgia" pitchFamily="34" charset="0"/>
                <a:ea typeface="Georgia" pitchFamily="34" charset="-122"/>
                <a:cs typeface="Georgia" pitchFamily="34" charset="-120"/>
              </a:rPr>
              <a:t>Open it and load the demo</a:t>
            </a:r>
            <a:endParaRPr lang="en-US" sz="3000" dirty="0"/>
          </a:p>
        </p:txBody>
      </p:sp>
      <p:sp>
        <p:nvSpPr>
          <p:cNvPr id="5" name="Text 3"/>
          <p:cNvSpPr/>
          <p:nvPr/>
        </p:nvSpPr>
        <p:spPr>
          <a:xfrm>
            <a:off x="502920" y="1591056"/>
            <a:ext cx="5029200" cy="731520"/>
          </a:xfrm>
          <a:prstGeom prst="rect">
            <a:avLst/>
          </a:prstGeom>
          <a:noFill/>
          <a:ln/>
        </p:spPr>
        <p:txBody>
          <a:bodyPr wrap="square" lIns="0" tIns="0" rIns="0" bIns="0" rtlCol="0" anchor="ctr"/>
          <a:lstStyle/>
          <a:p>
            <a:pPr indent="0" marL="0">
              <a:lnSpc>
                <a:spcPct val="112000"/>
              </a:lnSpc>
              <a:buNone/>
            </a:pPr>
            <a:r>
              <a:rPr lang="en-US" sz="1300" dirty="0">
                <a:solidFill>
                  <a:srgbClr val="A6B2AC"/>
                </a:solidFill>
                <a:latin typeface="Calibri" pitchFamily="34" charset="0"/>
                <a:ea typeface="Calibri" pitchFamily="34" charset="-122"/>
                <a:cs typeface="Calibri" pitchFamily="34" charset="-120"/>
              </a:rPr>
              <a:t>The demo generator is seeded, so it produces the same warehouse on every machine. That makes a bug report reproducible and a demonstration repeatable.</a:t>
            </a:r>
            <a:endParaRPr lang="en-US" sz="1300" dirty="0"/>
          </a:p>
        </p:txBody>
      </p:sp>
      <p:sp>
        <p:nvSpPr>
          <p:cNvPr id="6" name="Text 4"/>
          <p:cNvSpPr/>
          <p:nvPr/>
        </p:nvSpPr>
        <p:spPr>
          <a:xfrm>
            <a:off x="502920" y="2487168"/>
            <a:ext cx="1463040" cy="182880"/>
          </a:xfrm>
          <a:prstGeom prst="rect">
            <a:avLst/>
          </a:prstGeom>
          <a:noFill/>
          <a:ln/>
        </p:spPr>
        <p:txBody>
          <a:bodyPr wrap="square" lIns="0" tIns="0" rIns="0" bIns="0" rtlCol="0" anchor="ctr"/>
          <a:lstStyle/>
          <a:p>
            <a:pPr indent="0" marL="0">
              <a:buNone/>
            </a:pPr>
            <a:r>
              <a:rPr lang="en-US" sz="1000" b="1" spc="140" kern="0" dirty="0">
                <a:solidFill>
                  <a:srgbClr val="C07A2C"/>
                </a:solidFill>
                <a:latin typeface="Calibri" pitchFamily="34" charset="0"/>
                <a:ea typeface="Calibri" pitchFamily="34" charset="-122"/>
                <a:cs typeface="Calibri" pitchFamily="34" charset="-120"/>
              </a:rPr>
              <a:t>Application</a:t>
            </a:r>
            <a:endParaRPr lang="en-US" sz="1000" dirty="0"/>
          </a:p>
        </p:txBody>
      </p:sp>
      <p:sp>
        <p:nvSpPr>
          <p:cNvPr id="7" name="Text 5"/>
          <p:cNvSpPr/>
          <p:nvPr/>
        </p:nvSpPr>
        <p:spPr>
          <a:xfrm>
            <a:off x="502920" y="2679192"/>
            <a:ext cx="5120640" cy="274320"/>
          </a:xfrm>
          <a:prstGeom prst="rect">
            <a:avLst/>
          </a:prstGeom>
          <a:noFill/>
          <a:ln/>
        </p:spPr>
        <p:txBody>
          <a:bodyPr wrap="square" lIns="0" tIns="0" rIns="0" bIns="0" rtlCol="0" anchor="ctr"/>
          <a:lstStyle/>
          <a:p>
            <a:pPr indent="0" marL="0">
              <a:buNone/>
            </a:pPr>
            <a:r>
              <a:rPr lang="en-US" sz="1350" dirty="0">
                <a:solidFill>
                  <a:srgbClr val="E9EFEA"/>
                </a:solidFill>
                <a:latin typeface="Calibri" pitchFamily="34" charset="0"/>
                <a:ea typeface="Calibri" pitchFamily="34" charset="-122"/>
                <a:cs typeface="Calibri" pitchFamily="34" charset="-120"/>
              </a:rPr>
              <a:t>shreyasthakur11.github.io/govspirit-warehouse</a:t>
            </a:r>
            <a:endParaRPr lang="en-US" sz="1350" dirty="0"/>
          </a:p>
        </p:txBody>
      </p:sp>
      <p:sp>
        <p:nvSpPr>
          <p:cNvPr id="8" name="Text 6"/>
          <p:cNvSpPr/>
          <p:nvPr/>
        </p:nvSpPr>
        <p:spPr>
          <a:xfrm>
            <a:off x="502920" y="2999232"/>
            <a:ext cx="1463040" cy="182880"/>
          </a:xfrm>
          <a:prstGeom prst="rect">
            <a:avLst/>
          </a:prstGeom>
          <a:noFill/>
          <a:ln/>
        </p:spPr>
        <p:txBody>
          <a:bodyPr wrap="square" lIns="0" tIns="0" rIns="0" bIns="0" rtlCol="0" anchor="ctr"/>
          <a:lstStyle/>
          <a:p>
            <a:pPr indent="0" marL="0">
              <a:buNone/>
            </a:pPr>
            <a:r>
              <a:rPr lang="en-US" sz="1000" b="1" spc="140" kern="0" dirty="0">
                <a:solidFill>
                  <a:srgbClr val="C07A2C"/>
                </a:solidFill>
                <a:latin typeface="Calibri" pitchFamily="34" charset="0"/>
                <a:ea typeface="Calibri" pitchFamily="34" charset="-122"/>
                <a:cs typeface="Calibri" pitchFamily="34" charset="-120"/>
              </a:rPr>
              <a:t>Source</a:t>
            </a:r>
            <a:endParaRPr lang="en-US" sz="1000" dirty="0"/>
          </a:p>
        </p:txBody>
      </p:sp>
      <p:sp>
        <p:nvSpPr>
          <p:cNvPr id="9" name="Text 7"/>
          <p:cNvSpPr/>
          <p:nvPr/>
        </p:nvSpPr>
        <p:spPr>
          <a:xfrm>
            <a:off x="502920" y="3191256"/>
            <a:ext cx="5120640" cy="274320"/>
          </a:xfrm>
          <a:prstGeom prst="rect">
            <a:avLst/>
          </a:prstGeom>
          <a:noFill/>
          <a:ln/>
        </p:spPr>
        <p:txBody>
          <a:bodyPr wrap="square" lIns="0" tIns="0" rIns="0" bIns="0" rtlCol="0" anchor="ctr"/>
          <a:lstStyle/>
          <a:p>
            <a:pPr indent="0" marL="0">
              <a:buNone/>
            </a:pPr>
            <a:r>
              <a:rPr lang="en-US" sz="1350" dirty="0">
                <a:solidFill>
                  <a:srgbClr val="E9EFEA"/>
                </a:solidFill>
                <a:latin typeface="Calibri" pitchFamily="34" charset="0"/>
                <a:ea typeface="Calibri" pitchFamily="34" charset="-122"/>
                <a:cs typeface="Calibri" pitchFamily="34" charset="-120"/>
              </a:rPr>
              <a:t>github.com/ShreyasThakur11/govspirit-warehouse</a:t>
            </a:r>
            <a:endParaRPr lang="en-US" sz="1350" dirty="0"/>
          </a:p>
        </p:txBody>
      </p:sp>
      <p:sp>
        <p:nvSpPr>
          <p:cNvPr id="10" name="Text 8"/>
          <p:cNvSpPr/>
          <p:nvPr/>
        </p:nvSpPr>
        <p:spPr>
          <a:xfrm>
            <a:off x="502920" y="3511296"/>
            <a:ext cx="1463040" cy="182880"/>
          </a:xfrm>
          <a:prstGeom prst="rect">
            <a:avLst/>
          </a:prstGeom>
          <a:noFill/>
          <a:ln/>
        </p:spPr>
        <p:txBody>
          <a:bodyPr wrap="square" lIns="0" tIns="0" rIns="0" bIns="0" rtlCol="0" anchor="ctr"/>
          <a:lstStyle/>
          <a:p>
            <a:pPr indent="0" marL="0">
              <a:buNone/>
            </a:pPr>
            <a:r>
              <a:rPr lang="en-US" sz="1000" b="1" spc="140" kern="0" dirty="0">
                <a:solidFill>
                  <a:srgbClr val="C07A2C"/>
                </a:solidFill>
                <a:latin typeface="Calibri" pitchFamily="34" charset="0"/>
                <a:ea typeface="Calibri" pitchFamily="34" charset="-122"/>
                <a:cs typeface="Calibri" pitchFamily="34" charset="-120"/>
              </a:rPr>
              <a:t>Documentation</a:t>
            </a:r>
            <a:endParaRPr lang="en-US" sz="1000" dirty="0"/>
          </a:p>
        </p:txBody>
      </p:sp>
      <p:sp>
        <p:nvSpPr>
          <p:cNvPr id="11" name="Text 9"/>
          <p:cNvSpPr/>
          <p:nvPr/>
        </p:nvSpPr>
        <p:spPr>
          <a:xfrm>
            <a:off x="502920" y="3703320"/>
            <a:ext cx="5120640" cy="274320"/>
          </a:xfrm>
          <a:prstGeom prst="rect">
            <a:avLst/>
          </a:prstGeom>
          <a:noFill/>
          <a:ln/>
        </p:spPr>
        <p:txBody>
          <a:bodyPr wrap="square" lIns="0" tIns="0" rIns="0" bIns="0" rtlCol="0" anchor="ctr"/>
          <a:lstStyle/>
          <a:p>
            <a:pPr indent="0" marL="0">
              <a:buNone/>
            </a:pPr>
            <a:r>
              <a:rPr lang="en-US" sz="1350" dirty="0">
                <a:solidFill>
                  <a:srgbClr val="E9EFEA"/>
                </a:solidFill>
                <a:latin typeface="Calibri" pitchFamily="34" charset="0"/>
                <a:ea typeface="Calibri" pitchFamily="34" charset="-122"/>
                <a:cs typeface="Calibri" pitchFamily="34" charset="-120"/>
              </a:rPr>
              <a:t>the docs folder in the repository</a:t>
            </a:r>
            <a:endParaRPr lang="en-US" sz="1350" dirty="0"/>
          </a:p>
        </p:txBody>
      </p:sp>
      <p:sp>
        <p:nvSpPr>
          <p:cNvPr id="12" name="Shape 10"/>
          <p:cNvSpPr/>
          <p:nvPr/>
        </p:nvSpPr>
        <p:spPr>
          <a:xfrm flipV="1">
            <a:off x="7053739" y="2294573"/>
            <a:ext cx="535781" cy="364331"/>
          </a:xfrm>
          <a:prstGeom prst="line">
            <a:avLst/>
          </a:prstGeom>
          <a:noFill/>
          <a:ln w="25400">
            <a:solidFill>
              <a:srgbClr val="4FD6C4"/>
            </a:solidFill>
            <a:prstDash val="solid"/>
            <a:tailEnd type="none"/>
          </a:ln>
        </p:spPr>
      </p:sp>
      <p:sp>
        <p:nvSpPr>
          <p:cNvPr id="13" name="Shape 11"/>
          <p:cNvSpPr/>
          <p:nvPr/>
        </p:nvSpPr>
        <p:spPr>
          <a:xfrm>
            <a:off x="7589520" y="1930241"/>
            <a:ext cx="535781" cy="364331"/>
          </a:xfrm>
          <a:prstGeom prst="line">
            <a:avLst/>
          </a:prstGeom>
          <a:noFill/>
          <a:ln w="25400">
            <a:solidFill>
              <a:srgbClr val="4FD6C4"/>
            </a:solidFill>
            <a:prstDash val="solid"/>
          </a:ln>
        </p:spPr>
      </p:sp>
      <p:sp>
        <p:nvSpPr>
          <p:cNvPr id="14" name="Shape 12"/>
          <p:cNvSpPr/>
          <p:nvPr/>
        </p:nvSpPr>
        <p:spPr>
          <a:xfrm>
            <a:off x="7053739" y="2294573"/>
            <a:ext cx="0" cy="642938"/>
          </a:xfrm>
          <a:prstGeom prst="line">
            <a:avLst/>
          </a:prstGeom>
          <a:noFill/>
          <a:ln w="25400">
            <a:solidFill>
              <a:srgbClr val="4FD6C4"/>
            </a:solidFill>
            <a:prstDash val="solid"/>
          </a:ln>
        </p:spPr>
      </p:sp>
      <p:sp>
        <p:nvSpPr>
          <p:cNvPr id="15" name="Shape 13"/>
          <p:cNvSpPr/>
          <p:nvPr/>
        </p:nvSpPr>
        <p:spPr>
          <a:xfrm>
            <a:off x="8125301" y="2294573"/>
            <a:ext cx="0" cy="642938"/>
          </a:xfrm>
          <a:prstGeom prst="line">
            <a:avLst/>
          </a:prstGeom>
          <a:noFill/>
          <a:ln w="25400">
            <a:solidFill>
              <a:srgbClr val="4FD6C4"/>
            </a:solidFill>
            <a:prstDash val="solid"/>
          </a:ln>
        </p:spPr>
      </p:sp>
      <p:sp>
        <p:nvSpPr>
          <p:cNvPr id="16" name="Shape 14"/>
          <p:cNvSpPr/>
          <p:nvPr/>
        </p:nvSpPr>
        <p:spPr>
          <a:xfrm>
            <a:off x="7053739" y="2937510"/>
            <a:ext cx="1071563" cy="0"/>
          </a:xfrm>
          <a:prstGeom prst="line">
            <a:avLst/>
          </a:prstGeom>
          <a:noFill/>
          <a:ln w="25400">
            <a:solidFill>
              <a:srgbClr val="4FD6C4"/>
            </a:solidFill>
            <a:prstDash val="solid"/>
          </a:ln>
        </p:spPr>
      </p:sp>
      <p:sp>
        <p:nvSpPr>
          <p:cNvPr id="17" name="Shape 15"/>
          <p:cNvSpPr/>
          <p:nvPr/>
        </p:nvSpPr>
        <p:spPr>
          <a:xfrm>
            <a:off x="7353776" y="2573179"/>
            <a:ext cx="0" cy="150019"/>
          </a:xfrm>
          <a:prstGeom prst="line">
            <a:avLst/>
          </a:prstGeom>
          <a:noFill/>
          <a:ln w="25400">
            <a:solidFill>
              <a:srgbClr val="4FD6C4"/>
            </a:solidFill>
            <a:prstDash val="solid"/>
          </a:ln>
        </p:spPr>
      </p:sp>
      <p:sp>
        <p:nvSpPr>
          <p:cNvPr id="18" name="Shape 16"/>
          <p:cNvSpPr/>
          <p:nvPr/>
        </p:nvSpPr>
        <p:spPr>
          <a:xfrm>
            <a:off x="7589520" y="2466023"/>
            <a:ext cx="0" cy="257175"/>
          </a:xfrm>
          <a:prstGeom prst="line">
            <a:avLst/>
          </a:prstGeom>
          <a:noFill/>
          <a:ln w="25400">
            <a:solidFill>
              <a:srgbClr val="4FD6C4"/>
            </a:solidFill>
            <a:prstDash val="solid"/>
          </a:ln>
        </p:spPr>
      </p:sp>
      <p:sp>
        <p:nvSpPr>
          <p:cNvPr id="19" name="Shape 17"/>
          <p:cNvSpPr/>
          <p:nvPr/>
        </p:nvSpPr>
        <p:spPr>
          <a:xfrm>
            <a:off x="7825264" y="2358866"/>
            <a:ext cx="0" cy="364331"/>
          </a:xfrm>
          <a:prstGeom prst="line">
            <a:avLst/>
          </a:prstGeom>
          <a:noFill/>
          <a:ln w="31750">
            <a:solidFill>
              <a:srgbClr val="C07A2C"/>
            </a:solidFill>
            <a:prstDash val="solid"/>
          </a:ln>
        </p:spPr>
      </p:sp>
      <p:sp>
        <p:nvSpPr>
          <p:cNvPr id="20" name="Text 18"/>
          <p:cNvSpPr/>
          <p:nvPr/>
        </p:nvSpPr>
        <p:spPr>
          <a:xfrm>
            <a:off x="6583680" y="3401568"/>
            <a:ext cx="2057400" cy="274320"/>
          </a:xfrm>
          <a:prstGeom prst="rect">
            <a:avLst/>
          </a:prstGeom>
          <a:noFill/>
          <a:ln/>
        </p:spPr>
        <p:txBody>
          <a:bodyPr wrap="square" lIns="0" tIns="0" rIns="0" bIns="0" rtlCol="0" anchor="ctr"/>
          <a:lstStyle/>
          <a:p>
            <a:pPr algn="ctr" indent="0" marL="0">
              <a:buNone/>
            </a:pPr>
            <a:r>
              <a:rPr lang="en-US" sz="1200" dirty="0">
                <a:solidFill>
                  <a:srgbClr val="A6B2AC"/>
                </a:solidFill>
                <a:latin typeface="Calibri" pitchFamily="34" charset="0"/>
                <a:ea typeface="Calibri" pitchFamily="34" charset="-122"/>
                <a:cs typeface="Calibri" pitchFamily="34" charset="-120"/>
              </a:rPr>
              <a:t>MIT licensed</a:t>
            </a:r>
            <a:endParaRPr lang="en-US" sz="1200" dirty="0"/>
          </a:p>
        </p:txBody>
      </p:sp>
      <p:sp>
        <p:nvSpPr>
          <p:cNvPr id="22" name="Text 19"/>
          <p:cNvSpPr/>
          <p:nvPr/>
        </p:nvSpPr>
        <p:spPr>
          <a:xfrm>
            <a:off x="502920" y="4759452"/>
            <a:ext cx="2743200" cy="201168"/>
          </a:xfrm>
          <a:prstGeom prst="rect">
            <a:avLst/>
          </a:prstGeom>
          <a:noFill/>
          <a:ln/>
        </p:spPr>
        <p:txBody>
          <a:bodyPr wrap="square" lIns="0" tIns="0" rIns="0" bIns="0" rtlCol="0" anchor="ctr"/>
          <a:lstStyle/>
          <a:p>
            <a:pPr indent="0" marL="0">
              <a:buNone/>
            </a:pPr>
            <a:r>
              <a:rPr lang="en-US" sz="900" dirty="0">
                <a:solidFill>
                  <a:srgbClr val="A6B2AC"/>
                </a:solidFill>
                <a:latin typeface="Calibri" pitchFamily="34" charset="0"/>
                <a:ea typeface="Calibri" pitchFamily="34" charset="-122"/>
                <a:cs typeface="Calibri" pitchFamily="34" charset="-120"/>
              </a:rPr>
              <a:t>GovSpirit</a:t>
            </a:r>
            <a:endParaRPr lang="en-US" sz="900" dirty="0"/>
          </a:p>
        </p:txBody>
      </p:sp>
      <p:sp>
        <p:nvSpPr>
          <p:cNvPr id="23" name="Text 20"/>
          <p:cNvSpPr/>
          <p:nvPr/>
        </p:nvSpPr>
        <p:spPr>
          <a:xfrm>
            <a:off x="7726680" y="4759452"/>
            <a:ext cx="914400" cy="201168"/>
          </a:xfrm>
          <a:prstGeom prst="rect">
            <a:avLst/>
          </a:prstGeom>
          <a:noFill/>
          <a:ln/>
        </p:spPr>
        <p:txBody>
          <a:bodyPr wrap="square" lIns="0" tIns="0" rIns="0" bIns="0" rtlCol="0" anchor="ctr"/>
          <a:lstStyle/>
          <a:p>
            <a:pPr algn="r" indent="0" marL="0">
              <a:buNone/>
            </a:pPr>
            <a:r>
              <a:rPr lang="en-US" sz="900" dirty="0">
                <a:solidFill>
                  <a:srgbClr val="A6B2AC"/>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GovSpirit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GovSpirit: warehouse analytics for state excise depots</dc:title>
  <dc:subject>Problem, approach, architecture, findings and results</dc:subject>
  <dc:creator>Shreyas Thakur</dc:creator>
  <cp:lastModifiedBy>Shreyas Thakur</cp:lastModifiedBy>
  <cp:revision>1</cp:revision>
  <dcterms:created xsi:type="dcterms:W3CDTF">2026-07-27T01:00:04Z</dcterms:created>
  <dcterms:modified xsi:type="dcterms:W3CDTF">2026-07-27T01:00:04Z</dcterms:modified>
</cp:coreProperties>
</file>